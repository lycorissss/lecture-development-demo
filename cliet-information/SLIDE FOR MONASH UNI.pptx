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329" r:id="rId18"/>
    <p:sldId id="330"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Lst>
  <p:sldSz cx="18288000" cy="10287000"/>
  <p:notesSz cx="6858000" cy="9144000"/>
  <p:embeddedFontLst>
    <p:embeddedFont>
      <p:font typeface="Aileron Bold" panose="020B0604020202020204" charset="0"/>
      <p:regular r:id="rId77"/>
    </p:embeddedFont>
    <p:embeddedFont>
      <p:font typeface="Calibri" panose="020F0502020204030204" pitchFamily="34" charset="0"/>
      <p:regular r:id="rId78"/>
      <p:bold r:id="rId79"/>
      <p:italic r:id="rId80"/>
      <p:boldItalic r:id="rId81"/>
    </p:embeddedFont>
    <p:embeddedFont>
      <p:font typeface="Canva Sans" panose="020B0604020202020204" charset="0"/>
      <p:regular r:id="rId82"/>
    </p:embeddedFont>
    <p:embeddedFont>
      <p:font typeface="Canva Sans Bold" panose="020B0604020202020204" charset="0"/>
      <p:regular r:id="rId83"/>
    </p:embeddedFont>
    <p:embeddedFont>
      <p:font typeface="Futura" panose="020B0604020202020204" charset="0"/>
      <p:regular r:id="rId84"/>
    </p:embeddedFont>
    <p:embeddedFont>
      <p:font typeface="Futura Bold" panose="020B0604020202020204" charset="0"/>
      <p:regular r:id="rId85"/>
    </p:embeddedFont>
    <p:embeddedFont>
      <p:font typeface="Futura Ultra-Bold" panose="020B0604020202020204" charset="0"/>
      <p:regular r:id="rId86"/>
    </p:embeddedFont>
    <p:embeddedFont>
      <p:font typeface="Inter" panose="020B0604020202020204" charset="0"/>
      <p:regular r:id="rId87"/>
    </p:embeddedFont>
    <p:embeddedFont>
      <p:font typeface="Inter Bold" panose="020B0604020202020204" charset="0"/>
      <p:regular r:id="rId88"/>
    </p:embeddedFont>
    <p:embeddedFont>
      <p:font typeface="Roboto" panose="02000000000000000000" pitchFamily="2" charset="0"/>
      <p:regular r:id="rId89"/>
      <p:bold r:id="rId90"/>
      <p:italic r:id="rId91"/>
      <p:boldItalic r:id="rId92"/>
    </p:embeddedFont>
    <p:embeddedFont>
      <p:font typeface="Roboto Bold" panose="02000000000000000000" charset="0"/>
      <p:regular r:id="rId93"/>
    </p:embeddedFont>
    <p:embeddedFont>
      <p:font typeface="Staatliches" panose="020B0604020202020204" charset="0"/>
      <p:regular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428" y="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90" Type="http://schemas.openxmlformats.org/officeDocument/2006/relationships/font" Target="fonts/font14.fntdata"/><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1.fntdata"/><Relationship Id="rId61" Type="http://schemas.openxmlformats.org/officeDocument/2006/relationships/slide" Target="slides/slide60.xml"/><Relationship Id="rId82"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7.fntdata"/><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11.svg"/><Relationship Id="rId7" Type="http://schemas.openxmlformats.org/officeDocument/2006/relationships/image" Target="../media/image13.svg"/><Relationship Id="rId12"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3.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3.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3.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7.svg"/><Relationship Id="rId7" Type="http://schemas.openxmlformats.org/officeDocument/2006/relationships/image" Target="../media/image18.png"/><Relationship Id="rId12" Type="http://schemas.openxmlformats.org/officeDocument/2006/relationships/image" Target="../media/image32.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31.svg"/><Relationship Id="rId5" Type="http://schemas.openxmlformats.org/officeDocument/2006/relationships/image" Target="../media/image1.png"/><Relationship Id="rId10" Type="http://schemas.openxmlformats.org/officeDocument/2006/relationships/image" Target="../media/image30.svg"/><Relationship Id="rId4" Type="http://schemas.openxmlformats.org/officeDocument/2006/relationships/image" Target="../media/image28.jpe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2.svg"/><Relationship Id="rId7" Type="http://schemas.openxmlformats.org/officeDocument/2006/relationships/image" Target="../media/image27.svg"/><Relationship Id="rId12"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7.svg"/><Relationship Id="rId5" Type="http://schemas.openxmlformats.org/officeDocument/2006/relationships/image" Target="../media/image25.svg"/><Relationship Id="rId15" Type="http://schemas.openxmlformats.org/officeDocument/2006/relationships/image" Target="../media/image41.svg"/><Relationship Id="rId10" Type="http://schemas.openxmlformats.org/officeDocument/2006/relationships/image" Target="../media/image36.png"/><Relationship Id="rId4" Type="http://schemas.openxmlformats.org/officeDocument/2006/relationships/image" Target="../media/image24.png"/><Relationship Id="rId9" Type="http://schemas.openxmlformats.org/officeDocument/2006/relationships/image" Target="../media/image35.svg"/><Relationship Id="rId1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sv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53.svg"/></Relationships>
</file>

<file path=ppt/slides/_rels/slide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53.svg"/></Relationships>
</file>

<file path=ppt/slides/_rels/slide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64.png"/><Relationship Id="rId3" Type="http://schemas.openxmlformats.org/officeDocument/2006/relationships/image" Target="../media/image2.svg"/><Relationship Id="rId7" Type="http://schemas.openxmlformats.org/officeDocument/2006/relationships/image" Target="../media/image56.svg"/><Relationship Id="rId12" Type="http://schemas.openxmlformats.org/officeDocument/2006/relationships/image" Target="../media/image6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62.png"/><Relationship Id="rId5" Type="http://schemas.openxmlformats.org/officeDocument/2006/relationships/image" Target="../media/image59.svg"/><Relationship Id="rId10" Type="http://schemas.openxmlformats.org/officeDocument/2006/relationships/image" Target="../media/image61.svg"/><Relationship Id="rId4" Type="http://schemas.openxmlformats.org/officeDocument/2006/relationships/image" Target="../media/image58.png"/><Relationship Id="rId9" Type="http://schemas.openxmlformats.org/officeDocument/2006/relationships/image" Target="../media/image60.png"/><Relationship Id="rId14" Type="http://schemas.openxmlformats.org/officeDocument/2006/relationships/image" Target="../media/image65.svg"/></Relationships>
</file>

<file path=ppt/slides/_rels/slide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27.svg"/><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27.svg"/><Relationship Id="rId4" Type="http://schemas.openxmlformats.org/officeDocument/2006/relationships/image" Target="../media/image26.png"/></Relationships>
</file>

<file path=ppt/slides/_rels/slide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27.svg"/><Relationship Id="rId4" Type="http://schemas.openxmlformats.org/officeDocument/2006/relationships/image" Target="../media/image26.png"/></Relationships>
</file>

<file path=ppt/slides/_rels/slide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27.svg"/><Relationship Id="rId4" Type="http://schemas.openxmlformats.org/officeDocument/2006/relationships/image" Target="../media/image26.png"/></Relationships>
</file>

<file path=ppt/slides/_rels/slide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27.svg"/><Relationship Id="rId4" Type="http://schemas.openxmlformats.org/officeDocument/2006/relationships/image" Target="../media/image26.png"/></Relationships>
</file>

<file path=ppt/slides/_rels/slide70.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2.svg"/><Relationship Id="rId7" Type="http://schemas.openxmlformats.org/officeDocument/2006/relationships/image" Target="../media/image5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70.png"/><Relationship Id="rId5" Type="http://schemas.openxmlformats.org/officeDocument/2006/relationships/image" Target="../media/image59.svg"/><Relationship Id="rId10" Type="http://schemas.openxmlformats.org/officeDocument/2006/relationships/image" Target="../media/image69.jpeg"/><Relationship Id="rId4" Type="http://schemas.openxmlformats.org/officeDocument/2006/relationships/image" Target="../media/image58.png"/><Relationship Id="rId9" Type="http://schemas.openxmlformats.org/officeDocument/2006/relationships/image" Target="../media/image68.png"/></Relationships>
</file>

<file path=ppt/slides/_rels/slide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27.svg"/><Relationship Id="rId4" Type="http://schemas.openxmlformats.org/officeDocument/2006/relationships/image" Target="../media/image26.png"/></Relationships>
</file>

<file path=ppt/slides/_rels/slide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7.jpeg"/><Relationship Id="rId5" Type="http://schemas.openxmlformats.org/officeDocument/2006/relationships/image" Target="../media/image27.svg"/><Relationship Id="rId4" Type="http://schemas.openxmlformats.org/officeDocument/2006/relationships/image" Target="../media/image26.png"/></Relationships>
</file>

<file path=ppt/slides/_rels/slide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png"/></Relationships>
</file>

<file path=ppt/slides/_rels/slide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png"/></Relationships>
</file>

<file path=ppt/slides/_rels/slide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200" y="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201900" y="5143500"/>
            <a:ext cx="3086100" cy="5143500"/>
            <a:chOff x="0" y="0"/>
            <a:chExt cx="812800" cy="1354667"/>
          </a:xfrm>
        </p:grpSpPr>
        <p:sp>
          <p:nvSpPr>
            <p:cNvPr id="4" name="Freeform 4"/>
            <p:cNvSpPr/>
            <p:nvPr/>
          </p:nvSpPr>
          <p:spPr>
            <a:xfrm>
              <a:off x="0" y="0"/>
              <a:ext cx="812800" cy="1354667"/>
            </a:xfrm>
            <a:custGeom>
              <a:avLst/>
              <a:gdLst/>
              <a:ahLst/>
              <a:cxnLst/>
              <a:rect l="l" t="t" r="r" b="b"/>
              <a:pathLst>
                <a:path w="812800" h="1354667">
                  <a:moveTo>
                    <a:pt x="0" y="0"/>
                  </a:moveTo>
                  <a:lnTo>
                    <a:pt x="812800" y="0"/>
                  </a:lnTo>
                  <a:lnTo>
                    <a:pt x="812800" y="1354667"/>
                  </a:lnTo>
                  <a:lnTo>
                    <a:pt x="0" y="1354667"/>
                  </a:lnTo>
                  <a:close/>
                </a:path>
              </a:pathLst>
            </a:custGeom>
            <a:solidFill>
              <a:srgbClr val="2012BF"/>
            </a:solidFill>
          </p:spPr>
        </p:sp>
        <p:sp>
          <p:nvSpPr>
            <p:cNvPr id="5" name="TextBox 5"/>
            <p:cNvSpPr txBox="1"/>
            <p:nvPr/>
          </p:nvSpPr>
          <p:spPr>
            <a:xfrm>
              <a:off x="0" y="0"/>
              <a:ext cx="812800" cy="1354667"/>
            </a:xfrm>
            <a:prstGeom prst="rect">
              <a:avLst/>
            </a:prstGeom>
          </p:spPr>
          <p:txBody>
            <a:bodyPr lIns="50800" tIns="50800" rIns="50800" bIns="50800" rtlCol="0" anchor="ctr"/>
            <a:lstStyle/>
            <a:p>
              <a:pPr algn="ctr">
                <a:lnSpc>
                  <a:spcPts val="2924"/>
                </a:lnSpc>
              </a:pPr>
              <a:endParaRPr/>
            </a:p>
          </p:txBody>
        </p:sp>
      </p:grpSp>
      <p:grpSp>
        <p:nvGrpSpPr>
          <p:cNvPr id="6" name="Group 6"/>
          <p:cNvGrpSpPr/>
          <p:nvPr/>
        </p:nvGrpSpPr>
        <p:grpSpPr>
          <a:xfrm>
            <a:off x="9382819" y="6674988"/>
            <a:ext cx="4213425" cy="421342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924"/>
                </a:lnSpc>
              </a:pPr>
              <a:endParaRPr/>
            </a:p>
          </p:txBody>
        </p:sp>
      </p:grpSp>
      <p:grpSp>
        <p:nvGrpSpPr>
          <p:cNvPr id="9" name="Group 9"/>
          <p:cNvGrpSpPr/>
          <p:nvPr/>
        </p:nvGrpSpPr>
        <p:grpSpPr>
          <a:xfrm>
            <a:off x="13283855" y="97241"/>
            <a:ext cx="4514319" cy="6870882"/>
            <a:chOff x="0" y="0"/>
            <a:chExt cx="893888" cy="1360515"/>
          </a:xfrm>
        </p:grpSpPr>
        <p:sp>
          <p:nvSpPr>
            <p:cNvPr id="10" name="Freeform 10"/>
            <p:cNvSpPr/>
            <p:nvPr/>
          </p:nvSpPr>
          <p:spPr>
            <a:xfrm>
              <a:off x="0" y="0"/>
              <a:ext cx="893888" cy="1360515"/>
            </a:xfrm>
            <a:custGeom>
              <a:avLst/>
              <a:gdLst/>
              <a:ahLst/>
              <a:cxnLst/>
              <a:rect l="l" t="t" r="r" b="b"/>
              <a:pathLst>
                <a:path w="893888" h="1360515">
                  <a:moveTo>
                    <a:pt x="0" y="0"/>
                  </a:moveTo>
                  <a:lnTo>
                    <a:pt x="893888" y="0"/>
                  </a:lnTo>
                  <a:lnTo>
                    <a:pt x="893888" y="1360515"/>
                  </a:lnTo>
                  <a:lnTo>
                    <a:pt x="0" y="1360515"/>
                  </a:lnTo>
                  <a:close/>
                </a:path>
              </a:pathLst>
            </a:custGeom>
            <a:blipFill>
              <a:blip r:embed="rId4"/>
              <a:stretch>
                <a:fillRect l="-8805" r="-8805"/>
              </a:stretch>
            </a:blipFill>
            <a:ln w="19050" cap="sq">
              <a:solidFill>
                <a:srgbClr val="000000"/>
              </a:solidFill>
              <a:prstDash val="solid"/>
              <a:miter/>
            </a:ln>
          </p:spPr>
        </p:sp>
      </p:grpSp>
      <p:sp>
        <p:nvSpPr>
          <p:cNvPr id="11" name="AutoShape 11"/>
          <p:cNvSpPr/>
          <p:nvPr/>
        </p:nvSpPr>
        <p:spPr>
          <a:xfrm>
            <a:off x="0" y="8772175"/>
            <a:ext cx="11489532" cy="0"/>
          </a:xfrm>
          <a:prstGeom prst="line">
            <a:avLst/>
          </a:prstGeom>
          <a:ln w="19050" cap="flat">
            <a:solidFill>
              <a:srgbClr val="000000"/>
            </a:solidFill>
            <a:prstDash val="solid"/>
            <a:headEnd type="none" w="sm" len="sm"/>
            <a:tailEnd type="none" w="sm" len="sm"/>
          </a:ln>
        </p:spPr>
      </p:sp>
      <p:sp>
        <p:nvSpPr>
          <p:cNvPr id="12" name="AutoShape 12"/>
          <p:cNvSpPr/>
          <p:nvPr/>
        </p:nvSpPr>
        <p:spPr>
          <a:xfrm flipH="1">
            <a:off x="11499057" y="6674988"/>
            <a:ext cx="0" cy="3612012"/>
          </a:xfrm>
          <a:prstGeom prst="line">
            <a:avLst/>
          </a:prstGeom>
          <a:ln w="19050" cap="flat">
            <a:solidFill>
              <a:srgbClr val="000000"/>
            </a:solidFill>
            <a:prstDash val="solid"/>
            <a:headEnd type="none" w="sm" len="sm"/>
            <a:tailEnd type="none" w="sm" len="sm"/>
          </a:ln>
        </p:spPr>
      </p:sp>
      <p:sp>
        <p:nvSpPr>
          <p:cNvPr id="13" name="Freeform 13"/>
          <p:cNvSpPr/>
          <p:nvPr/>
        </p:nvSpPr>
        <p:spPr>
          <a:xfrm>
            <a:off x="1088535" y="1517748"/>
            <a:ext cx="323063" cy="417528"/>
          </a:xfrm>
          <a:custGeom>
            <a:avLst/>
            <a:gdLst/>
            <a:ahLst/>
            <a:cxnLst/>
            <a:rect l="l" t="t" r="r" b="b"/>
            <a:pathLst>
              <a:path w="323063" h="417528">
                <a:moveTo>
                  <a:pt x="0" y="0"/>
                </a:moveTo>
                <a:lnTo>
                  <a:pt x="323063" y="0"/>
                </a:lnTo>
                <a:lnTo>
                  <a:pt x="323063" y="417529"/>
                </a:lnTo>
                <a:lnTo>
                  <a:pt x="0" y="4175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1028700" y="2212336"/>
            <a:ext cx="12567545" cy="226695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PROJECT MANAGEMENT PLATFORM (PMP) &amp; PPP</a:t>
            </a:r>
          </a:p>
        </p:txBody>
      </p:sp>
      <p:sp>
        <p:nvSpPr>
          <p:cNvPr id="16" name="TextBox 16"/>
          <p:cNvSpPr txBox="1"/>
          <p:nvPr/>
        </p:nvSpPr>
        <p:spPr>
          <a:xfrm>
            <a:off x="1028700" y="7148602"/>
            <a:ext cx="6447601" cy="462915"/>
          </a:xfrm>
          <a:prstGeom prst="rect">
            <a:avLst/>
          </a:prstGeom>
        </p:spPr>
        <p:txBody>
          <a:bodyPr lIns="0" tIns="0" rIns="0" bIns="0" rtlCol="0" anchor="t">
            <a:spAutoFit/>
          </a:bodyPr>
          <a:lstStyle/>
          <a:p>
            <a:pPr algn="l">
              <a:lnSpc>
                <a:spcPts val="3030"/>
              </a:lnSpc>
            </a:pPr>
            <a:r>
              <a:rPr lang="en-US" sz="3000" b="1">
                <a:solidFill>
                  <a:srgbClr val="000000"/>
                </a:solidFill>
                <a:latin typeface="Futura Ultra-Bold"/>
                <a:ea typeface="Futura Ultra-Bold"/>
                <a:cs typeface="Futura Ultra-Bold"/>
                <a:sym typeface="Futura Ultra-Bold"/>
              </a:rPr>
              <a:t>BY:</a:t>
            </a:r>
          </a:p>
        </p:txBody>
      </p:sp>
      <p:sp>
        <p:nvSpPr>
          <p:cNvPr id="17" name="TextBox 17"/>
          <p:cNvSpPr txBox="1"/>
          <p:nvPr/>
        </p:nvSpPr>
        <p:spPr>
          <a:xfrm>
            <a:off x="1028700" y="7611517"/>
            <a:ext cx="6447601" cy="768350"/>
          </a:xfrm>
          <a:prstGeom prst="rect">
            <a:avLst/>
          </a:prstGeom>
        </p:spPr>
        <p:txBody>
          <a:bodyPr lIns="0" tIns="0" rIns="0" bIns="0" rtlCol="0" anchor="t">
            <a:spAutoFit/>
          </a:bodyPr>
          <a:lstStyle/>
          <a:p>
            <a:pPr algn="l">
              <a:lnSpc>
                <a:spcPts val="5050"/>
              </a:lnSpc>
            </a:pPr>
            <a:r>
              <a:rPr lang="en-US" sz="5000" b="1">
                <a:solidFill>
                  <a:srgbClr val="2012BF"/>
                </a:solidFill>
                <a:latin typeface="Futura Ultra-Bold"/>
                <a:ea typeface="Futura Ultra-Bold"/>
                <a:cs typeface="Futura Ultra-Bold"/>
                <a:sym typeface="Futura Ultra-Bold"/>
              </a:rPr>
              <a:t>DANIEL DOBREV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12BF"/>
        </a:solidFill>
        <a:effectLst/>
      </p:bgPr>
    </p:bg>
    <p:spTree>
      <p:nvGrpSpPr>
        <p:cNvPr id="1" name=""/>
        <p:cNvGrpSpPr/>
        <p:nvPr/>
      </p:nvGrpSpPr>
      <p:grpSpPr>
        <a:xfrm>
          <a:off x="0" y="0"/>
          <a:ext cx="0" cy="0"/>
          <a:chOff x="0" y="0"/>
          <a:chExt cx="0" cy="0"/>
        </a:xfrm>
      </p:grpSpPr>
      <p:sp>
        <p:nvSpPr>
          <p:cNvPr id="2" name="TextBox 2"/>
          <p:cNvSpPr txBox="1"/>
          <p:nvPr/>
        </p:nvSpPr>
        <p:spPr>
          <a:xfrm>
            <a:off x="3257063" y="4039098"/>
            <a:ext cx="11773874" cy="3616325"/>
          </a:xfrm>
          <a:prstGeom prst="rect">
            <a:avLst/>
          </a:prstGeom>
        </p:spPr>
        <p:txBody>
          <a:bodyPr lIns="0" tIns="0" rIns="0" bIns="0" rtlCol="0" anchor="t">
            <a:spAutoFit/>
          </a:bodyPr>
          <a:lstStyle/>
          <a:p>
            <a:pPr marL="0" lvl="0" indent="0" algn="ctr">
              <a:lnSpc>
                <a:spcPts val="7000"/>
              </a:lnSpc>
            </a:pPr>
            <a:r>
              <a:rPr lang="en-US" sz="5000" b="1">
                <a:solidFill>
                  <a:srgbClr val="FFFFFF"/>
                </a:solidFill>
                <a:latin typeface="Futura Ultra-Bold"/>
                <a:ea typeface="Futura Ultra-Bold"/>
                <a:cs typeface="Futura Ultra-Bold"/>
                <a:sym typeface="Futura Ultra-Bold"/>
              </a:rPr>
              <a:t>A PROJECT WITHOUT PLANNING IS ONLY A TASK; A PROJECT WITH PLANNING BECOMES A TRANSFORMATION.”</a:t>
            </a:r>
          </a:p>
        </p:txBody>
      </p:sp>
      <p:sp>
        <p:nvSpPr>
          <p:cNvPr id="3" name="AutoShape 3"/>
          <p:cNvSpPr/>
          <p:nvPr/>
        </p:nvSpPr>
        <p:spPr>
          <a:xfrm>
            <a:off x="2035920" y="0"/>
            <a:ext cx="0" cy="10287000"/>
          </a:xfrm>
          <a:prstGeom prst="line">
            <a:avLst/>
          </a:prstGeom>
          <a:ln w="19050" cap="flat">
            <a:solidFill>
              <a:srgbClr val="FFFFFF"/>
            </a:solidFill>
            <a:prstDash val="solid"/>
            <a:headEnd type="none" w="sm" len="sm"/>
            <a:tailEnd type="none" w="sm" len="sm"/>
          </a:ln>
        </p:spPr>
      </p:sp>
      <p:grpSp>
        <p:nvGrpSpPr>
          <p:cNvPr id="4" name="Group 4"/>
          <p:cNvGrpSpPr/>
          <p:nvPr/>
        </p:nvGrpSpPr>
        <p:grpSpPr>
          <a:xfrm>
            <a:off x="956490" y="1028700"/>
            <a:ext cx="2139810" cy="213981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solidFill>
              <a:prstDash val="solid"/>
              <a:miter/>
            </a:ln>
          </p:spPr>
        </p:sp>
        <p:sp>
          <p:nvSpPr>
            <p:cNvPr id="6" name="TextBox 6"/>
            <p:cNvSpPr txBox="1"/>
            <p:nvPr/>
          </p:nvSpPr>
          <p:spPr>
            <a:xfrm>
              <a:off x="76200" y="76200"/>
              <a:ext cx="660400" cy="660400"/>
            </a:xfrm>
            <a:prstGeom prst="rect">
              <a:avLst/>
            </a:prstGeom>
          </p:spPr>
          <p:txBody>
            <a:bodyPr lIns="50800" tIns="50800" rIns="50800" bIns="50800" rtlCol="0" anchor="ctr"/>
            <a:lstStyle/>
            <a:p>
              <a:pPr algn="ctr">
                <a:lnSpc>
                  <a:spcPts val="2924"/>
                </a:lnSpc>
              </a:pPr>
              <a:endParaRPr/>
            </a:p>
          </p:txBody>
        </p:sp>
      </p:grpSp>
      <p:sp>
        <p:nvSpPr>
          <p:cNvPr id="7" name="AutoShape 7"/>
          <p:cNvSpPr/>
          <p:nvPr/>
        </p:nvSpPr>
        <p:spPr>
          <a:xfrm flipV="1">
            <a:off x="956490" y="2089080"/>
            <a:ext cx="17331510" cy="0"/>
          </a:xfrm>
          <a:prstGeom prst="line">
            <a:avLst/>
          </a:prstGeom>
          <a:ln w="19050" cap="flat">
            <a:solidFill>
              <a:srgbClr val="FFFFFF"/>
            </a:solidFill>
            <a:prstDash val="solid"/>
            <a:headEnd type="none" w="sm" len="sm"/>
            <a:tailEnd type="none" w="sm" len="sm"/>
          </a:ln>
        </p:spPr>
      </p:sp>
      <p:sp>
        <p:nvSpPr>
          <p:cNvPr id="8" name="Freeform 8"/>
          <p:cNvSpPr/>
          <p:nvPr/>
        </p:nvSpPr>
        <p:spPr>
          <a:xfrm>
            <a:off x="8650417" y="2780865"/>
            <a:ext cx="987167" cy="772458"/>
          </a:xfrm>
          <a:custGeom>
            <a:avLst/>
            <a:gdLst/>
            <a:ahLst/>
            <a:cxnLst/>
            <a:rect l="l" t="t" r="r" b="b"/>
            <a:pathLst>
              <a:path w="987167" h="772458">
                <a:moveTo>
                  <a:pt x="0" y="0"/>
                </a:moveTo>
                <a:lnTo>
                  <a:pt x="987166" y="0"/>
                </a:lnTo>
                <a:lnTo>
                  <a:pt x="987166" y="772458"/>
                </a:lnTo>
                <a:lnTo>
                  <a:pt x="0" y="7724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27613" y="7498608"/>
            <a:ext cx="1402174" cy="4114800"/>
          </a:xfrm>
          <a:custGeom>
            <a:avLst/>
            <a:gdLst/>
            <a:ahLst/>
            <a:cxnLst/>
            <a:rect l="l" t="t" r="r" b="b"/>
            <a:pathLst>
              <a:path w="1402174" h="4114800">
                <a:moveTo>
                  <a:pt x="0" y="0"/>
                </a:moveTo>
                <a:lnTo>
                  <a:pt x="1402174" y="0"/>
                </a:lnTo>
                <a:lnTo>
                  <a:pt x="140217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193458"/>
            </a:stretch>
          </a:blipFill>
        </p:spPr>
      </p:sp>
      <p:sp>
        <p:nvSpPr>
          <p:cNvPr id="10" name="Freeform 10"/>
          <p:cNvSpPr/>
          <p:nvPr/>
        </p:nvSpPr>
        <p:spPr>
          <a:xfrm flipH="1">
            <a:off x="17218095" y="102870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flipH="1" flipV="1">
            <a:off x="16630530" y="7498608"/>
            <a:ext cx="9236440" cy="8074937"/>
          </a:xfrm>
          <a:custGeom>
            <a:avLst/>
            <a:gdLst/>
            <a:ahLst/>
            <a:cxnLst/>
            <a:rect l="l" t="t" r="r" b="b"/>
            <a:pathLst>
              <a:path w="9236440" h="8074937">
                <a:moveTo>
                  <a:pt x="9236440" y="8074938"/>
                </a:moveTo>
                <a:lnTo>
                  <a:pt x="0" y="8074938"/>
                </a:lnTo>
                <a:lnTo>
                  <a:pt x="0" y="0"/>
                </a:lnTo>
                <a:lnTo>
                  <a:pt x="9236440" y="0"/>
                </a:lnTo>
                <a:lnTo>
                  <a:pt x="9236440" y="8074938"/>
                </a:lnTo>
                <a:close/>
              </a:path>
            </a:pathLst>
          </a:custGeom>
          <a:blipFill>
            <a:blip r:embed="rId8">
              <a:extLst>
                <a:ext uri="{96DAC541-7B7A-43D3-8B79-37D633B846F1}">
                  <asvg:svgBlip xmlns:asvg="http://schemas.microsoft.com/office/drawing/2016/SVG/main" r:embed="rId9"/>
                </a:ext>
              </a:extLst>
            </a:blip>
            <a:stretch>
              <a:fillRect l="-38228" t="-57320"/>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12BF"/>
        </a:solidFill>
        <a:effectLst/>
      </p:bgPr>
    </p:bg>
    <p:spTree>
      <p:nvGrpSpPr>
        <p:cNvPr id="1" name=""/>
        <p:cNvGrpSpPr/>
        <p:nvPr/>
      </p:nvGrpSpPr>
      <p:grpSpPr>
        <a:xfrm>
          <a:off x="0" y="0"/>
          <a:ext cx="0" cy="0"/>
          <a:chOff x="0" y="0"/>
          <a:chExt cx="0" cy="0"/>
        </a:xfrm>
      </p:grpSpPr>
      <p:sp>
        <p:nvSpPr>
          <p:cNvPr id="2" name="TextBox 2"/>
          <p:cNvSpPr txBox="1"/>
          <p:nvPr/>
        </p:nvSpPr>
        <p:spPr>
          <a:xfrm>
            <a:off x="2340720" y="3054210"/>
            <a:ext cx="15378307" cy="4669061"/>
          </a:xfrm>
          <a:prstGeom prst="rect">
            <a:avLst/>
          </a:prstGeom>
        </p:spPr>
        <p:txBody>
          <a:bodyPr lIns="0" tIns="0" rIns="0" bIns="0" rtlCol="0" anchor="t">
            <a:spAutoFit/>
          </a:bodyPr>
          <a:lstStyle/>
          <a:p>
            <a:pPr marL="0" lvl="0" indent="0" algn="just">
              <a:lnSpc>
                <a:spcPts val="4100"/>
              </a:lnSpc>
            </a:pPr>
            <a:r>
              <a:rPr lang="en-US" sz="2928" b="1">
                <a:solidFill>
                  <a:srgbClr val="FFFFFF"/>
                </a:solidFill>
                <a:latin typeface="Futura Ultra-Bold"/>
                <a:ea typeface="Futura Ultra-Bold"/>
                <a:cs typeface="Futura Ultra-Bold"/>
                <a:sym typeface="Futura Ultra-Bold"/>
              </a:rPr>
              <a:t>THE PROJECT MANAGEMENT PLATFORM (PMP) IS PRESENTED BOTH AS A PRACTICAL SET OF METHODS AND AS A LIFE PHILOSOPHY. PMP GIVES US A BLUEPRINT TO CONVERT IDEAS INTO SYSTEMS THAT HAVE OBJECTIVES, TIMEFRAMES AND ASSIGNED RESOURCES. WHEN WE ADOPT PMP WE LEARN TO MANAGE UNCERTAINTY, TO DESIGN INTERMEDIATE STEPS AND TO MEASURE OUTCOMES — NOT ONLY FOR BUSINESS PROJECTS BUT ALSO FOR PERSONAL GOALS. THE LECTURE WILL USE PMP TO LINK INDIVIDUAL ACTION AND SOCIAL IMPACT: PROJECTS BECOME A TOOL THROUGH WHICH A PERSON BECOMES AN INDEPENDENT, PRODUCTIVE MEMBER OF SOCIETY.</a:t>
            </a:r>
          </a:p>
        </p:txBody>
      </p:sp>
      <p:sp>
        <p:nvSpPr>
          <p:cNvPr id="3" name="AutoShape 3"/>
          <p:cNvSpPr/>
          <p:nvPr/>
        </p:nvSpPr>
        <p:spPr>
          <a:xfrm>
            <a:off x="2035920" y="0"/>
            <a:ext cx="0" cy="10287000"/>
          </a:xfrm>
          <a:prstGeom prst="line">
            <a:avLst/>
          </a:prstGeom>
          <a:ln w="19050" cap="flat">
            <a:solidFill>
              <a:srgbClr val="FFFFFF"/>
            </a:solidFill>
            <a:prstDash val="solid"/>
            <a:headEnd type="none" w="sm" len="sm"/>
            <a:tailEnd type="none" w="sm" len="sm"/>
          </a:ln>
        </p:spPr>
      </p:sp>
      <p:grpSp>
        <p:nvGrpSpPr>
          <p:cNvPr id="4" name="Group 4"/>
          <p:cNvGrpSpPr/>
          <p:nvPr/>
        </p:nvGrpSpPr>
        <p:grpSpPr>
          <a:xfrm>
            <a:off x="956490" y="1028700"/>
            <a:ext cx="2139810" cy="213981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solidFill>
              <a:prstDash val="solid"/>
              <a:miter/>
            </a:ln>
          </p:spPr>
        </p:sp>
        <p:sp>
          <p:nvSpPr>
            <p:cNvPr id="6" name="TextBox 6"/>
            <p:cNvSpPr txBox="1"/>
            <p:nvPr/>
          </p:nvSpPr>
          <p:spPr>
            <a:xfrm>
              <a:off x="76200" y="76200"/>
              <a:ext cx="660400" cy="660400"/>
            </a:xfrm>
            <a:prstGeom prst="rect">
              <a:avLst/>
            </a:prstGeom>
          </p:spPr>
          <p:txBody>
            <a:bodyPr lIns="50800" tIns="50800" rIns="50800" bIns="50800" rtlCol="0" anchor="ctr"/>
            <a:lstStyle/>
            <a:p>
              <a:pPr algn="ctr">
                <a:lnSpc>
                  <a:spcPts val="2924"/>
                </a:lnSpc>
              </a:pPr>
              <a:endParaRPr/>
            </a:p>
          </p:txBody>
        </p:sp>
      </p:grpSp>
      <p:sp>
        <p:nvSpPr>
          <p:cNvPr id="7" name="AutoShape 7"/>
          <p:cNvSpPr/>
          <p:nvPr/>
        </p:nvSpPr>
        <p:spPr>
          <a:xfrm flipV="1">
            <a:off x="956490" y="2089080"/>
            <a:ext cx="17331510" cy="0"/>
          </a:xfrm>
          <a:prstGeom prst="line">
            <a:avLst/>
          </a:prstGeom>
          <a:ln w="19050" cap="flat">
            <a:solidFill>
              <a:srgbClr val="FFFFFF"/>
            </a:solidFill>
            <a:prstDash val="solid"/>
            <a:headEnd type="none" w="sm" len="sm"/>
            <a:tailEnd type="none" w="sm" len="sm"/>
          </a:ln>
        </p:spPr>
      </p:sp>
      <p:sp>
        <p:nvSpPr>
          <p:cNvPr id="8" name="Freeform 8"/>
          <p:cNvSpPr/>
          <p:nvPr/>
        </p:nvSpPr>
        <p:spPr>
          <a:xfrm>
            <a:off x="327613" y="7498608"/>
            <a:ext cx="1402174" cy="4114800"/>
          </a:xfrm>
          <a:custGeom>
            <a:avLst/>
            <a:gdLst/>
            <a:ahLst/>
            <a:cxnLst/>
            <a:rect l="l" t="t" r="r" b="b"/>
            <a:pathLst>
              <a:path w="1402174" h="4114800">
                <a:moveTo>
                  <a:pt x="0" y="0"/>
                </a:moveTo>
                <a:lnTo>
                  <a:pt x="1402174" y="0"/>
                </a:lnTo>
                <a:lnTo>
                  <a:pt x="14021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193458"/>
            </a:stretch>
          </a:blipFill>
        </p:spPr>
      </p:sp>
      <p:sp>
        <p:nvSpPr>
          <p:cNvPr id="9" name="Freeform 9"/>
          <p:cNvSpPr/>
          <p:nvPr/>
        </p:nvSpPr>
        <p:spPr>
          <a:xfrm flipH="1">
            <a:off x="17218095" y="102870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H="1" flipV="1">
            <a:off x="16630530" y="7498608"/>
            <a:ext cx="9236440" cy="8074937"/>
          </a:xfrm>
          <a:custGeom>
            <a:avLst/>
            <a:gdLst/>
            <a:ahLst/>
            <a:cxnLst/>
            <a:rect l="l" t="t" r="r" b="b"/>
            <a:pathLst>
              <a:path w="9236440" h="8074937">
                <a:moveTo>
                  <a:pt x="9236440" y="8074938"/>
                </a:moveTo>
                <a:lnTo>
                  <a:pt x="0" y="8074938"/>
                </a:lnTo>
                <a:lnTo>
                  <a:pt x="0" y="0"/>
                </a:lnTo>
                <a:lnTo>
                  <a:pt x="9236440" y="0"/>
                </a:lnTo>
                <a:lnTo>
                  <a:pt x="9236440" y="8074938"/>
                </a:lnTo>
                <a:close/>
              </a:path>
            </a:pathLst>
          </a:custGeom>
          <a:blipFill>
            <a:blip r:embed="rId6">
              <a:extLst>
                <a:ext uri="{96DAC541-7B7A-43D3-8B79-37D633B846F1}">
                  <asvg:svgBlip xmlns:asvg="http://schemas.microsoft.com/office/drawing/2016/SVG/main" r:embed="rId7"/>
                </a:ext>
              </a:extLst>
            </a:blip>
            <a:stretch>
              <a:fillRect l="-38228" t="-57320"/>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869877" y="3110710"/>
            <a:ext cx="11147354" cy="0"/>
          </a:xfrm>
          <a:prstGeom prst="line">
            <a:avLst/>
          </a:prstGeom>
          <a:ln w="19050" cap="flat">
            <a:solidFill>
              <a:srgbClr val="2012BF"/>
            </a:solidFill>
            <a:prstDash val="solid"/>
            <a:headEnd type="none" w="sm" len="sm"/>
            <a:tailEnd type="none" w="sm" len="sm"/>
          </a:ln>
        </p:spPr>
      </p:sp>
      <p:sp>
        <p:nvSpPr>
          <p:cNvPr id="8" name="AutoShape 8"/>
          <p:cNvSpPr/>
          <p:nvPr/>
        </p:nvSpPr>
        <p:spPr>
          <a:xfrm>
            <a:off x="3155502" y="9248775"/>
            <a:ext cx="15132498" cy="0"/>
          </a:xfrm>
          <a:prstGeom prst="line">
            <a:avLst/>
          </a:prstGeom>
          <a:ln w="19050" cap="flat">
            <a:solidFill>
              <a:srgbClr val="2012BF"/>
            </a:solidFill>
            <a:prstDash val="solid"/>
            <a:headEnd type="none" w="sm" len="sm"/>
            <a:tailEnd type="none" w="sm" len="sm"/>
          </a:ln>
        </p:spPr>
      </p:sp>
      <p:sp>
        <p:nvSpPr>
          <p:cNvPr id="9" name="Freeform 9"/>
          <p:cNvSpPr/>
          <p:nvPr/>
        </p:nvSpPr>
        <p:spPr>
          <a:xfrm flipH="1">
            <a:off x="17218095" y="814719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1" name="Freeform 11"/>
          <p:cNvSpPr/>
          <p:nvPr/>
        </p:nvSpPr>
        <p:spPr>
          <a:xfrm rot="5880322">
            <a:off x="2014574" y="5306456"/>
            <a:ext cx="3800689" cy="1230473"/>
          </a:xfrm>
          <a:custGeom>
            <a:avLst/>
            <a:gdLst/>
            <a:ahLst/>
            <a:cxnLst/>
            <a:rect l="l" t="t" r="r" b="b"/>
            <a:pathLst>
              <a:path w="3800689" h="1230473">
                <a:moveTo>
                  <a:pt x="0" y="0"/>
                </a:moveTo>
                <a:lnTo>
                  <a:pt x="3800689" y="0"/>
                </a:lnTo>
                <a:lnTo>
                  <a:pt x="3800689" y="1230473"/>
                </a:lnTo>
                <a:lnTo>
                  <a:pt x="0" y="12304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3869877" y="1253879"/>
            <a:ext cx="12687067" cy="1007332"/>
          </a:xfrm>
          <a:prstGeom prst="rect">
            <a:avLst/>
          </a:prstGeom>
        </p:spPr>
        <p:txBody>
          <a:bodyPr lIns="0" tIns="0" rIns="0" bIns="0" rtlCol="0" anchor="t">
            <a:spAutoFit/>
          </a:bodyPr>
          <a:lstStyle/>
          <a:p>
            <a:pPr algn="l">
              <a:lnSpc>
                <a:spcPts val="6835"/>
              </a:lnSpc>
            </a:pPr>
            <a:r>
              <a:rPr lang="en-US" sz="6214" b="1">
                <a:solidFill>
                  <a:srgbClr val="000000"/>
                </a:solidFill>
                <a:latin typeface="Futura Bold"/>
                <a:ea typeface="Futura Bold"/>
                <a:cs typeface="Futura Bold"/>
                <a:sym typeface="Futura Bold"/>
              </a:rPr>
              <a:t>PHILOSOPHY OF PROJECTISING LIFE</a:t>
            </a:r>
          </a:p>
        </p:txBody>
      </p:sp>
      <p:sp>
        <p:nvSpPr>
          <p:cNvPr id="13" name="TextBox 13"/>
          <p:cNvSpPr txBox="1"/>
          <p:nvPr/>
        </p:nvSpPr>
        <p:spPr>
          <a:xfrm>
            <a:off x="3869877" y="3573591"/>
            <a:ext cx="12687067" cy="1099185"/>
          </a:xfrm>
          <a:prstGeom prst="rect">
            <a:avLst/>
          </a:prstGeom>
        </p:spPr>
        <p:txBody>
          <a:bodyPr lIns="0" tIns="0" rIns="0" bIns="0" rtlCol="0" anchor="t">
            <a:spAutoFit/>
          </a:bodyPr>
          <a:lstStyle/>
          <a:p>
            <a:pPr algn="l">
              <a:lnSpc>
                <a:spcPts val="4094"/>
              </a:lnSpc>
            </a:pPr>
            <a:r>
              <a:rPr lang="en-US" sz="3499" b="1">
                <a:solidFill>
                  <a:srgbClr val="000000"/>
                </a:solidFill>
                <a:latin typeface="Futura Ultra-Bold"/>
                <a:ea typeface="Futura Ultra-Bold"/>
                <a:cs typeface="Futura Ultra-Bold"/>
                <a:sym typeface="Futura Ultra-Bold"/>
              </a:rPr>
              <a:t>Life = Set of projects with goals, time, resources.</a:t>
            </a:r>
          </a:p>
          <a:p>
            <a:pPr algn="l">
              <a:lnSpc>
                <a:spcPts val="4094"/>
              </a:lnSpc>
              <a:spcBef>
                <a:spcPct val="0"/>
              </a:spcBef>
            </a:pPr>
            <a:endParaRPr lang="en-US" sz="3499" b="1">
              <a:solidFill>
                <a:srgbClr val="000000"/>
              </a:solidFill>
              <a:latin typeface="Futura Ultra-Bold"/>
              <a:ea typeface="Futura Ultra-Bold"/>
              <a:cs typeface="Futura Ultra-Bold"/>
              <a:sym typeface="Futura Ultra-Bold"/>
            </a:endParaRPr>
          </a:p>
        </p:txBody>
      </p:sp>
      <p:sp>
        <p:nvSpPr>
          <p:cNvPr id="14" name="TextBox 14"/>
          <p:cNvSpPr txBox="1"/>
          <p:nvPr/>
        </p:nvSpPr>
        <p:spPr>
          <a:xfrm>
            <a:off x="5272271" y="4534527"/>
            <a:ext cx="12687067" cy="1613535"/>
          </a:xfrm>
          <a:prstGeom prst="rect">
            <a:avLst/>
          </a:prstGeom>
        </p:spPr>
        <p:txBody>
          <a:bodyPr lIns="0" tIns="0" rIns="0" bIns="0" rtlCol="0" anchor="t">
            <a:spAutoFit/>
          </a:bodyPr>
          <a:lstStyle/>
          <a:p>
            <a:pPr algn="l">
              <a:lnSpc>
                <a:spcPts val="4094"/>
              </a:lnSpc>
            </a:pPr>
            <a:r>
              <a:rPr lang="en-US" sz="3499" b="1">
                <a:solidFill>
                  <a:srgbClr val="000000"/>
                </a:solidFill>
                <a:latin typeface="Futura Ultra-Bold"/>
                <a:ea typeface="Futura Ultra-Bold"/>
                <a:cs typeface="Futura Ultra-Bold"/>
                <a:sym typeface="Futura Ultra-Bold"/>
              </a:rPr>
              <a:t>PMP provides: </a:t>
            </a:r>
          </a:p>
          <a:p>
            <a:pPr algn="l">
              <a:lnSpc>
                <a:spcPts val="4094"/>
              </a:lnSpc>
            </a:pPr>
            <a:r>
              <a:rPr lang="en-US" sz="3499" b="1">
                <a:solidFill>
                  <a:srgbClr val="000000"/>
                </a:solidFill>
                <a:latin typeface="Futura Ultra-Bold"/>
                <a:ea typeface="Futura Ultra-Bold"/>
                <a:cs typeface="Futura Ultra-Bold"/>
                <a:sym typeface="Futura Ultra-Bold"/>
              </a:rPr>
              <a:t>Structure, Meaning, and Independence.</a:t>
            </a:r>
          </a:p>
          <a:p>
            <a:pPr algn="l">
              <a:lnSpc>
                <a:spcPts val="4094"/>
              </a:lnSpc>
              <a:spcBef>
                <a:spcPct val="0"/>
              </a:spcBef>
            </a:pPr>
            <a:endParaRPr lang="en-US" sz="3499" b="1">
              <a:solidFill>
                <a:srgbClr val="000000"/>
              </a:solidFill>
              <a:latin typeface="Futura Ultra-Bold"/>
              <a:ea typeface="Futura Ultra-Bold"/>
              <a:cs typeface="Futura Ultra-Bold"/>
              <a:sym typeface="Futura Ultra-Bold"/>
            </a:endParaRPr>
          </a:p>
        </p:txBody>
      </p:sp>
      <p:sp>
        <p:nvSpPr>
          <p:cNvPr id="15" name="TextBox 15"/>
          <p:cNvSpPr txBox="1"/>
          <p:nvPr/>
        </p:nvSpPr>
        <p:spPr>
          <a:xfrm>
            <a:off x="4264272" y="7832050"/>
            <a:ext cx="12687067" cy="1099185"/>
          </a:xfrm>
          <a:prstGeom prst="rect">
            <a:avLst/>
          </a:prstGeom>
        </p:spPr>
        <p:txBody>
          <a:bodyPr lIns="0" tIns="0" rIns="0" bIns="0" rtlCol="0" anchor="t">
            <a:spAutoFit/>
          </a:bodyPr>
          <a:lstStyle/>
          <a:p>
            <a:pPr algn="l">
              <a:lnSpc>
                <a:spcPts val="4094"/>
              </a:lnSpc>
            </a:pPr>
            <a:r>
              <a:rPr lang="en-US" sz="3499" b="1">
                <a:solidFill>
                  <a:srgbClr val="000000"/>
                </a:solidFill>
                <a:latin typeface="Futura Ultra-Bold"/>
                <a:ea typeface="Futura Ultra-Bold"/>
                <a:cs typeface="Futura Ultra-Bold"/>
                <a:sym typeface="Futura Ultra-Bold"/>
              </a:rPr>
              <a:t>Example: Studying abroad as a life project.</a:t>
            </a:r>
          </a:p>
          <a:p>
            <a:pPr algn="l">
              <a:lnSpc>
                <a:spcPts val="4094"/>
              </a:lnSpc>
              <a:spcBef>
                <a:spcPct val="0"/>
              </a:spcBef>
            </a:pPr>
            <a:endParaRPr lang="en-US" sz="3499" b="1">
              <a:solidFill>
                <a:srgbClr val="000000"/>
              </a:solidFill>
              <a:latin typeface="Futura Ultra-Bold"/>
              <a:ea typeface="Futura Ultra-Bold"/>
              <a:cs typeface="Futura Ultra-Bold"/>
              <a:sym typeface="Futura Ul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155502" y="9971832"/>
            <a:ext cx="15132498" cy="0"/>
          </a:xfrm>
          <a:prstGeom prst="line">
            <a:avLst/>
          </a:prstGeom>
          <a:ln w="19050" cap="flat">
            <a:solidFill>
              <a:srgbClr val="2012BF"/>
            </a:solidFill>
            <a:prstDash val="solid"/>
            <a:headEnd type="none" w="sm" len="sm"/>
            <a:tailEnd type="none" w="sm" len="sm"/>
          </a:ln>
        </p:spPr>
      </p:sp>
      <p:sp>
        <p:nvSpPr>
          <p:cNvPr id="8" name="Freeform 8"/>
          <p:cNvSpPr/>
          <p:nvPr/>
        </p:nvSpPr>
        <p:spPr>
          <a:xfrm flipH="1">
            <a:off x="17218095" y="9217095"/>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3442616" y="468278"/>
            <a:ext cx="14080368" cy="9634728"/>
          </a:xfrm>
          <a:prstGeom prst="rect">
            <a:avLst/>
          </a:prstGeom>
        </p:spPr>
        <p:txBody>
          <a:bodyPr lIns="0" tIns="0" rIns="0" bIns="0" rtlCol="0" anchor="t">
            <a:spAutoFit/>
          </a:bodyPr>
          <a:lstStyle/>
          <a:p>
            <a:pPr algn="just">
              <a:lnSpc>
                <a:spcPts val="4445"/>
              </a:lnSpc>
            </a:pPr>
            <a:r>
              <a:rPr lang="en-US" sz="3799">
                <a:solidFill>
                  <a:srgbClr val="000000"/>
                </a:solidFill>
                <a:latin typeface="Futura"/>
                <a:ea typeface="Futura"/>
                <a:cs typeface="Futura"/>
                <a:sym typeface="Futura"/>
              </a:rPr>
              <a:t>The Project Management Platform provides three essential contributions to our lives.</a:t>
            </a:r>
          </a:p>
          <a:p>
            <a:pPr algn="just">
              <a:lnSpc>
                <a:spcPts val="4445"/>
              </a:lnSpc>
            </a:pPr>
            <a:endParaRPr lang="en-US" sz="3799">
              <a:solidFill>
                <a:srgbClr val="000000"/>
              </a:solidFill>
              <a:latin typeface="Futura"/>
              <a:ea typeface="Futura"/>
              <a:cs typeface="Futura"/>
              <a:sym typeface="Futura"/>
            </a:endParaRPr>
          </a:p>
          <a:p>
            <a:pPr algn="just">
              <a:lnSpc>
                <a:spcPts val="4445"/>
              </a:lnSpc>
            </a:pPr>
            <a:r>
              <a:rPr lang="en-US" sz="3799">
                <a:solidFill>
                  <a:srgbClr val="000000"/>
                </a:solidFill>
                <a:latin typeface="Futura"/>
                <a:ea typeface="Futura"/>
                <a:cs typeface="Futura"/>
                <a:sym typeface="Futura"/>
              </a:rPr>
              <a:t>First, it provides Structure — projects are organized systems with objectives, resources, and deadlines. This structure transforms vague intentions into clear and achievable steps.</a:t>
            </a:r>
          </a:p>
          <a:p>
            <a:pPr algn="just">
              <a:lnSpc>
                <a:spcPts val="4445"/>
              </a:lnSpc>
            </a:pPr>
            <a:endParaRPr lang="en-US" sz="3799">
              <a:solidFill>
                <a:srgbClr val="000000"/>
              </a:solidFill>
              <a:latin typeface="Futura"/>
              <a:ea typeface="Futura"/>
              <a:cs typeface="Futura"/>
              <a:sym typeface="Futura"/>
            </a:endParaRPr>
          </a:p>
          <a:p>
            <a:pPr algn="just">
              <a:lnSpc>
                <a:spcPts val="4445"/>
              </a:lnSpc>
            </a:pPr>
            <a:r>
              <a:rPr lang="en-US" sz="3799">
                <a:solidFill>
                  <a:srgbClr val="000000"/>
                </a:solidFill>
                <a:latin typeface="Futura"/>
                <a:ea typeface="Futura"/>
                <a:cs typeface="Futura"/>
                <a:sym typeface="Futura"/>
              </a:rPr>
              <a:t>Second, it provides Meaning — by defining goals and milestones, every project gives us a sense of direction. Our actions are no longer random; they form part of a bigger story that connects personal aims with social outcomes.</a:t>
            </a:r>
          </a:p>
          <a:p>
            <a:pPr algn="just">
              <a:lnSpc>
                <a:spcPts val="4445"/>
              </a:lnSpc>
            </a:pPr>
            <a:endParaRPr lang="en-US" sz="3799">
              <a:solidFill>
                <a:srgbClr val="000000"/>
              </a:solidFill>
              <a:latin typeface="Futura"/>
              <a:ea typeface="Futura"/>
              <a:cs typeface="Futura"/>
              <a:sym typeface="Futura"/>
            </a:endParaRPr>
          </a:p>
          <a:p>
            <a:pPr algn="just">
              <a:lnSpc>
                <a:spcPts val="4445"/>
              </a:lnSpc>
            </a:pPr>
            <a:r>
              <a:rPr lang="en-US" sz="3799">
                <a:solidFill>
                  <a:srgbClr val="000000"/>
                </a:solidFill>
                <a:latin typeface="Futura"/>
                <a:ea typeface="Futura"/>
                <a:cs typeface="Futura"/>
                <a:sym typeface="Futura"/>
              </a:rPr>
              <a:t>Third, it provides Independence — projectising life helps us to act as independent cells in society. With planning and responsibility, we can make decisions without depending on rumours, external pressures, or passive circumstances</a:t>
            </a:r>
          </a:p>
          <a:p>
            <a:pPr algn="just">
              <a:lnSpc>
                <a:spcPts val="4445"/>
              </a:lnSpc>
              <a:spcBef>
                <a:spcPct val="0"/>
              </a:spcBef>
            </a:pPr>
            <a:endParaRPr lang="en-US" sz="3799">
              <a:solidFill>
                <a:srgbClr val="000000"/>
              </a:solidFill>
              <a:latin typeface="Futura"/>
              <a:ea typeface="Futura"/>
              <a:cs typeface="Futura"/>
              <a:sym typeface="Futu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155502" y="9248775"/>
            <a:ext cx="15132498" cy="0"/>
          </a:xfrm>
          <a:prstGeom prst="line">
            <a:avLst/>
          </a:prstGeom>
          <a:ln w="19050" cap="flat">
            <a:solidFill>
              <a:srgbClr val="2012BF"/>
            </a:solidFill>
            <a:prstDash val="solid"/>
            <a:headEnd type="none" w="sm" len="sm"/>
            <a:tailEnd type="none" w="sm" len="sm"/>
          </a:ln>
        </p:spPr>
      </p:sp>
      <p:sp>
        <p:nvSpPr>
          <p:cNvPr id="8" name="Freeform 8"/>
          <p:cNvSpPr/>
          <p:nvPr/>
        </p:nvSpPr>
        <p:spPr>
          <a:xfrm flipH="1">
            <a:off x="17218095" y="814719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3672680" y="1559226"/>
            <a:ext cx="12687067" cy="6824853"/>
          </a:xfrm>
          <a:prstGeom prst="rect">
            <a:avLst/>
          </a:prstGeom>
        </p:spPr>
        <p:txBody>
          <a:bodyPr lIns="0" tIns="0" rIns="0" bIns="0" rtlCol="0" anchor="t">
            <a:spAutoFit/>
          </a:bodyPr>
          <a:lstStyle/>
          <a:p>
            <a:pPr algn="just">
              <a:lnSpc>
                <a:spcPts val="4445"/>
              </a:lnSpc>
            </a:pPr>
            <a:r>
              <a:rPr lang="en-US" sz="3799">
                <a:solidFill>
                  <a:srgbClr val="000000"/>
                </a:solidFill>
                <a:latin typeface="Futura"/>
                <a:ea typeface="Futura"/>
                <a:cs typeface="Futura"/>
                <a:sym typeface="Futura"/>
              </a:rPr>
              <a:t>The philosophy of projectising life tells us that life itself can be divided into projects. Every step in life our education, our career, our family, even our hobbies can be structured as projects with clear goals, deadlines, and resources. By thinking this way, we do not just live passively, but actively give meaning to our choices. </a:t>
            </a:r>
          </a:p>
          <a:p>
            <a:pPr algn="just">
              <a:lnSpc>
                <a:spcPts val="4445"/>
              </a:lnSpc>
            </a:pPr>
            <a:endParaRPr lang="en-US" sz="3799">
              <a:solidFill>
                <a:srgbClr val="000000"/>
              </a:solidFill>
              <a:latin typeface="Futura"/>
              <a:ea typeface="Futura"/>
              <a:cs typeface="Futura"/>
              <a:sym typeface="Futura"/>
            </a:endParaRPr>
          </a:p>
          <a:p>
            <a:pPr algn="just">
              <a:lnSpc>
                <a:spcPts val="4445"/>
              </a:lnSpc>
            </a:pPr>
            <a:r>
              <a:rPr lang="en-US" sz="3799">
                <a:solidFill>
                  <a:srgbClr val="000000"/>
                </a:solidFill>
                <a:latin typeface="Futura"/>
                <a:ea typeface="Futura"/>
                <a:cs typeface="Futura"/>
                <a:sym typeface="Futura"/>
              </a:rPr>
              <a:t>Projectising life allows us to overcome resistance to change, to make decisions with responsibility, and to position ourselves as independent actors in society, rather than people who are only driven by circumstances.</a:t>
            </a:r>
          </a:p>
          <a:p>
            <a:pPr algn="just">
              <a:lnSpc>
                <a:spcPts val="4445"/>
              </a:lnSpc>
              <a:spcBef>
                <a:spcPct val="0"/>
              </a:spcBef>
            </a:pPr>
            <a:endParaRPr lang="en-US" sz="3799">
              <a:solidFill>
                <a:srgbClr val="000000"/>
              </a:solidFill>
              <a:latin typeface="Futura"/>
              <a:ea typeface="Futura"/>
              <a:cs typeface="Futura"/>
              <a:sym typeface="Futu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155502" y="9248775"/>
            <a:ext cx="15132498" cy="0"/>
          </a:xfrm>
          <a:prstGeom prst="line">
            <a:avLst/>
          </a:prstGeom>
          <a:ln w="19050" cap="flat">
            <a:solidFill>
              <a:srgbClr val="2012BF"/>
            </a:solidFill>
            <a:prstDash val="solid"/>
            <a:headEnd type="none" w="sm" len="sm"/>
            <a:tailEnd type="none" w="sm" len="sm"/>
          </a:ln>
        </p:spPr>
      </p:sp>
      <p:sp>
        <p:nvSpPr>
          <p:cNvPr id="8" name="Freeform 8"/>
          <p:cNvSpPr/>
          <p:nvPr/>
        </p:nvSpPr>
        <p:spPr>
          <a:xfrm flipH="1">
            <a:off x="17218095" y="814719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10" name="Group 10"/>
          <p:cNvGrpSpPr/>
          <p:nvPr/>
        </p:nvGrpSpPr>
        <p:grpSpPr>
          <a:xfrm rot="5400000">
            <a:off x="14521152" y="3150991"/>
            <a:ext cx="1813227" cy="1072927"/>
            <a:chOff x="0" y="0"/>
            <a:chExt cx="663687" cy="392719"/>
          </a:xfrm>
        </p:grpSpPr>
        <p:sp>
          <p:nvSpPr>
            <p:cNvPr id="11" name="Freeform 11"/>
            <p:cNvSpPr/>
            <p:nvPr/>
          </p:nvSpPr>
          <p:spPr>
            <a:xfrm>
              <a:off x="0" y="0"/>
              <a:ext cx="663687" cy="392719"/>
            </a:xfrm>
            <a:custGeom>
              <a:avLst/>
              <a:gdLst/>
              <a:ahLst/>
              <a:cxnLst/>
              <a:rect l="l" t="t" r="r" b="b"/>
              <a:pathLst>
                <a:path w="663687" h="392719">
                  <a:moveTo>
                    <a:pt x="331844" y="0"/>
                  </a:moveTo>
                  <a:lnTo>
                    <a:pt x="663687" y="392719"/>
                  </a:lnTo>
                  <a:lnTo>
                    <a:pt x="0" y="392719"/>
                  </a:lnTo>
                  <a:lnTo>
                    <a:pt x="331844" y="0"/>
                  </a:lnTo>
                  <a:close/>
                </a:path>
              </a:pathLst>
            </a:custGeom>
            <a:solidFill>
              <a:srgbClr val="8E93A9"/>
            </a:solidFill>
          </p:spPr>
        </p:sp>
        <p:sp>
          <p:nvSpPr>
            <p:cNvPr id="12" name="TextBox 12"/>
            <p:cNvSpPr txBox="1"/>
            <p:nvPr/>
          </p:nvSpPr>
          <p:spPr>
            <a:xfrm>
              <a:off x="103701" y="134709"/>
              <a:ext cx="456285" cy="229959"/>
            </a:xfrm>
            <a:prstGeom prst="rect">
              <a:avLst/>
            </a:prstGeom>
          </p:spPr>
          <p:txBody>
            <a:bodyPr lIns="50800" tIns="50800" rIns="50800" bIns="50800" rtlCol="0" anchor="ctr"/>
            <a:lstStyle/>
            <a:p>
              <a:pPr algn="ctr">
                <a:lnSpc>
                  <a:spcPts val="2239"/>
                </a:lnSpc>
              </a:pPr>
              <a:endParaRPr/>
            </a:p>
          </p:txBody>
        </p:sp>
      </p:grpSp>
      <p:sp>
        <p:nvSpPr>
          <p:cNvPr id="13" name="Freeform 13"/>
          <p:cNvSpPr/>
          <p:nvPr/>
        </p:nvSpPr>
        <p:spPr>
          <a:xfrm rot="-10800000">
            <a:off x="13150890" y="3165315"/>
            <a:ext cx="2545663" cy="1428753"/>
          </a:xfrm>
          <a:custGeom>
            <a:avLst/>
            <a:gdLst/>
            <a:ahLst/>
            <a:cxnLst/>
            <a:rect l="l" t="t" r="r" b="b"/>
            <a:pathLst>
              <a:path w="2545663" h="1428753">
                <a:moveTo>
                  <a:pt x="0" y="0"/>
                </a:moveTo>
                <a:lnTo>
                  <a:pt x="2545663" y="0"/>
                </a:lnTo>
                <a:lnTo>
                  <a:pt x="2545663" y="1428753"/>
                </a:lnTo>
                <a:lnTo>
                  <a:pt x="0" y="1428753"/>
                </a:lnTo>
                <a:lnTo>
                  <a:pt x="0" y="0"/>
                </a:lnTo>
                <a:close/>
              </a:path>
            </a:pathLst>
          </a:custGeom>
          <a:blipFill>
            <a:blip r:embed="rId8">
              <a:alphaModFix amt="35000"/>
              <a:extLst>
                <a:ext uri="{96DAC541-7B7A-43D3-8B79-37D633B846F1}">
                  <asvg:svgBlip xmlns:asvg="http://schemas.microsoft.com/office/drawing/2016/SVG/main" r:embed="rId9"/>
                </a:ext>
              </a:extLst>
            </a:blip>
            <a:stretch>
              <a:fillRect/>
            </a:stretch>
          </a:blipFill>
          <a:ln cap="sq">
            <a:noFill/>
            <a:prstDash val="solid"/>
            <a:miter/>
          </a:ln>
        </p:spPr>
      </p:sp>
      <p:sp>
        <p:nvSpPr>
          <p:cNvPr id="14" name="Freeform 14"/>
          <p:cNvSpPr/>
          <p:nvPr/>
        </p:nvSpPr>
        <p:spPr>
          <a:xfrm rot="-10800000">
            <a:off x="5853288" y="3165315"/>
            <a:ext cx="2545663" cy="1428753"/>
          </a:xfrm>
          <a:custGeom>
            <a:avLst/>
            <a:gdLst/>
            <a:ahLst/>
            <a:cxnLst/>
            <a:rect l="l" t="t" r="r" b="b"/>
            <a:pathLst>
              <a:path w="2545663" h="1428753">
                <a:moveTo>
                  <a:pt x="0" y="0"/>
                </a:moveTo>
                <a:lnTo>
                  <a:pt x="2545663" y="0"/>
                </a:lnTo>
                <a:lnTo>
                  <a:pt x="2545663" y="1428753"/>
                </a:lnTo>
                <a:lnTo>
                  <a:pt x="0" y="1428753"/>
                </a:lnTo>
                <a:lnTo>
                  <a:pt x="0" y="0"/>
                </a:lnTo>
                <a:close/>
              </a:path>
            </a:pathLst>
          </a:custGeom>
          <a:blipFill>
            <a:blip r:embed="rId8">
              <a:alphaModFix amt="35000"/>
              <a:extLst>
                <a:ext uri="{96DAC541-7B7A-43D3-8B79-37D633B846F1}">
                  <asvg:svgBlip xmlns:asvg="http://schemas.microsoft.com/office/drawing/2016/SVG/main" r:embed="rId9"/>
                </a:ext>
              </a:extLst>
            </a:blip>
            <a:stretch>
              <a:fillRect/>
            </a:stretch>
          </a:blipFill>
          <a:ln cap="sq">
            <a:noFill/>
            <a:prstDash val="solid"/>
            <a:miter/>
          </a:ln>
        </p:spPr>
      </p:sp>
      <p:grpSp>
        <p:nvGrpSpPr>
          <p:cNvPr id="15" name="Group 15"/>
          <p:cNvGrpSpPr/>
          <p:nvPr/>
        </p:nvGrpSpPr>
        <p:grpSpPr>
          <a:xfrm>
            <a:off x="12315598" y="3639977"/>
            <a:ext cx="3648632" cy="2017191"/>
            <a:chOff x="0" y="0"/>
            <a:chExt cx="1335492" cy="738343"/>
          </a:xfrm>
        </p:grpSpPr>
        <p:sp>
          <p:nvSpPr>
            <p:cNvPr id="16" name="Freeform 16"/>
            <p:cNvSpPr/>
            <p:nvPr/>
          </p:nvSpPr>
          <p:spPr>
            <a:xfrm>
              <a:off x="0" y="0"/>
              <a:ext cx="1335492" cy="738343"/>
            </a:xfrm>
            <a:custGeom>
              <a:avLst/>
              <a:gdLst/>
              <a:ahLst/>
              <a:cxnLst/>
              <a:rect l="l" t="t" r="r" b="b"/>
              <a:pathLst>
                <a:path w="1335492" h="738343">
                  <a:moveTo>
                    <a:pt x="0" y="0"/>
                  </a:moveTo>
                  <a:lnTo>
                    <a:pt x="1335492" y="0"/>
                  </a:lnTo>
                  <a:lnTo>
                    <a:pt x="1335492" y="738343"/>
                  </a:lnTo>
                  <a:lnTo>
                    <a:pt x="0" y="738343"/>
                  </a:lnTo>
                  <a:close/>
                </a:path>
              </a:pathLst>
            </a:custGeom>
            <a:solidFill>
              <a:srgbClr val="3A0CA3"/>
            </a:solidFill>
          </p:spPr>
        </p:sp>
        <p:sp>
          <p:nvSpPr>
            <p:cNvPr id="17" name="TextBox 17"/>
            <p:cNvSpPr txBox="1"/>
            <p:nvPr/>
          </p:nvSpPr>
          <p:spPr>
            <a:xfrm>
              <a:off x="0" y="-66675"/>
              <a:ext cx="1335492" cy="805018"/>
            </a:xfrm>
            <a:prstGeom prst="rect">
              <a:avLst/>
            </a:prstGeom>
          </p:spPr>
          <p:txBody>
            <a:bodyPr lIns="50800" tIns="50800" rIns="50800" bIns="50800" rtlCol="0" anchor="ctr"/>
            <a:lstStyle/>
            <a:p>
              <a:pPr algn="ctr">
                <a:lnSpc>
                  <a:spcPts val="4059"/>
                </a:lnSpc>
              </a:pPr>
              <a:r>
                <a:rPr lang="en-US" sz="2899">
                  <a:solidFill>
                    <a:srgbClr val="FFFFFF"/>
                  </a:solidFill>
                  <a:latin typeface="Roboto"/>
                  <a:ea typeface="Roboto"/>
                  <a:cs typeface="Roboto"/>
                  <a:sym typeface="Roboto"/>
                </a:rPr>
                <a:t>Projects differ from tasks: they have outcomes.</a:t>
              </a:r>
            </a:p>
            <a:p>
              <a:pPr algn="ctr">
                <a:lnSpc>
                  <a:spcPts val="2239"/>
                </a:lnSpc>
              </a:pPr>
              <a:endParaRPr lang="en-US" sz="2899">
                <a:solidFill>
                  <a:srgbClr val="FFFFFF"/>
                </a:solidFill>
                <a:latin typeface="Roboto"/>
                <a:ea typeface="Roboto"/>
                <a:cs typeface="Roboto"/>
                <a:sym typeface="Roboto"/>
              </a:endParaRPr>
            </a:p>
          </p:txBody>
        </p:sp>
      </p:grpSp>
      <p:grpSp>
        <p:nvGrpSpPr>
          <p:cNvPr id="18" name="Group 18"/>
          <p:cNvGrpSpPr/>
          <p:nvPr/>
        </p:nvGrpSpPr>
        <p:grpSpPr>
          <a:xfrm rot="5400000">
            <a:off x="7222948" y="3150991"/>
            <a:ext cx="1813227" cy="1072927"/>
            <a:chOff x="0" y="0"/>
            <a:chExt cx="663687" cy="392719"/>
          </a:xfrm>
        </p:grpSpPr>
        <p:sp>
          <p:nvSpPr>
            <p:cNvPr id="19" name="Freeform 19"/>
            <p:cNvSpPr/>
            <p:nvPr/>
          </p:nvSpPr>
          <p:spPr>
            <a:xfrm>
              <a:off x="0" y="0"/>
              <a:ext cx="663687" cy="392719"/>
            </a:xfrm>
            <a:custGeom>
              <a:avLst/>
              <a:gdLst/>
              <a:ahLst/>
              <a:cxnLst/>
              <a:rect l="l" t="t" r="r" b="b"/>
              <a:pathLst>
                <a:path w="663687" h="392719">
                  <a:moveTo>
                    <a:pt x="331844" y="0"/>
                  </a:moveTo>
                  <a:lnTo>
                    <a:pt x="663687" y="392719"/>
                  </a:lnTo>
                  <a:lnTo>
                    <a:pt x="0" y="392719"/>
                  </a:lnTo>
                  <a:lnTo>
                    <a:pt x="331844" y="0"/>
                  </a:lnTo>
                  <a:close/>
                </a:path>
              </a:pathLst>
            </a:custGeom>
            <a:solidFill>
              <a:srgbClr val="8E93A9"/>
            </a:solidFill>
          </p:spPr>
        </p:sp>
        <p:sp>
          <p:nvSpPr>
            <p:cNvPr id="20" name="TextBox 20"/>
            <p:cNvSpPr txBox="1"/>
            <p:nvPr/>
          </p:nvSpPr>
          <p:spPr>
            <a:xfrm>
              <a:off x="103701" y="134709"/>
              <a:ext cx="456285" cy="229959"/>
            </a:xfrm>
            <a:prstGeom prst="rect">
              <a:avLst/>
            </a:prstGeom>
          </p:spPr>
          <p:txBody>
            <a:bodyPr lIns="50800" tIns="50800" rIns="50800" bIns="50800" rtlCol="0" anchor="ctr"/>
            <a:lstStyle/>
            <a:p>
              <a:pPr algn="ctr">
                <a:lnSpc>
                  <a:spcPts val="2239"/>
                </a:lnSpc>
              </a:pPr>
              <a:endParaRPr/>
            </a:p>
          </p:txBody>
        </p:sp>
      </p:grpSp>
      <p:grpSp>
        <p:nvGrpSpPr>
          <p:cNvPr id="21" name="Group 21"/>
          <p:cNvGrpSpPr/>
          <p:nvPr/>
        </p:nvGrpSpPr>
        <p:grpSpPr>
          <a:xfrm rot="-10800000">
            <a:off x="4728851" y="3687454"/>
            <a:ext cx="4365254" cy="1163461"/>
            <a:chOff x="0" y="0"/>
            <a:chExt cx="1597794" cy="425856"/>
          </a:xfrm>
        </p:grpSpPr>
        <p:sp>
          <p:nvSpPr>
            <p:cNvPr id="22" name="Freeform 22"/>
            <p:cNvSpPr/>
            <p:nvPr/>
          </p:nvSpPr>
          <p:spPr>
            <a:xfrm>
              <a:off x="0" y="0"/>
              <a:ext cx="1597794" cy="425856"/>
            </a:xfrm>
            <a:custGeom>
              <a:avLst/>
              <a:gdLst/>
              <a:ahLst/>
              <a:cxnLst/>
              <a:rect l="l" t="t" r="r" b="b"/>
              <a:pathLst>
                <a:path w="1597794" h="425856">
                  <a:moveTo>
                    <a:pt x="0" y="0"/>
                  </a:moveTo>
                  <a:lnTo>
                    <a:pt x="1597794" y="0"/>
                  </a:lnTo>
                  <a:lnTo>
                    <a:pt x="1597794" y="425856"/>
                  </a:lnTo>
                  <a:lnTo>
                    <a:pt x="0" y="425856"/>
                  </a:lnTo>
                  <a:close/>
                </a:path>
              </a:pathLst>
            </a:custGeom>
            <a:solidFill>
              <a:srgbClr val="3A0CA3"/>
            </a:solidFill>
          </p:spPr>
        </p:sp>
        <p:sp>
          <p:nvSpPr>
            <p:cNvPr id="23" name="TextBox 23"/>
            <p:cNvSpPr txBox="1"/>
            <p:nvPr/>
          </p:nvSpPr>
          <p:spPr>
            <a:xfrm>
              <a:off x="0" y="-47625"/>
              <a:ext cx="1597794" cy="473481"/>
            </a:xfrm>
            <a:prstGeom prst="rect">
              <a:avLst/>
            </a:prstGeom>
          </p:spPr>
          <p:txBody>
            <a:bodyPr lIns="50800" tIns="50800" rIns="50800" bIns="50800" rtlCol="0" anchor="ctr"/>
            <a:lstStyle/>
            <a:p>
              <a:pPr algn="ctr">
                <a:lnSpc>
                  <a:spcPts val="2239"/>
                </a:lnSpc>
              </a:pPr>
              <a:endParaRPr/>
            </a:p>
          </p:txBody>
        </p:sp>
      </p:grpSp>
      <p:sp>
        <p:nvSpPr>
          <p:cNvPr id="24" name="Freeform 24"/>
          <p:cNvSpPr/>
          <p:nvPr/>
        </p:nvSpPr>
        <p:spPr>
          <a:xfrm rot="-10800000">
            <a:off x="7366465" y="2421616"/>
            <a:ext cx="7524837" cy="94619"/>
          </a:xfrm>
          <a:custGeom>
            <a:avLst/>
            <a:gdLst/>
            <a:ahLst/>
            <a:cxnLst/>
            <a:rect l="l" t="t" r="r" b="b"/>
            <a:pathLst>
              <a:path w="7524837" h="94619">
                <a:moveTo>
                  <a:pt x="0" y="0"/>
                </a:moveTo>
                <a:lnTo>
                  <a:pt x="7524837" y="0"/>
                </a:lnTo>
                <a:lnTo>
                  <a:pt x="7524837" y="94619"/>
                </a:lnTo>
                <a:lnTo>
                  <a:pt x="0" y="94619"/>
                </a:lnTo>
                <a:lnTo>
                  <a:pt x="0" y="0"/>
                </a:lnTo>
                <a:close/>
              </a:path>
            </a:pathLst>
          </a:custGeom>
          <a:blipFill>
            <a:blip r:embed="rId10">
              <a:extLst>
                <a:ext uri="{96DAC541-7B7A-43D3-8B79-37D633B846F1}">
                  <asvg:svgBlip xmlns:asvg="http://schemas.microsoft.com/office/drawing/2016/SVG/main" r:embed="rId11"/>
                </a:ext>
              </a:extLst>
            </a:blip>
            <a:stretch>
              <a:fillRect r="-46368" b="-5123597"/>
            </a:stretch>
          </a:blipFill>
        </p:spPr>
      </p:sp>
      <p:grpSp>
        <p:nvGrpSpPr>
          <p:cNvPr id="25" name="Group 25"/>
          <p:cNvGrpSpPr/>
          <p:nvPr/>
        </p:nvGrpSpPr>
        <p:grpSpPr>
          <a:xfrm rot="-10800000">
            <a:off x="14746596" y="2349894"/>
            <a:ext cx="289412" cy="28941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2585"/>
            </a:solidFill>
            <a:ln w="47625" cap="sq">
              <a:solidFill>
                <a:srgbClr val="FFFFFF"/>
              </a:soli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11097494" y="2349894"/>
            <a:ext cx="289412" cy="289412"/>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09B7"/>
            </a:solidFill>
            <a:ln w="47625" cap="sq">
              <a:solidFill>
                <a:srgbClr val="FFFFFF"/>
              </a:soli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10800000">
            <a:off x="7448392" y="2349894"/>
            <a:ext cx="289412" cy="289412"/>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CA3"/>
            </a:solidFill>
            <a:ln w="47625" cap="sq">
              <a:solidFill>
                <a:srgbClr val="FFFFFF"/>
              </a:solidFill>
              <a:prstDash val="solid"/>
              <a:miter/>
            </a:ln>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Freeform 34"/>
          <p:cNvSpPr/>
          <p:nvPr/>
        </p:nvSpPr>
        <p:spPr>
          <a:xfrm rot="8324015">
            <a:off x="5159381" y="5050358"/>
            <a:ext cx="1700091" cy="595740"/>
          </a:xfrm>
          <a:custGeom>
            <a:avLst/>
            <a:gdLst/>
            <a:ahLst/>
            <a:cxnLst/>
            <a:rect l="l" t="t" r="r" b="b"/>
            <a:pathLst>
              <a:path w="1700091" h="595740">
                <a:moveTo>
                  <a:pt x="0" y="0"/>
                </a:moveTo>
                <a:lnTo>
                  <a:pt x="1700091" y="0"/>
                </a:lnTo>
                <a:lnTo>
                  <a:pt x="1700091" y="595740"/>
                </a:lnTo>
                <a:lnTo>
                  <a:pt x="0" y="59574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5" name="TextBox 35"/>
          <p:cNvSpPr txBox="1"/>
          <p:nvPr/>
        </p:nvSpPr>
        <p:spPr>
          <a:xfrm>
            <a:off x="6119164" y="522959"/>
            <a:ext cx="9956660" cy="1303060"/>
          </a:xfrm>
          <a:prstGeom prst="rect">
            <a:avLst/>
          </a:prstGeom>
        </p:spPr>
        <p:txBody>
          <a:bodyPr lIns="0" tIns="0" rIns="0" bIns="0" rtlCol="0" anchor="t">
            <a:spAutoFit/>
          </a:bodyPr>
          <a:lstStyle/>
          <a:p>
            <a:pPr algn="ctr">
              <a:lnSpc>
                <a:spcPts val="10602"/>
              </a:lnSpc>
            </a:pPr>
            <a:r>
              <a:rPr lang="en-US" sz="7573" b="1">
                <a:solidFill>
                  <a:srgbClr val="000000"/>
                </a:solidFill>
                <a:latin typeface="Roboto Bold"/>
                <a:ea typeface="Roboto Bold"/>
                <a:cs typeface="Roboto Bold"/>
                <a:sym typeface="Roboto Bold"/>
              </a:rPr>
              <a:t>IDEA → PROJECT</a:t>
            </a:r>
          </a:p>
        </p:txBody>
      </p:sp>
      <p:sp>
        <p:nvSpPr>
          <p:cNvPr id="36" name="TextBox 36"/>
          <p:cNvSpPr txBox="1"/>
          <p:nvPr/>
        </p:nvSpPr>
        <p:spPr>
          <a:xfrm>
            <a:off x="4728851" y="3601729"/>
            <a:ext cx="4231953" cy="1205393"/>
          </a:xfrm>
          <a:prstGeom prst="rect">
            <a:avLst/>
          </a:prstGeom>
        </p:spPr>
        <p:txBody>
          <a:bodyPr lIns="0" tIns="0" rIns="0" bIns="0" rtlCol="0" anchor="t">
            <a:spAutoFit/>
          </a:bodyPr>
          <a:lstStyle/>
          <a:p>
            <a:pPr algn="ctr">
              <a:lnSpc>
                <a:spcPts val="4817"/>
              </a:lnSpc>
            </a:pPr>
            <a:r>
              <a:rPr lang="en-US" sz="3441">
                <a:solidFill>
                  <a:srgbClr val="FFFFFF"/>
                </a:solidFill>
                <a:latin typeface="Roboto"/>
                <a:ea typeface="Roboto"/>
                <a:cs typeface="Roboto"/>
                <a:sym typeface="Roboto"/>
              </a:rPr>
              <a:t>Ideas become projects when </a:t>
            </a:r>
          </a:p>
        </p:txBody>
      </p:sp>
      <p:sp>
        <p:nvSpPr>
          <p:cNvPr id="37" name="Freeform 37"/>
          <p:cNvSpPr/>
          <p:nvPr/>
        </p:nvSpPr>
        <p:spPr>
          <a:xfrm rot="5400000">
            <a:off x="5805908" y="5359298"/>
            <a:ext cx="1700091" cy="595740"/>
          </a:xfrm>
          <a:custGeom>
            <a:avLst/>
            <a:gdLst/>
            <a:ahLst/>
            <a:cxnLst/>
            <a:rect l="l" t="t" r="r" b="b"/>
            <a:pathLst>
              <a:path w="1700091" h="595740">
                <a:moveTo>
                  <a:pt x="0" y="0"/>
                </a:moveTo>
                <a:lnTo>
                  <a:pt x="1700090" y="0"/>
                </a:lnTo>
                <a:lnTo>
                  <a:pt x="1700090" y="595740"/>
                </a:lnTo>
                <a:lnTo>
                  <a:pt x="0" y="59574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8" name="Freeform 38"/>
          <p:cNvSpPr/>
          <p:nvPr/>
        </p:nvSpPr>
        <p:spPr>
          <a:xfrm rot="2463976">
            <a:off x="6459412" y="5081343"/>
            <a:ext cx="1814108" cy="635694"/>
          </a:xfrm>
          <a:custGeom>
            <a:avLst/>
            <a:gdLst/>
            <a:ahLst/>
            <a:cxnLst/>
            <a:rect l="l" t="t" r="r" b="b"/>
            <a:pathLst>
              <a:path w="1814108" h="635694">
                <a:moveTo>
                  <a:pt x="0" y="0"/>
                </a:moveTo>
                <a:lnTo>
                  <a:pt x="1814107" y="0"/>
                </a:lnTo>
                <a:lnTo>
                  <a:pt x="1814107" y="635694"/>
                </a:lnTo>
                <a:lnTo>
                  <a:pt x="0" y="63569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9" name="TextBox 39"/>
          <p:cNvSpPr txBox="1"/>
          <p:nvPr/>
        </p:nvSpPr>
        <p:spPr>
          <a:xfrm>
            <a:off x="4647144" y="6076099"/>
            <a:ext cx="976438" cy="326732"/>
          </a:xfrm>
          <a:prstGeom prst="rect">
            <a:avLst/>
          </a:prstGeom>
        </p:spPr>
        <p:txBody>
          <a:bodyPr lIns="0" tIns="0" rIns="0" bIns="0" rtlCol="0" anchor="t">
            <a:spAutoFit/>
          </a:bodyPr>
          <a:lstStyle/>
          <a:p>
            <a:pPr algn="ctr">
              <a:lnSpc>
                <a:spcPts val="2647"/>
              </a:lnSpc>
              <a:spcBef>
                <a:spcPct val="0"/>
              </a:spcBef>
            </a:pPr>
            <a:r>
              <a:rPr lang="en-US" sz="2262" b="1">
                <a:solidFill>
                  <a:srgbClr val="000000"/>
                </a:solidFill>
                <a:latin typeface="Canva Sans Bold"/>
                <a:ea typeface="Canva Sans Bold"/>
                <a:cs typeface="Canva Sans Bold"/>
                <a:sym typeface="Canva Sans Bold"/>
              </a:rPr>
              <a:t>unique</a:t>
            </a:r>
          </a:p>
        </p:txBody>
      </p:sp>
      <p:sp>
        <p:nvSpPr>
          <p:cNvPr id="40" name="TextBox 40"/>
          <p:cNvSpPr txBox="1"/>
          <p:nvPr/>
        </p:nvSpPr>
        <p:spPr>
          <a:xfrm>
            <a:off x="6041587" y="6585912"/>
            <a:ext cx="1153728" cy="326732"/>
          </a:xfrm>
          <a:prstGeom prst="rect">
            <a:avLst/>
          </a:prstGeom>
        </p:spPr>
        <p:txBody>
          <a:bodyPr lIns="0" tIns="0" rIns="0" bIns="0" rtlCol="0" anchor="t">
            <a:spAutoFit/>
          </a:bodyPr>
          <a:lstStyle/>
          <a:p>
            <a:pPr algn="ctr">
              <a:lnSpc>
                <a:spcPts val="2647"/>
              </a:lnSpc>
              <a:spcBef>
                <a:spcPct val="0"/>
              </a:spcBef>
            </a:pPr>
            <a:r>
              <a:rPr lang="en-US" sz="2262" b="1">
                <a:solidFill>
                  <a:srgbClr val="000000"/>
                </a:solidFill>
                <a:latin typeface="Canva Sans Bold"/>
                <a:ea typeface="Canva Sans Bold"/>
                <a:cs typeface="Canva Sans Bold"/>
                <a:sym typeface="Canva Sans Bold"/>
              </a:rPr>
              <a:t>planned</a:t>
            </a:r>
          </a:p>
        </p:txBody>
      </p:sp>
      <p:sp>
        <p:nvSpPr>
          <p:cNvPr id="41" name="TextBox 41"/>
          <p:cNvSpPr txBox="1"/>
          <p:nvPr/>
        </p:nvSpPr>
        <p:spPr>
          <a:xfrm>
            <a:off x="7672139" y="6180481"/>
            <a:ext cx="1661257" cy="326732"/>
          </a:xfrm>
          <a:prstGeom prst="rect">
            <a:avLst/>
          </a:prstGeom>
        </p:spPr>
        <p:txBody>
          <a:bodyPr lIns="0" tIns="0" rIns="0" bIns="0" rtlCol="0" anchor="t">
            <a:spAutoFit/>
          </a:bodyPr>
          <a:lstStyle/>
          <a:p>
            <a:pPr algn="ctr">
              <a:lnSpc>
                <a:spcPts val="2647"/>
              </a:lnSpc>
              <a:spcBef>
                <a:spcPct val="0"/>
              </a:spcBef>
            </a:pPr>
            <a:r>
              <a:rPr lang="en-US" sz="2262" b="1">
                <a:solidFill>
                  <a:srgbClr val="000000"/>
                </a:solidFill>
                <a:latin typeface="Canva Sans Bold"/>
                <a:ea typeface="Canva Sans Bold"/>
                <a:cs typeface="Canva Sans Bold"/>
                <a:sym typeface="Canva Sans Bold"/>
              </a:rPr>
              <a:t>time-bound</a:t>
            </a:r>
          </a:p>
        </p:txBody>
      </p:sp>
      <p:sp>
        <p:nvSpPr>
          <p:cNvPr id="42" name="TextBox 42"/>
          <p:cNvSpPr txBox="1"/>
          <p:nvPr/>
        </p:nvSpPr>
        <p:spPr>
          <a:xfrm>
            <a:off x="5911579" y="8084219"/>
            <a:ext cx="9620151" cy="371475"/>
          </a:xfrm>
          <a:prstGeom prst="rect">
            <a:avLst/>
          </a:prstGeom>
        </p:spPr>
        <p:txBody>
          <a:bodyPr lIns="0" tIns="0" rIns="0" bIns="0" rtlCol="0" anchor="t">
            <a:spAutoFit/>
          </a:bodyPr>
          <a:lstStyle/>
          <a:p>
            <a:pPr algn="ctr">
              <a:lnSpc>
                <a:spcPts val="2924"/>
              </a:lnSpc>
              <a:spcBef>
                <a:spcPct val="0"/>
              </a:spcBef>
            </a:pPr>
            <a:r>
              <a:rPr lang="en-US" sz="2499" b="1">
                <a:solidFill>
                  <a:srgbClr val="000000"/>
                </a:solidFill>
                <a:latin typeface="Canva Sans Bold"/>
                <a:ea typeface="Canva Sans Bold"/>
                <a:cs typeface="Canva Sans Bold"/>
                <a:sym typeface="Canva Sans Bold"/>
              </a:rPr>
              <a:t>PMI 2021: 70% of successful projects start with clear planning.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155502" y="9248775"/>
            <a:ext cx="15132498" cy="0"/>
          </a:xfrm>
          <a:prstGeom prst="line">
            <a:avLst/>
          </a:prstGeom>
          <a:ln w="19050" cap="flat">
            <a:solidFill>
              <a:srgbClr val="2012BF"/>
            </a:solidFill>
            <a:prstDash val="solid"/>
            <a:headEnd type="none" w="sm" len="sm"/>
            <a:tailEnd type="none" w="sm" len="sm"/>
          </a:ln>
        </p:spPr>
      </p:sp>
      <p:sp>
        <p:nvSpPr>
          <p:cNvPr id="8" name="Freeform 8"/>
          <p:cNvSpPr/>
          <p:nvPr/>
        </p:nvSpPr>
        <p:spPr>
          <a:xfrm flipH="1">
            <a:off x="17218095" y="814719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3843265" y="1012755"/>
            <a:ext cx="12687067" cy="7785735"/>
          </a:xfrm>
          <a:prstGeom prst="rect">
            <a:avLst/>
          </a:prstGeom>
        </p:spPr>
        <p:txBody>
          <a:bodyPr lIns="0" tIns="0" rIns="0" bIns="0" rtlCol="0" anchor="t">
            <a:spAutoFit/>
          </a:bodyPr>
          <a:lstStyle/>
          <a:p>
            <a:pPr algn="just">
              <a:lnSpc>
                <a:spcPts val="4094"/>
              </a:lnSpc>
            </a:pPr>
            <a:r>
              <a:rPr lang="en-US" sz="3499">
                <a:solidFill>
                  <a:srgbClr val="000000"/>
                </a:solidFill>
                <a:latin typeface="Futura"/>
                <a:ea typeface="Futura"/>
                <a:cs typeface="Futura"/>
                <a:sym typeface="Futura"/>
              </a:rPr>
              <a:t>An idea by itself is not yet a project. To transform into a project, it must have four main characteristics.</a:t>
            </a:r>
          </a:p>
          <a:p>
            <a:pPr algn="just">
              <a:lnSpc>
                <a:spcPts val="4094"/>
              </a:lnSpc>
            </a:pPr>
            <a:endParaRPr lang="en-US" sz="3499">
              <a:solidFill>
                <a:srgbClr val="000000"/>
              </a:solidFill>
              <a:latin typeface="Futura"/>
              <a:ea typeface="Futura"/>
              <a:cs typeface="Futura"/>
              <a:sym typeface="Futura"/>
            </a:endParaRPr>
          </a:p>
          <a:p>
            <a:pPr algn="just">
              <a:lnSpc>
                <a:spcPts val="4094"/>
              </a:lnSpc>
            </a:pPr>
            <a:r>
              <a:rPr lang="en-US" sz="3499">
                <a:solidFill>
                  <a:srgbClr val="000000"/>
                </a:solidFill>
                <a:latin typeface="Futura"/>
                <a:ea typeface="Futura"/>
                <a:cs typeface="Futura"/>
                <a:sym typeface="Futura"/>
              </a:rPr>
              <a:t>First, it must be unique. This means that every project produces something new, something that has not existed before in exactly the same form. For example, building a specific bridge, or developing a new educational program even if similar bridges or programs exist, this one is unique in its context, its place, and its goals.</a:t>
            </a:r>
          </a:p>
          <a:p>
            <a:pPr algn="just">
              <a:lnSpc>
                <a:spcPts val="4094"/>
              </a:lnSpc>
            </a:pPr>
            <a:endParaRPr lang="en-US" sz="3499">
              <a:solidFill>
                <a:srgbClr val="000000"/>
              </a:solidFill>
              <a:latin typeface="Futura"/>
              <a:ea typeface="Futura"/>
              <a:cs typeface="Futura"/>
              <a:sym typeface="Futura"/>
            </a:endParaRPr>
          </a:p>
          <a:p>
            <a:pPr algn="just">
              <a:lnSpc>
                <a:spcPts val="4094"/>
              </a:lnSpc>
              <a:spcBef>
                <a:spcPct val="0"/>
              </a:spcBef>
            </a:pPr>
            <a:r>
              <a:rPr lang="en-US" sz="3499">
                <a:solidFill>
                  <a:srgbClr val="000000"/>
                </a:solidFill>
                <a:latin typeface="Futura"/>
                <a:ea typeface="Futura"/>
                <a:cs typeface="Futura"/>
                <a:sym typeface="Futura"/>
              </a:rPr>
              <a:t>Second, it must be planned. A project cannot be spontaneous. It needs a clear plan, with tasks divided into steps, intermediate targets, and responsibilities assigned. Without planning, an idea remains only an activity or a dream.</a:t>
            </a:r>
          </a:p>
          <a:p>
            <a:pPr algn="just">
              <a:lnSpc>
                <a:spcPts val="4094"/>
              </a:lnSpc>
              <a:spcBef>
                <a:spcPct val="0"/>
              </a:spcBef>
            </a:pPr>
            <a:endParaRPr lang="en-US" sz="3499">
              <a:solidFill>
                <a:srgbClr val="000000"/>
              </a:solidFill>
              <a:latin typeface="Futura"/>
              <a:ea typeface="Futura"/>
              <a:cs typeface="Futura"/>
              <a:sym typeface="Futur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155502" cy="10287000"/>
            <a:chOff x="0" y="0"/>
            <a:chExt cx="831079" cy="2709333"/>
          </a:xfrm>
        </p:grpSpPr>
        <p:sp>
          <p:nvSpPr>
            <p:cNvPr id="3" name="Freeform 3"/>
            <p:cNvSpPr/>
            <p:nvPr/>
          </p:nvSpPr>
          <p:spPr>
            <a:xfrm>
              <a:off x="0" y="0"/>
              <a:ext cx="831079" cy="2709333"/>
            </a:xfrm>
            <a:custGeom>
              <a:avLst/>
              <a:gdLst/>
              <a:ahLst/>
              <a:cxnLst/>
              <a:rect l="l" t="t" r="r" b="b"/>
              <a:pathLst>
                <a:path w="831079" h="2709333">
                  <a:moveTo>
                    <a:pt x="0" y="0"/>
                  </a:moveTo>
                  <a:lnTo>
                    <a:pt x="831079" y="0"/>
                  </a:lnTo>
                  <a:lnTo>
                    <a:pt x="831079" y="2709333"/>
                  </a:lnTo>
                  <a:lnTo>
                    <a:pt x="0" y="2709333"/>
                  </a:lnTo>
                  <a:close/>
                </a:path>
              </a:pathLst>
            </a:custGeom>
            <a:solidFill>
              <a:srgbClr val="2012BF"/>
            </a:solidFill>
          </p:spPr>
        </p:sp>
        <p:sp>
          <p:nvSpPr>
            <p:cNvPr id="4" name="TextBox 4"/>
            <p:cNvSpPr txBox="1"/>
            <p:nvPr/>
          </p:nvSpPr>
          <p:spPr>
            <a:xfrm>
              <a:off x="0" y="0"/>
              <a:ext cx="831079" cy="2709333"/>
            </a:xfrm>
            <a:prstGeom prst="rect">
              <a:avLst/>
            </a:prstGeom>
          </p:spPr>
          <p:txBody>
            <a:bodyPr lIns="50800" tIns="50800" rIns="50800" bIns="50800" rtlCol="0" anchor="ctr"/>
            <a:lstStyle/>
            <a:p>
              <a:pPr algn="ctr">
                <a:lnSpc>
                  <a:spcPts val="2924"/>
                </a:lnSpc>
              </a:pPr>
              <a:endParaRPr/>
            </a:p>
          </p:txBody>
        </p:sp>
      </p:grpSp>
      <p:sp>
        <p:nvSpPr>
          <p:cNvPr id="5" name="AutoShape 5"/>
          <p:cNvSpPr/>
          <p:nvPr/>
        </p:nvSpPr>
        <p:spPr>
          <a:xfrm>
            <a:off x="1069905" y="0"/>
            <a:ext cx="0" cy="10287000"/>
          </a:xfrm>
          <a:prstGeom prst="line">
            <a:avLst/>
          </a:prstGeom>
          <a:ln w="19050" cap="flat">
            <a:solidFill>
              <a:srgbClr val="FFFFFF"/>
            </a:solidFill>
            <a:prstDash val="solid"/>
            <a:headEnd type="none" w="sm" len="sm"/>
            <a:tailEnd type="none" w="sm" len="sm"/>
          </a:ln>
        </p:spPr>
      </p:sp>
      <p:sp>
        <p:nvSpPr>
          <p:cNvPr id="6" name="Freeform 6"/>
          <p:cNvSpPr/>
          <p:nvPr/>
        </p:nvSpPr>
        <p:spPr>
          <a:xfrm rot="5400000">
            <a:off x="534953" y="-534953"/>
            <a:ext cx="1069905" cy="2139810"/>
          </a:xfrm>
          <a:custGeom>
            <a:avLst/>
            <a:gdLst/>
            <a:ahLst/>
            <a:cxnLst/>
            <a:rect l="l" t="t" r="r" b="b"/>
            <a:pathLst>
              <a:path w="1069905" h="2139810">
                <a:moveTo>
                  <a:pt x="0" y="0"/>
                </a:moveTo>
                <a:lnTo>
                  <a:pt x="1069905" y="0"/>
                </a:lnTo>
                <a:lnTo>
                  <a:pt x="1069905" y="2139811"/>
                </a:lnTo>
                <a:lnTo>
                  <a:pt x="0" y="21398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AutoShape 7"/>
          <p:cNvSpPr/>
          <p:nvPr/>
        </p:nvSpPr>
        <p:spPr>
          <a:xfrm>
            <a:off x="3155502" y="9248775"/>
            <a:ext cx="15132498" cy="0"/>
          </a:xfrm>
          <a:prstGeom prst="line">
            <a:avLst/>
          </a:prstGeom>
          <a:ln w="19050" cap="flat">
            <a:solidFill>
              <a:srgbClr val="2012BF"/>
            </a:solidFill>
            <a:prstDash val="solid"/>
            <a:headEnd type="none" w="sm" len="sm"/>
            <a:tailEnd type="none" w="sm" len="sm"/>
          </a:ln>
        </p:spPr>
      </p:sp>
      <p:sp>
        <p:nvSpPr>
          <p:cNvPr id="8" name="Freeform 8"/>
          <p:cNvSpPr/>
          <p:nvPr/>
        </p:nvSpPr>
        <p:spPr>
          <a:xfrm flipH="1">
            <a:off x="17218095" y="8147190"/>
            <a:ext cx="1069905" cy="2139810"/>
          </a:xfrm>
          <a:custGeom>
            <a:avLst/>
            <a:gdLst/>
            <a:ahLst/>
            <a:cxnLst/>
            <a:rect l="l" t="t" r="r" b="b"/>
            <a:pathLst>
              <a:path w="1069905" h="2139810">
                <a:moveTo>
                  <a:pt x="1069905" y="0"/>
                </a:moveTo>
                <a:lnTo>
                  <a:pt x="0" y="0"/>
                </a:lnTo>
                <a:lnTo>
                  <a:pt x="0" y="2139810"/>
                </a:lnTo>
                <a:lnTo>
                  <a:pt x="1069905" y="2139810"/>
                </a:lnTo>
                <a:lnTo>
                  <a:pt x="106990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V="1">
            <a:off x="-8157010" y="234989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3646067" y="477803"/>
            <a:ext cx="13572027" cy="8814435"/>
          </a:xfrm>
          <a:prstGeom prst="rect">
            <a:avLst/>
          </a:prstGeom>
        </p:spPr>
        <p:txBody>
          <a:bodyPr lIns="0" tIns="0" rIns="0" bIns="0" rtlCol="0" anchor="t">
            <a:spAutoFit/>
          </a:bodyPr>
          <a:lstStyle/>
          <a:p>
            <a:pPr algn="just">
              <a:lnSpc>
                <a:spcPts val="4094"/>
              </a:lnSpc>
            </a:pPr>
            <a:r>
              <a:rPr lang="en-US" sz="3499">
                <a:solidFill>
                  <a:srgbClr val="000000"/>
                </a:solidFill>
                <a:latin typeface="Futura"/>
                <a:ea typeface="Futura"/>
                <a:cs typeface="Futura"/>
                <a:sym typeface="Futura"/>
              </a:rPr>
              <a:t>Third, it must be time-bound. Every project has a start and an end. It cannot continue indefinitely. The timeframe creates discipline and allows us to measure whether the project was successful or not.</a:t>
            </a:r>
          </a:p>
          <a:p>
            <a:pPr algn="just">
              <a:lnSpc>
                <a:spcPts val="4094"/>
              </a:lnSpc>
            </a:pPr>
            <a:endParaRPr lang="en-US" sz="3499">
              <a:solidFill>
                <a:srgbClr val="000000"/>
              </a:solidFill>
              <a:latin typeface="Futura"/>
              <a:ea typeface="Futura"/>
              <a:cs typeface="Futura"/>
              <a:sym typeface="Futura"/>
            </a:endParaRPr>
          </a:p>
          <a:p>
            <a:pPr algn="just">
              <a:lnSpc>
                <a:spcPts val="4094"/>
              </a:lnSpc>
            </a:pPr>
            <a:r>
              <a:rPr lang="en-US" sz="3499">
                <a:solidFill>
                  <a:srgbClr val="000000"/>
                </a:solidFill>
                <a:latin typeface="Futura"/>
                <a:ea typeface="Futura"/>
                <a:cs typeface="Futura"/>
                <a:sym typeface="Futura"/>
              </a:rPr>
              <a:t>And finally, it must be resource-limited. Projects are carried out with specific budgets, specific staff, and specific tools. These limitations push us to be creative and efficient.</a:t>
            </a:r>
          </a:p>
          <a:p>
            <a:pPr algn="just">
              <a:lnSpc>
                <a:spcPts val="4094"/>
              </a:lnSpc>
            </a:pPr>
            <a:endParaRPr lang="en-US" sz="3499">
              <a:solidFill>
                <a:srgbClr val="000000"/>
              </a:solidFill>
              <a:latin typeface="Futura"/>
              <a:ea typeface="Futura"/>
              <a:cs typeface="Futura"/>
              <a:sym typeface="Futura"/>
            </a:endParaRPr>
          </a:p>
          <a:p>
            <a:pPr algn="just">
              <a:lnSpc>
                <a:spcPts val="4094"/>
              </a:lnSpc>
              <a:spcBef>
                <a:spcPct val="0"/>
              </a:spcBef>
            </a:pPr>
            <a:endParaRPr lang="en-US" sz="3499">
              <a:solidFill>
                <a:srgbClr val="000000"/>
              </a:solidFill>
              <a:latin typeface="Futura"/>
              <a:ea typeface="Futura"/>
              <a:cs typeface="Futura"/>
              <a:sym typeface="Futura"/>
            </a:endParaRPr>
          </a:p>
          <a:p>
            <a:pPr marL="755647" lvl="1" indent="-377824" algn="just">
              <a:lnSpc>
                <a:spcPts val="4094"/>
              </a:lnSpc>
              <a:spcBef>
                <a:spcPct val="0"/>
              </a:spcBef>
              <a:buFont typeface="Arial"/>
              <a:buChar char="•"/>
            </a:pPr>
            <a:r>
              <a:rPr lang="en-US" sz="3499">
                <a:solidFill>
                  <a:srgbClr val="000000"/>
                </a:solidFill>
                <a:latin typeface="Futura"/>
                <a:ea typeface="Futura"/>
                <a:cs typeface="Futura"/>
                <a:sym typeface="Futura"/>
              </a:rPr>
              <a:t>Example 1: Building a community library — unique by location/design; planned via construction schedule; time-bound (12 months); resource-limited (budget X, team Y).</a:t>
            </a:r>
          </a:p>
          <a:p>
            <a:pPr algn="just">
              <a:lnSpc>
                <a:spcPts val="4094"/>
              </a:lnSpc>
              <a:spcBef>
                <a:spcPct val="0"/>
              </a:spcBef>
            </a:pPr>
            <a:endParaRPr lang="en-US" sz="3499">
              <a:solidFill>
                <a:srgbClr val="000000"/>
              </a:solidFill>
              <a:latin typeface="Futura"/>
              <a:ea typeface="Futura"/>
              <a:cs typeface="Futura"/>
              <a:sym typeface="Futura"/>
            </a:endParaRPr>
          </a:p>
          <a:p>
            <a:pPr marL="755647" lvl="1" indent="-377824" algn="just">
              <a:lnSpc>
                <a:spcPts val="4094"/>
              </a:lnSpc>
              <a:spcBef>
                <a:spcPct val="0"/>
              </a:spcBef>
              <a:buFont typeface="Arial"/>
              <a:buChar char="•"/>
            </a:pPr>
            <a:r>
              <a:rPr lang="en-US" sz="3499">
                <a:solidFill>
                  <a:srgbClr val="000000"/>
                </a:solidFill>
                <a:latin typeface="Futura"/>
                <a:ea typeface="Futura"/>
                <a:cs typeface="Futura"/>
                <a:sym typeface="Futura"/>
              </a:rPr>
              <a:t>Example 2: Student thesis — unique research question; planned chapters and milestones; time-bound (semester); resource-limited (data access, advisor time).</a:t>
            </a:r>
          </a:p>
          <a:p>
            <a:pPr algn="just">
              <a:lnSpc>
                <a:spcPts val="4094"/>
              </a:lnSpc>
              <a:spcBef>
                <a:spcPct val="0"/>
              </a:spcBef>
            </a:pPr>
            <a:endParaRPr lang="en-US" sz="3499">
              <a:solidFill>
                <a:srgbClr val="000000"/>
              </a:solidFill>
              <a:latin typeface="Futura"/>
              <a:ea typeface="Futura"/>
              <a:cs typeface="Futura"/>
              <a:sym typeface="Futur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9525" y="0"/>
            <a:ext cx="0" cy="10287000"/>
          </a:xfrm>
          <a:prstGeom prst="line">
            <a:avLst/>
          </a:prstGeom>
          <a:ln w="19050" cap="flat">
            <a:solidFill>
              <a:srgbClr val="000000"/>
            </a:solidFill>
            <a:prstDash val="solid"/>
            <a:headEnd type="none" w="sm" len="sm"/>
            <a:tailEnd type="none" w="sm" len="sm"/>
          </a:ln>
        </p:spPr>
      </p:sp>
      <p:grpSp>
        <p:nvGrpSpPr>
          <p:cNvPr id="3" name="Group 3"/>
          <p:cNvGrpSpPr/>
          <p:nvPr/>
        </p:nvGrpSpPr>
        <p:grpSpPr>
          <a:xfrm>
            <a:off x="0" y="9258300"/>
            <a:ext cx="18278108" cy="1028700"/>
            <a:chOff x="0" y="0"/>
            <a:chExt cx="4813987" cy="270933"/>
          </a:xfrm>
        </p:grpSpPr>
        <p:sp>
          <p:nvSpPr>
            <p:cNvPr id="4" name="Freeform 4"/>
            <p:cNvSpPr/>
            <p:nvPr/>
          </p:nvSpPr>
          <p:spPr>
            <a:xfrm>
              <a:off x="0" y="0"/>
              <a:ext cx="4813987" cy="270933"/>
            </a:xfrm>
            <a:custGeom>
              <a:avLst/>
              <a:gdLst/>
              <a:ahLst/>
              <a:cxnLst/>
              <a:rect l="l" t="t" r="r" b="b"/>
              <a:pathLst>
                <a:path w="4813987" h="270933">
                  <a:moveTo>
                    <a:pt x="0" y="0"/>
                  </a:moveTo>
                  <a:lnTo>
                    <a:pt x="4813987" y="0"/>
                  </a:lnTo>
                  <a:lnTo>
                    <a:pt x="4813987" y="270933"/>
                  </a:lnTo>
                  <a:lnTo>
                    <a:pt x="0" y="270933"/>
                  </a:lnTo>
                  <a:close/>
                </a:path>
              </a:pathLst>
            </a:custGeom>
            <a:solidFill>
              <a:srgbClr val="2012BF"/>
            </a:solidFill>
          </p:spPr>
        </p:sp>
        <p:sp>
          <p:nvSpPr>
            <p:cNvPr id="5" name="TextBox 5"/>
            <p:cNvSpPr txBox="1"/>
            <p:nvPr/>
          </p:nvSpPr>
          <p:spPr>
            <a:xfrm>
              <a:off x="0" y="0"/>
              <a:ext cx="4813987" cy="270933"/>
            </a:xfrm>
            <a:prstGeom prst="rect">
              <a:avLst/>
            </a:prstGeom>
          </p:spPr>
          <p:txBody>
            <a:bodyPr lIns="50800" tIns="50800" rIns="50800" bIns="50800" rtlCol="0" anchor="ctr"/>
            <a:lstStyle/>
            <a:p>
              <a:pPr algn="ctr">
                <a:lnSpc>
                  <a:spcPts val="2924"/>
                </a:lnSpc>
              </a:pPr>
              <a:endParaRPr/>
            </a:p>
          </p:txBody>
        </p:sp>
      </p:grpSp>
      <p:sp>
        <p:nvSpPr>
          <p:cNvPr id="6" name="AutoShape 6"/>
          <p:cNvSpPr/>
          <p:nvPr/>
        </p:nvSpPr>
        <p:spPr>
          <a:xfrm flipV="1">
            <a:off x="0" y="1347212"/>
            <a:ext cx="14349172" cy="0"/>
          </a:xfrm>
          <a:prstGeom prst="line">
            <a:avLst/>
          </a:prstGeom>
          <a:ln w="19050" cap="flat">
            <a:solidFill>
              <a:srgbClr val="000000"/>
            </a:solidFill>
            <a:prstDash val="solid"/>
            <a:headEnd type="none" w="sm" len="sm"/>
            <a:tailEnd type="none" w="sm" len="sm"/>
          </a:ln>
        </p:spPr>
      </p:sp>
      <p:sp>
        <p:nvSpPr>
          <p:cNvPr id="7" name="Freeform 7"/>
          <p:cNvSpPr/>
          <p:nvPr/>
        </p:nvSpPr>
        <p:spPr>
          <a:xfrm>
            <a:off x="0" y="0"/>
            <a:ext cx="1347212" cy="2694424"/>
          </a:xfrm>
          <a:custGeom>
            <a:avLst/>
            <a:gdLst/>
            <a:ahLst/>
            <a:cxnLst/>
            <a:rect l="l" t="t" r="r" b="b"/>
            <a:pathLst>
              <a:path w="1347212" h="2694424">
                <a:moveTo>
                  <a:pt x="0" y="0"/>
                </a:moveTo>
                <a:lnTo>
                  <a:pt x="1347212" y="0"/>
                </a:lnTo>
                <a:lnTo>
                  <a:pt x="1347212" y="2694424"/>
                </a:lnTo>
                <a:lnTo>
                  <a:pt x="0" y="2694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885825" y="2567634"/>
            <a:ext cx="434982" cy="434982"/>
            <a:chOff x="0" y="0"/>
            <a:chExt cx="114563" cy="114563"/>
          </a:xfrm>
        </p:grpSpPr>
        <p:sp>
          <p:nvSpPr>
            <p:cNvPr id="9" name="Freeform 9"/>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0" name="TextBox 10"/>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1" name="TextBox 11"/>
          <p:cNvSpPr txBox="1"/>
          <p:nvPr/>
        </p:nvSpPr>
        <p:spPr>
          <a:xfrm>
            <a:off x="1593402" y="2518425"/>
            <a:ext cx="4871399"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PROJECT (P)</a:t>
            </a:r>
          </a:p>
        </p:txBody>
      </p:sp>
      <p:sp>
        <p:nvSpPr>
          <p:cNvPr id="12" name="TextBox 12"/>
          <p:cNvSpPr txBox="1"/>
          <p:nvPr/>
        </p:nvSpPr>
        <p:spPr>
          <a:xfrm>
            <a:off x="1593402" y="3210431"/>
            <a:ext cx="3767932" cy="2176781"/>
          </a:xfrm>
          <a:prstGeom prst="rect">
            <a:avLst/>
          </a:prstGeom>
        </p:spPr>
        <p:txBody>
          <a:bodyPr lIns="0" tIns="0" rIns="0" bIns="0" rtlCol="0" anchor="t">
            <a:spAutoFit/>
          </a:bodyPr>
          <a:lstStyle/>
          <a:p>
            <a:pPr algn="l">
              <a:lnSpc>
                <a:spcPts val="3779"/>
              </a:lnSpc>
            </a:pPr>
            <a:r>
              <a:rPr lang="en-US" sz="2699">
                <a:solidFill>
                  <a:srgbClr val="000000"/>
                </a:solidFill>
                <a:latin typeface="Roboto"/>
                <a:ea typeface="Roboto"/>
                <a:cs typeface="Roboto"/>
                <a:sym typeface="Roboto"/>
              </a:rPr>
              <a:t>Unique system with goals, resources, and results.</a:t>
            </a:r>
          </a:p>
          <a:p>
            <a:pPr algn="l">
              <a:lnSpc>
                <a:spcPts val="6159"/>
              </a:lnSpc>
            </a:pPr>
            <a:endParaRPr lang="en-US" sz="2699">
              <a:solidFill>
                <a:srgbClr val="000000"/>
              </a:solidFill>
              <a:latin typeface="Roboto"/>
              <a:ea typeface="Roboto"/>
              <a:cs typeface="Roboto"/>
              <a:sym typeface="Roboto"/>
            </a:endParaRPr>
          </a:p>
        </p:txBody>
      </p:sp>
      <p:grpSp>
        <p:nvGrpSpPr>
          <p:cNvPr id="13" name="Group 13"/>
          <p:cNvGrpSpPr/>
          <p:nvPr/>
        </p:nvGrpSpPr>
        <p:grpSpPr>
          <a:xfrm>
            <a:off x="7855450" y="2567634"/>
            <a:ext cx="434982" cy="434982"/>
            <a:chOff x="0" y="0"/>
            <a:chExt cx="114563" cy="114563"/>
          </a:xfrm>
        </p:grpSpPr>
        <p:sp>
          <p:nvSpPr>
            <p:cNvPr id="14" name="Freeform 14"/>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5" name="TextBox 15"/>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6" name="TextBox 16"/>
          <p:cNvSpPr txBox="1"/>
          <p:nvPr/>
        </p:nvSpPr>
        <p:spPr>
          <a:xfrm>
            <a:off x="8563027" y="2518425"/>
            <a:ext cx="4898829"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PROJECT MANAGER (PM</a:t>
            </a:r>
          </a:p>
        </p:txBody>
      </p:sp>
      <p:grpSp>
        <p:nvGrpSpPr>
          <p:cNvPr id="17" name="Group 17"/>
          <p:cNvGrpSpPr/>
          <p:nvPr/>
        </p:nvGrpSpPr>
        <p:grpSpPr>
          <a:xfrm>
            <a:off x="885825" y="5999665"/>
            <a:ext cx="434982" cy="434982"/>
            <a:chOff x="0" y="0"/>
            <a:chExt cx="114563" cy="114563"/>
          </a:xfrm>
        </p:grpSpPr>
        <p:sp>
          <p:nvSpPr>
            <p:cNvPr id="18" name="Freeform 18"/>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9" name="TextBox 19"/>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20" name="TextBox 20"/>
          <p:cNvSpPr txBox="1"/>
          <p:nvPr/>
        </p:nvSpPr>
        <p:spPr>
          <a:xfrm>
            <a:off x="1593402" y="5950456"/>
            <a:ext cx="5375842"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PROJECT SUPPORTER (PS)</a:t>
            </a:r>
          </a:p>
        </p:txBody>
      </p:sp>
      <p:grpSp>
        <p:nvGrpSpPr>
          <p:cNvPr id="21" name="Group 21"/>
          <p:cNvGrpSpPr/>
          <p:nvPr/>
        </p:nvGrpSpPr>
        <p:grpSpPr>
          <a:xfrm>
            <a:off x="7855450" y="5999665"/>
            <a:ext cx="434982" cy="434982"/>
            <a:chOff x="0" y="0"/>
            <a:chExt cx="114563" cy="114563"/>
          </a:xfrm>
        </p:grpSpPr>
        <p:sp>
          <p:nvSpPr>
            <p:cNvPr id="22" name="Freeform 22"/>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23" name="TextBox 23"/>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24" name="TextBox 24"/>
          <p:cNvSpPr txBox="1"/>
          <p:nvPr/>
        </p:nvSpPr>
        <p:spPr>
          <a:xfrm>
            <a:off x="8563027" y="5950456"/>
            <a:ext cx="4898829"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INVESTOR (I)</a:t>
            </a:r>
          </a:p>
        </p:txBody>
      </p:sp>
      <p:sp>
        <p:nvSpPr>
          <p:cNvPr id="25" name="Freeform 25"/>
          <p:cNvSpPr/>
          <p:nvPr/>
        </p:nvSpPr>
        <p:spPr>
          <a:xfrm>
            <a:off x="14595078" y="-54208"/>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4">
              <a:extLst>
                <a:ext uri="{96DAC541-7B7A-43D3-8B79-37D633B846F1}">
                  <asvg:svgBlip xmlns:asvg="http://schemas.microsoft.com/office/drawing/2016/SVG/main" r:embed="rId5"/>
                </a:ext>
              </a:extLst>
            </a:blip>
            <a:stretch>
              <a:fillRect b="-279976"/>
            </a:stretch>
          </a:blipFill>
        </p:spPr>
      </p:sp>
      <p:sp>
        <p:nvSpPr>
          <p:cNvPr id="26" name="Freeform 26"/>
          <p:cNvSpPr/>
          <p:nvPr/>
        </p:nvSpPr>
        <p:spPr>
          <a:xfrm flipH="1">
            <a:off x="3938461" y="9268187"/>
            <a:ext cx="9236440" cy="8074937"/>
          </a:xfrm>
          <a:custGeom>
            <a:avLst/>
            <a:gdLst/>
            <a:ahLst/>
            <a:cxnLst/>
            <a:rect l="l" t="t" r="r" b="b"/>
            <a:pathLst>
              <a:path w="9236440" h="8074937">
                <a:moveTo>
                  <a:pt x="9236440" y="0"/>
                </a:moveTo>
                <a:lnTo>
                  <a:pt x="0" y="0"/>
                </a:lnTo>
                <a:lnTo>
                  <a:pt x="0" y="8074937"/>
                </a:lnTo>
                <a:lnTo>
                  <a:pt x="9236440" y="8074937"/>
                </a:lnTo>
                <a:lnTo>
                  <a:pt x="9236440" y="0"/>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27" name="TextBox 27"/>
          <p:cNvSpPr txBox="1"/>
          <p:nvPr/>
        </p:nvSpPr>
        <p:spPr>
          <a:xfrm>
            <a:off x="1593402" y="295652"/>
            <a:ext cx="6697030" cy="878204"/>
          </a:xfrm>
          <a:prstGeom prst="rect">
            <a:avLst/>
          </a:prstGeom>
        </p:spPr>
        <p:txBody>
          <a:bodyPr lIns="0" tIns="0" rIns="0" bIns="0" rtlCol="0" anchor="t">
            <a:spAutoFit/>
          </a:bodyPr>
          <a:lstStyle/>
          <a:p>
            <a:pPr algn="l">
              <a:lnSpc>
                <a:spcPts val="5939"/>
              </a:lnSpc>
            </a:pPr>
            <a:r>
              <a:rPr lang="en-US" sz="5399" b="1">
                <a:solidFill>
                  <a:srgbClr val="2012BF"/>
                </a:solidFill>
                <a:latin typeface="Futura Ultra-Bold"/>
                <a:ea typeface="Futura Ultra-Bold"/>
                <a:cs typeface="Futura Ultra-Bold"/>
                <a:sym typeface="Futura Ultra-Bold"/>
              </a:rPr>
              <a:t>KEY DEFINITIONS</a:t>
            </a:r>
          </a:p>
        </p:txBody>
      </p:sp>
      <p:sp>
        <p:nvSpPr>
          <p:cNvPr id="28" name="TextBox 28"/>
          <p:cNvSpPr txBox="1"/>
          <p:nvPr/>
        </p:nvSpPr>
        <p:spPr>
          <a:xfrm>
            <a:off x="8563027" y="3191381"/>
            <a:ext cx="3767932" cy="1118871"/>
          </a:xfrm>
          <a:prstGeom prst="rect">
            <a:avLst/>
          </a:prstGeom>
        </p:spPr>
        <p:txBody>
          <a:bodyPr lIns="0" tIns="0" rIns="0" bIns="0" rtlCol="0" anchor="t">
            <a:spAutoFit/>
          </a:bodyPr>
          <a:lstStyle/>
          <a:p>
            <a:pPr algn="l">
              <a:lnSpc>
                <a:spcPts val="4479"/>
              </a:lnSpc>
            </a:pPr>
            <a:r>
              <a:rPr lang="en-US" sz="3199">
                <a:solidFill>
                  <a:srgbClr val="000000"/>
                </a:solidFill>
                <a:latin typeface="Roboto"/>
                <a:ea typeface="Roboto"/>
                <a:cs typeface="Roboto"/>
                <a:sym typeface="Roboto"/>
              </a:rPr>
              <a:t>Leads and executes the project</a:t>
            </a:r>
          </a:p>
        </p:txBody>
      </p:sp>
      <p:sp>
        <p:nvSpPr>
          <p:cNvPr id="29" name="TextBox 29"/>
          <p:cNvSpPr txBox="1"/>
          <p:nvPr/>
        </p:nvSpPr>
        <p:spPr>
          <a:xfrm>
            <a:off x="1593402" y="6531481"/>
            <a:ext cx="3767932" cy="1118871"/>
          </a:xfrm>
          <a:prstGeom prst="rect">
            <a:avLst/>
          </a:prstGeom>
        </p:spPr>
        <p:txBody>
          <a:bodyPr lIns="0" tIns="0" rIns="0" bIns="0" rtlCol="0" anchor="t">
            <a:spAutoFit/>
          </a:bodyPr>
          <a:lstStyle/>
          <a:p>
            <a:pPr algn="l">
              <a:lnSpc>
                <a:spcPts val="4479"/>
              </a:lnSpc>
            </a:pPr>
            <a:r>
              <a:rPr lang="en-US" sz="3199">
                <a:solidFill>
                  <a:srgbClr val="000000"/>
                </a:solidFill>
                <a:latin typeface="Roboto"/>
                <a:ea typeface="Roboto"/>
                <a:cs typeface="Roboto"/>
                <a:sym typeface="Roboto"/>
              </a:rPr>
              <a:t>Trusted ally who supports the PM</a:t>
            </a:r>
          </a:p>
        </p:txBody>
      </p:sp>
      <p:sp>
        <p:nvSpPr>
          <p:cNvPr id="30" name="TextBox 30"/>
          <p:cNvSpPr txBox="1"/>
          <p:nvPr/>
        </p:nvSpPr>
        <p:spPr>
          <a:xfrm>
            <a:off x="8563027" y="6531481"/>
            <a:ext cx="3767932" cy="1118871"/>
          </a:xfrm>
          <a:prstGeom prst="rect">
            <a:avLst/>
          </a:prstGeom>
        </p:spPr>
        <p:txBody>
          <a:bodyPr lIns="0" tIns="0" rIns="0" bIns="0" rtlCol="0" anchor="t">
            <a:spAutoFit/>
          </a:bodyPr>
          <a:lstStyle/>
          <a:p>
            <a:pPr algn="l">
              <a:lnSpc>
                <a:spcPts val="4479"/>
              </a:lnSpc>
            </a:pPr>
            <a:r>
              <a:rPr lang="en-US" sz="3199">
                <a:solidFill>
                  <a:srgbClr val="000000"/>
                </a:solidFill>
                <a:latin typeface="Roboto"/>
                <a:ea typeface="Roboto"/>
                <a:cs typeface="Roboto"/>
                <a:sym typeface="Roboto"/>
              </a:rPr>
              <a:t>Provides resources and expects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9525" y="0"/>
            <a:ext cx="0" cy="10287000"/>
          </a:xfrm>
          <a:prstGeom prst="line">
            <a:avLst/>
          </a:prstGeom>
          <a:ln w="19050" cap="flat">
            <a:solidFill>
              <a:srgbClr val="000000"/>
            </a:solidFill>
            <a:prstDash val="solid"/>
            <a:headEnd type="none" w="sm" len="sm"/>
            <a:tailEnd type="none" w="sm" len="sm"/>
          </a:ln>
        </p:spPr>
      </p:sp>
      <p:grpSp>
        <p:nvGrpSpPr>
          <p:cNvPr id="3" name="Group 3"/>
          <p:cNvGrpSpPr/>
          <p:nvPr/>
        </p:nvGrpSpPr>
        <p:grpSpPr>
          <a:xfrm>
            <a:off x="0" y="9258300"/>
            <a:ext cx="18278108" cy="1028700"/>
            <a:chOff x="0" y="0"/>
            <a:chExt cx="4813987" cy="270933"/>
          </a:xfrm>
        </p:grpSpPr>
        <p:sp>
          <p:nvSpPr>
            <p:cNvPr id="4" name="Freeform 4"/>
            <p:cNvSpPr/>
            <p:nvPr/>
          </p:nvSpPr>
          <p:spPr>
            <a:xfrm>
              <a:off x="0" y="0"/>
              <a:ext cx="4813987" cy="270933"/>
            </a:xfrm>
            <a:custGeom>
              <a:avLst/>
              <a:gdLst/>
              <a:ahLst/>
              <a:cxnLst/>
              <a:rect l="l" t="t" r="r" b="b"/>
              <a:pathLst>
                <a:path w="4813987" h="270933">
                  <a:moveTo>
                    <a:pt x="0" y="0"/>
                  </a:moveTo>
                  <a:lnTo>
                    <a:pt x="4813987" y="0"/>
                  </a:lnTo>
                  <a:lnTo>
                    <a:pt x="4813987" y="270933"/>
                  </a:lnTo>
                  <a:lnTo>
                    <a:pt x="0" y="270933"/>
                  </a:lnTo>
                  <a:close/>
                </a:path>
              </a:pathLst>
            </a:custGeom>
            <a:solidFill>
              <a:srgbClr val="2012BF"/>
            </a:solidFill>
          </p:spPr>
        </p:sp>
        <p:sp>
          <p:nvSpPr>
            <p:cNvPr id="5" name="TextBox 5"/>
            <p:cNvSpPr txBox="1"/>
            <p:nvPr/>
          </p:nvSpPr>
          <p:spPr>
            <a:xfrm>
              <a:off x="0" y="0"/>
              <a:ext cx="4813987" cy="270933"/>
            </a:xfrm>
            <a:prstGeom prst="rect">
              <a:avLst/>
            </a:prstGeom>
          </p:spPr>
          <p:txBody>
            <a:bodyPr lIns="50800" tIns="50800" rIns="50800" bIns="50800" rtlCol="0" anchor="ctr"/>
            <a:lstStyle/>
            <a:p>
              <a:pPr algn="ctr">
                <a:lnSpc>
                  <a:spcPts val="2924"/>
                </a:lnSpc>
              </a:pPr>
              <a:endParaRPr/>
            </a:p>
          </p:txBody>
        </p:sp>
      </p:grpSp>
      <p:sp>
        <p:nvSpPr>
          <p:cNvPr id="6" name="AutoShape 6"/>
          <p:cNvSpPr/>
          <p:nvPr/>
        </p:nvSpPr>
        <p:spPr>
          <a:xfrm flipV="1">
            <a:off x="0" y="1347212"/>
            <a:ext cx="14349172" cy="0"/>
          </a:xfrm>
          <a:prstGeom prst="line">
            <a:avLst/>
          </a:prstGeom>
          <a:ln w="19050" cap="flat">
            <a:solidFill>
              <a:srgbClr val="000000"/>
            </a:solidFill>
            <a:prstDash val="solid"/>
            <a:headEnd type="none" w="sm" len="sm"/>
            <a:tailEnd type="none" w="sm" len="sm"/>
          </a:ln>
        </p:spPr>
      </p:sp>
      <p:sp>
        <p:nvSpPr>
          <p:cNvPr id="7" name="Freeform 7"/>
          <p:cNvSpPr/>
          <p:nvPr/>
        </p:nvSpPr>
        <p:spPr>
          <a:xfrm>
            <a:off x="0" y="0"/>
            <a:ext cx="1347212" cy="2694424"/>
          </a:xfrm>
          <a:custGeom>
            <a:avLst/>
            <a:gdLst/>
            <a:ahLst/>
            <a:cxnLst/>
            <a:rect l="l" t="t" r="r" b="b"/>
            <a:pathLst>
              <a:path w="1347212" h="2694424">
                <a:moveTo>
                  <a:pt x="0" y="0"/>
                </a:moveTo>
                <a:lnTo>
                  <a:pt x="1347212" y="0"/>
                </a:lnTo>
                <a:lnTo>
                  <a:pt x="1347212" y="2694424"/>
                </a:lnTo>
                <a:lnTo>
                  <a:pt x="0" y="2694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4595078" y="-54208"/>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4">
              <a:extLst>
                <a:ext uri="{96DAC541-7B7A-43D3-8B79-37D633B846F1}">
                  <asvg:svgBlip xmlns:asvg="http://schemas.microsoft.com/office/drawing/2016/SVG/main" r:embed="rId5"/>
                </a:ext>
              </a:extLst>
            </a:blip>
            <a:stretch>
              <a:fillRect b="-279976"/>
            </a:stretch>
          </a:blipFill>
        </p:spPr>
      </p:sp>
      <p:sp>
        <p:nvSpPr>
          <p:cNvPr id="9" name="Freeform 9"/>
          <p:cNvSpPr/>
          <p:nvPr/>
        </p:nvSpPr>
        <p:spPr>
          <a:xfrm flipH="1">
            <a:off x="3938461" y="9268187"/>
            <a:ext cx="9236440" cy="8074937"/>
          </a:xfrm>
          <a:custGeom>
            <a:avLst/>
            <a:gdLst/>
            <a:ahLst/>
            <a:cxnLst/>
            <a:rect l="l" t="t" r="r" b="b"/>
            <a:pathLst>
              <a:path w="9236440" h="8074937">
                <a:moveTo>
                  <a:pt x="9236440" y="0"/>
                </a:moveTo>
                <a:lnTo>
                  <a:pt x="0" y="0"/>
                </a:lnTo>
                <a:lnTo>
                  <a:pt x="0" y="8074937"/>
                </a:lnTo>
                <a:lnTo>
                  <a:pt x="9236440" y="8074937"/>
                </a:lnTo>
                <a:lnTo>
                  <a:pt x="9236440" y="0"/>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1593402" y="295652"/>
            <a:ext cx="6697030" cy="878204"/>
          </a:xfrm>
          <a:prstGeom prst="rect">
            <a:avLst/>
          </a:prstGeom>
        </p:spPr>
        <p:txBody>
          <a:bodyPr lIns="0" tIns="0" rIns="0" bIns="0" rtlCol="0" anchor="t">
            <a:spAutoFit/>
          </a:bodyPr>
          <a:lstStyle/>
          <a:p>
            <a:pPr algn="l">
              <a:lnSpc>
                <a:spcPts val="5939"/>
              </a:lnSpc>
            </a:pPr>
            <a:r>
              <a:rPr lang="en-US" sz="5399" b="1">
                <a:solidFill>
                  <a:srgbClr val="2012BF"/>
                </a:solidFill>
                <a:latin typeface="Futura Ultra-Bold"/>
                <a:ea typeface="Futura Ultra-Bold"/>
                <a:cs typeface="Futura Ultra-Bold"/>
                <a:sym typeface="Futura Ultra-Bold"/>
              </a:rPr>
              <a:t>KEY DEFINITIONS</a:t>
            </a:r>
          </a:p>
        </p:txBody>
      </p:sp>
      <p:sp>
        <p:nvSpPr>
          <p:cNvPr id="11" name="TextBox 11"/>
          <p:cNvSpPr txBox="1"/>
          <p:nvPr/>
        </p:nvSpPr>
        <p:spPr>
          <a:xfrm>
            <a:off x="1246225" y="2307148"/>
            <a:ext cx="15188728" cy="2573274"/>
          </a:xfrm>
          <a:prstGeom prst="rect">
            <a:avLst/>
          </a:prstGeom>
        </p:spPr>
        <p:txBody>
          <a:bodyPr lIns="0" tIns="0" rIns="0" bIns="0" rtlCol="0" anchor="t">
            <a:spAutoFit/>
          </a:bodyPr>
          <a:lstStyle/>
          <a:p>
            <a:pPr algn="just">
              <a:lnSpc>
                <a:spcPts val="3392"/>
              </a:lnSpc>
              <a:spcBef>
                <a:spcPct val="0"/>
              </a:spcBef>
            </a:pPr>
            <a:r>
              <a:rPr lang="en-US" sz="2899" b="1">
                <a:solidFill>
                  <a:srgbClr val="000000"/>
                </a:solidFill>
                <a:latin typeface="Canva Sans Bold"/>
                <a:ea typeface="Canva Sans Bold"/>
                <a:cs typeface="Canva Sans Bold"/>
                <a:sym typeface="Canva Sans Bold"/>
              </a:rPr>
              <a:t>Project (P).</a:t>
            </a:r>
          </a:p>
          <a:p>
            <a:pPr algn="just">
              <a:lnSpc>
                <a:spcPts val="3392"/>
              </a:lnSpc>
              <a:spcBef>
                <a:spcPct val="0"/>
              </a:spcBef>
            </a:pPr>
            <a:r>
              <a:rPr lang="en-US" sz="2899" b="1">
                <a:solidFill>
                  <a:srgbClr val="2012BF"/>
                </a:solidFill>
                <a:latin typeface="Canva Sans Bold"/>
                <a:ea typeface="Canva Sans Bold"/>
                <a:cs typeface="Canva Sans Bold"/>
                <a:sym typeface="Canva Sans Bold"/>
              </a:rPr>
              <a:t>A project is defined as a system created to fulfill specific goals within a limited time, using defined resources. A project is not an abstract idea it is a structured process with a beginning and an end, producing measurable results. Its passport contains the essential data: name, description, time and place, the Project Manager, and the expected outcomes.</a:t>
            </a:r>
          </a:p>
        </p:txBody>
      </p:sp>
      <p:sp>
        <p:nvSpPr>
          <p:cNvPr id="12" name="TextBox 12"/>
          <p:cNvSpPr txBox="1"/>
          <p:nvPr/>
        </p:nvSpPr>
        <p:spPr>
          <a:xfrm>
            <a:off x="1246225" y="5417508"/>
            <a:ext cx="15623778" cy="2573274"/>
          </a:xfrm>
          <a:prstGeom prst="rect">
            <a:avLst/>
          </a:prstGeom>
        </p:spPr>
        <p:txBody>
          <a:bodyPr lIns="0" tIns="0" rIns="0" bIns="0" rtlCol="0" anchor="t">
            <a:spAutoFit/>
          </a:bodyPr>
          <a:lstStyle/>
          <a:p>
            <a:pPr algn="just">
              <a:lnSpc>
                <a:spcPts val="3392"/>
              </a:lnSpc>
              <a:spcBef>
                <a:spcPct val="0"/>
              </a:spcBef>
            </a:pPr>
            <a:r>
              <a:rPr lang="en-US" sz="2899" b="1">
                <a:solidFill>
                  <a:srgbClr val="000000"/>
                </a:solidFill>
                <a:latin typeface="Canva Sans Bold"/>
                <a:ea typeface="Canva Sans Bold"/>
                <a:cs typeface="Canva Sans Bold"/>
                <a:sym typeface="Canva Sans Bold"/>
              </a:rPr>
              <a:t>Project Manager (PM).</a:t>
            </a:r>
          </a:p>
          <a:p>
            <a:pPr algn="just">
              <a:lnSpc>
                <a:spcPts val="3392"/>
              </a:lnSpc>
              <a:spcBef>
                <a:spcPct val="0"/>
              </a:spcBef>
            </a:pPr>
            <a:r>
              <a:rPr lang="en-US" sz="2899" b="1">
                <a:solidFill>
                  <a:srgbClr val="2012BF"/>
                </a:solidFill>
                <a:latin typeface="Canva Sans Bold"/>
                <a:ea typeface="Canva Sans Bold"/>
                <a:cs typeface="Canva Sans Bold"/>
                <a:sym typeface="Canva Sans Bold"/>
              </a:rPr>
              <a:t>The PM is the central figure. He or she designs the project, manages daily decisions, allocates resources, and ensures that objectives are achieved. The PM is also the leader motivating the team, solving conflicts, and adjusting the plan when reality changes. Without a PM, a project has no direction or accountability.</a:t>
            </a:r>
          </a:p>
          <a:p>
            <a:pPr algn="just">
              <a:lnSpc>
                <a:spcPts val="3392"/>
              </a:lnSpc>
              <a:spcBef>
                <a:spcPct val="0"/>
              </a:spcBef>
            </a:pPr>
            <a:endParaRPr lang="en-US" sz="2899" b="1">
              <a:solidFill>
                <a:srgbClr val="2012BF"/>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9525" y="0"/>
            <a:ext cx="0" cy="10287000"/>
          </a:xfrm>
          <a:prstGeom prst="line">
            <a:avLst/>
          </a:prstGeom>
          <a:ln w="19050" cap="flat">
            <a:solidFill>
              <a:srgbClr val="000000"/>
            </a:solidFill>
            <a:prstDash val="solid"/>
            <a:headEnd type="none" w="sm" len="sm"/>
            <a:tailEnd type="none" w="sm" len="sm"/>
          </a:ln>
        </p:spPr>
      </p:sp>
      <p:grpSp>
        <p:nvGrpSpPr>
          <p:cNvPr id="3" name="Group 3"/>
          <p:cNvGrpSpPr/>
          <p:nvPr/>
        </p:nvGrpSpPr>
        <p:grpSpPr>
          <a:xfrm>
            <a:off x="0" y="9258300"/>
            <a:ext cx="18278108" cy="1028700"/>
            <a:chOff x="0" y="0"/>
            <a:chExt cx="4813987" cy="270933"/>
          </a:xfrm>
        </p:grpSpPr>
        <p:sp>
          <p:nvSpPr>
            <p:cNvPr id="4" name="Freeform 4"/>
            <p:cNvSpPr/>
            <p:nvPr/>
          </p:nvSpPr>
          <p:spPr>
            <a:xfrm>
              <a:off x="0" y="0"/>
              <a:ext cx="4813987" cy="270933"/>
            </a:xfrm>
            <a:custGeom>
              <a:avLst/>
              <a:gdLst/>
              <a:ahLst/>
              <a:cxnLst/>
              <a:rect l="l" t="t" r="r" b="b"/>
              <a:pathLst>
                <a:path w="4813987" h="270933">
                  <a:moveTo>
                    <a:pt x="0" y="0"/>
                  </a:moveTo>
                  <a:lnTo>
                    <a:pt x="4813987" y="0"/>
                  </a:lnTo>
                  <a:lnTo>
                    <a:pt x="4813987" y="270933"/>
                  </a:lnTo>
                  <a:lnTo>
                    <a:pt x="0" y="270933"/>
                  </a:lnTo>
                  <a:close/>
                </a:path>
              </a:pathLst>
            </a:custGeom>
            <a:solidFill>
              <a:srgbClr val="2012BF"/>
            </a:solidFill>
          </p:spPr>
        </p:sp>
        <p:sp>
          <p:nvSpPr>
            <p:cNvPr id="5" name="TextBox 5"/>
            <p:cNvSpPr txBox="1"/>
            <p:nvPr/>
          </p:nvSpPr>
          <p:spPr>
            <a:xfrm>
              <a:off x="0" y="0"/>
              <a:ext cx="4813987" cy="270933"/>
            </a:xfrm>
            <a:prstGeom prst="rect">
              <a:avLst/>
            </a:prstGeom>
          </p:spPr>
          <p:txBody>
            <a:bodyPr lIns="50800" tIns="50800" rIns="50800" bIns="50800" rtlCol="0" anchor="ctr"/>
            <a:lstStyle/>
            <a:p>
              <a:pPr algn="ctr">
                <a:lnSpc>
                  <a:spcPts val="2924"/>
                </a:lnSpc>
              </a:pPr>
              <a:endParaRPr/>
            </a:p>
          </p:txBody>
        </p:sp>
      </p:grpSp>
      <p:sp>
        <p:nvSpPr>
          <p:cNvPr id="6" name="AutoShape 6"/>
          <p:cNvSpPr/>
          <p:nvPr/>
        </p:nvSpPr>
        <p:spPr>
          <a:xfrm flipV="1">
            <a:off x="0" y="1347212"/>
            <a:ext cx="14349172" cy="0"/>
          </a:xfrm>
          <a:prstGeom prst="line">
            <a:avLst/>
          </a:prstGeom>
          <a:ln w="19050" cap="flat">
            <a:solidFill>
              <a:srgbClr val="000000"/>
            </a:solidFill>
            <a:prstDash val="solid"/>
            <a:headEnd type="none" w="sm" len="sm"/>
            <a:tailEnd type="none" w="sm" len="sm"/>
          </a:ln>
        </p:spPr>
      </p:sp>
      <p:sp>
        <p:nvSpPr>
          <p:cNvPr id="7" name="Freeform 7"/>
          <p:cNvSpPr/>
          <p:nvPr/>
        </p:nvSpPr>
        <p:spPr>
          <a:xfrm>
            <a:off x="0" y="0"/>
            <a:ext cx="1347212" cy="2694424"/>
          </a:xfrm>
          <a:custGeom>
            <a:avLst/>
            <a:gdLst/>
            <a:ahLst/>
            <a:cxnLst/>
            <a:rect l="l" t="t" r="r" b="b"/>
            <a:pathLst>
              <a:path w="1347212" h="2694424">
                <a:moveTo>
                  <a:pt x="0" y="0"/>
                </a:moveTo>
                <a:lnTo>
                  <a:pt x="1347212" y="0"/>
                </a:lnTo>
                <a:lnTo>
                  <a:pt x="1347212" y="2694424"/>
                </a:lnTo>
                <a:lnTo>
                  <a:pt x="0" y="2694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4595078" y="-54208"/>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4">
              <a:extLst>
                <a:ext uri="{96DAC541-7B7A-43D3-8B79-37D633B846F1}">
                  <asvg:svgBlip xmlns:asvg="http://schemas.microsoft.com/office/drawing/2016/SVG/main" r:embed="rId5"/>
                </a:ext>
              </a:extLst>
            </a:blip>
            <a:stretch>
              <a:fillRect b="-279976"/>
            </a:stretch>
          </a:blipFill>
        </p:spPr>
      </p:sp>
      <p:sp>
        <p:nvSpPr>
          <p:cNvPr id="9" name="Freeform 9"/>
          <p:cNvSpPr/>
          <p:nvPr/>
        </p:nvSpPr>
        <p:spPr>
          <a:xfrm flipH="1">
            <a:off x="3938461" y="9268187"/>
            <a:ext cx="9236440" cy="8074937"/>
          </a:xfrm>
          <a:custGeom>
            <a:avLst/>
            <a:gdLst/>
            <a:ahLst/>
            <a:cxnLst/>
            <a:rect l="l" t="t" r="r" b="b"/>
            <a:pathLst>
              <a:path w="9236440" h="8074937">
                <a:moveTo>
                  <a:pt x="9236440" y="0"/>
                </a:moveTo>
                <a:lnTo>
                  <a:pt x="0" y="0"/>
                </a:lnTo>
                <a:lnTo>
                  <a:pt x="0" y="8074937"/>
                </a:lnTo>
                <a:lnTo>
                  <a:pt x="9236440" y="8074937"/>
                </a:lnTo>
                <a:lnTo>
                  <a:pt x="9236440" y="0"/>
                </a:lnTo>
                <a:close/>
              </a:path>
            </a:pathLst>
          </a:custGeom>
          <a:blipFill>
            <a:blip r:embed="rId6">
              <a:extLst>
                <a:ext uri="{96DAC541-7B7A-43D3-8B79-37D633B846F1}">
                  <asvg:svgBlip xmlns:asvg="http://schemas.microsoft.com/office/drawing/2016/SVG/main" r:embed="rId7"/>
                </a:ext>
              </a:extLst>
            </a:blip>
            <a:stretch>
              <a:fillRect l="-38228" t="-57320"/>
            </a:stretch>
          </a:blipFill>
        </p:spPr>
      </p:sp>
      <p:sp>
        <p:nvSpPr>
          <p:cNvPr id="10" name="TextBox 10"/>
          <p:cNvSpPr txBox="1"/>
          <p:nvPr/>
        </p:nvSpPr>
        <p:spPr>
          <a:xfrm>
            <a:off x="1593402" y="295652"/>
            <a:ext cx="6697030" cy="878204"/>
          </a:xfrm>
          <a:prstGeom prst="rect">
            <a:avLst/>
          </a:prstGeom>
        </p:spPr>
        <p:txBody>
          <a:bodyPr lIns="0" tIns="0" rIns="0" bIns="0" rtlCol="0" anchor="t">
            <a:spAutoFit/>
          </a:bodyPr>
          <a:lstStyle/>
          <a:p>
            <a:pPr algn="l">
              <a:lnSpc>
                <a:spcPts val="5939"/>
              </a:lnSpc>
            </a:pPr>
            <a:r>
              <a:rPr lang="en-US" sz="5399" b="1">
                <a:solidFill>
                  <a:srgbClr val="2012BF"/>
                </a:solidFill>
                <a:latin typeface="Futura Ultra-Bold"/>
                <a:ea typeface="Futura Ultra-Bold"/>
                <a:cs typeface="Futura Ultra-Bold"/>
                <a:sym typeface="Futura Ultra-Bold"/>
              </a:rPr>
              <a:t>KEY DEFINITIONS</a:t>
            </a:r>
          </a:p>
        </p:txBody>
      </p:sp>
      <p:sp>
        <p:nvSpPr>
          <p:cNvPr id="11" name="TextBox 11"/>
          <p:cNvSpPr txBox="1"/>
          <p:nvPr/>
        </p:nvSpPr>
        <p:spPr>
          <a:xfrm>
            <a:off x="1246225" y="2307148"/>
            <a:ext cx="15188728" cy="3001899"/>
          </a:xfrm>
          <a:prstGeom prst="rect">
            <a:avLst/>
          </a:prstGeom>
        </p:spPr>
        <p:txBody>
          <a:bodyPr lIns="0" tIns="0" rIns="0" bIns="0" rtlCol="0" anchor="t">
            <a:spAutoFit/>
          </a:bodyPr>
          <a:lstStyle/>
          <a:p>
            <a:pPr algn="just">
              <a:lnSpc>
                <a:spcPts val="3392"/>
              </a:lnSpc>
              <a:spcBef>
                <a:spcPct val="0"/>
              </a:spcBef>
            </a:pPr>
            <a:r>
              <a:rPr lang="en-US" sz="2899" b="1">
                <a:solidFill>
                  <a:srgbClr val="000000"/>
                </a:solidFill>
                <a:latin typeface="Canva Sans Bold"/>
                <a:ea typeface="Canva Sans Bold"/>
                <a:cs typeface="Canva Sans Bold"/>
                <a:sym typeface="Canva Sans Bold"/>
              </a:rPr>
              <a:t>Project Supporter (PS).</a:t>
            </a:r>
          </a:p>
          <a:p>
            <a:pPr algn="just">
              <a:lnSpc>
                <a:spcPts val="3392"/>
              </a:lnSpc>
              <a:spcBef>
                <a:spcPct val="0"/>
              </a:spcBef>
            </a:pPr>
            <a:r>
              <a:rPr lang="en-US" sz="2899" b="1">
                <a:solidFill>
                  <a:srgbClr val="2012BF"/>
                </a:solidFill>
                <a:latin typeface="Canva Sans Bold"/>
                <a:ea typeface="Canva Sans Bold"/>
                <a:cs typeface="Canva Sans Bold"/>
                <a:sym typeface="Canva Sans Bold"/>
              </a:rPr>
              <a:t>The PS is a trusted ally who strengthens the PM. The supporter provides local legitimacy, specialized expertise, or valuable networks. In many cases, NGOs, professional associations, or respected community leaders play this role. Choosing a PS is one of the most strategic decisions a PM makes, because the right supporter opens doors and creates trust.</a:t>
            </a:r>
          </a:p>
          <a:p>
            <a:pPr algn="just">
              <a:lnSpc>
                <a:spcPts val="3392"/>
              </a:lnSpc>
              <a:spcBef>
                <a:spcPct val="0"/>
              </a:spcBef>
            </a:pPr>
            <a:endParaRPr lang="en-US" sz="2899" b="1">
              <a:solidFill>
                <a:srgbClr val="2012BF"/>
              </a:solidFill>
              <a:latin typeface="Canva Sans Bold"/>
              <a:ea typeface="Canva Sans Bold"/>
              <a:cs typeface="Canva Sans Bold"/>
              <a:sym typeface="Canva Sans Bold"/>
            </a:endParaRPr>
          </a:p>
        </p:txBody>
      </p:sp>
      <p:sp>
        <p:nvSpPr>
          <p:cNvPr id="12" name="TextBox 12"/>
          <p:cNvSpPr txBox="1"/>
          <p:nvPr/>
        </p:nvSpPr>
        <p:spPr>
          <a:xfrm>
            <a:off x="1246225" y="5417508"/>
            <a:ext cx="15623778" cy="2573274"/>
          </a:xfrm>
          <a:prstGeom prst="rect">
            <a:avLst/>
          </a:prstGeom>
        </p:spPr>
        <p:txBody>
          <a:bodyPr lIns="0" tIns="0" rIns="0" bIns="0" rtlCol="0" anchor="t">
            <a:spAutoFit/>
          </a:bodyPr>
          <a:lstStyle/>
          <a:p>
            <a:pPr algn="just">
              <a:lnSpc>
                <a:spcPts val="3392"/>
              </a:lnSpc>
              <a:spcBef>
                <a:spcPct val="0"/>
              </a:spcBef>
            </a:pPr>
            <a:r>
              <a:rPr lang="en-US" sz="2899" b="1">
                <a:solidFill>
                  <a:srgbClr val="2012BF"/>
                </a:solidFill>
                <a:latin typeface="Canva Sans Bold"/>
                <a:ea typeface="Canva Sans Bold"/>
                <a:cs typeface="Canva Sans Bold"/>
                <a:sym typeface="Canva Sans Bold"/>
              </a:rPr>
              <a:t>I</a:t>
            </a:r>
            <a:r>
              <a:rPr lang="en-US" sz="2899" b="1">
                <a:solidFill>
                  <a:srgbClr val="000000"/>
                </a:solidFill>
                <a:latin typeface="Canva Sans Bold"/>
                <a:ea typeface="Canva Sans Bold"/>
                <a:cs typeface="Canva Sans Bold"/>
                <a:sym typeface="Canva Sans Bold"/>
              </a:rPr>
              <a:t>nvestor (I).</a:t>
            </a:r>
          </a:p>
          <a:p>
            <a:pPr algn="just">
              <a:lnSpc>
                <a:spcPts val="3392"/>
              </a:lnSpc>
              <a:spcBef>
                <a:spcPct val="0"/>
              </a:spcBef>
            </a:pPr>
            <a:r>
              <a:rPr lang="en-US" sz="2899" b="1">
                <a:solidFill>
                  <a:srgbClr val="2012BF"/>
                </a:solidFill>
                <a:latin typeface="Canva Sans Bold"/>
                <a:ea typeface="Canva Sans Bold"/>
                <a:cs typeface="Canva Sans Bold"/>
                <a:sym typeface="Canva Sans Bold"/>
              </a:rPr>
              <a:t>The investor provides the financial resources necessary to launch and sustain the project. Investors expect clear returns sometimes financial profit, sometimes social or institutional benefits. The PM must present a reliable Business Plan to secure investors’ confidence.</a:t>
            </a:r>
          </a:p>
          <a:p>
            <a:pPr algn="just">
              <a:lnSpc>
                <a:spcPts val="3392"/>
              </a:lnSpc>
              <a:spcBef>
                <a:spcPct val="0"/>
              </a:spcBef>
            </a:pPr>
            <a:endParaRPr lang="en-US" sz="2899" b="1">
              <a:solidFill>
                <a:srgbClr val="2012BF"/>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3001" y="-543436"/>
            <a:ext cx="9236440" cy="8074937"/>
          </a:xfrm>
          <a:custGeom>
            <a:avLst/>
            <a:gdLst/>
            <a:ahLst/>
            <a:cxnLst/>
            <a:rect l="l" t="t" r="r" b="b"/>
            <a:pathLst>
              <a:path w="9236440" h="8074937">
                <a:moveTo>
                  <a:pt x="0" y="0"/>
                </a:moveTo>
                <a:lnTo>
                  <a:pt x="9236441" y="0"/>
                </a:lnTo>
                <a:lnTo>
                  <a:pt x="9236441" y="8074937"/>
                </a:lnTo>
                <a:lnTo>
                  <a:pt x="0" y="8074937"/>
                </a:lnTo>
                <a:lnTo>
                  <a:pt x="0" y="0"/>
                </a:lnTo>
                <a:close/>
              </a:path>
            </a:pathLst>
          </a:custGeom>
          <a:blipFill>
            <a:blip r:embed="rId2">
              <a:extLst>
                <a:ext uri="{96DAC541-7B7A-43D3-8B79-37D633B846F1}">
                  <asvg:svgBlip xmlns:asvg="http://schemas.microsoft.com/office/drawing/2016/SVG/main" r:embed="rId3"/>
                </a:ext>
              </a:extLst>
            </a:blip>
            <a:stretch>
              <a:fillRect l="-38228" t="-57320"/>
            </a:stretch>
          </a:blipFill>
        </p:spPr>
      </p:sp>
      <p:grpSp>
        <p:nvGrpSpPr>
          <p:cNvPr id="3" name="Group 3"/>
          <p:cNvGrpSpPr/>
          <p:nvPr/>
        </p:nvGrpSpPr>
        <p:grpSpPr>
          <a:xfrm>
            <a:off x="-1544854" y="0"/>
            <a:ext cx="5343617" cy="10287000"/>
            <a:chOff x="0" y="0"/>
            <a:chExt cx="1407372" cy="2709333"/>
          </a:xfrm>
        </p:grpSpPr>
        <p:sp>
          <p:nvSpPr>
            <p:cNvPr id="4" name="Freeform 4"/>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5" name="TextBox 5"/>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6" name="AutoShape 6"/>
          <p:cNvSpPr/>
          <p:nvPr/>
        </p:nvSpPr>
        <p:spPr>
          <a:xfrm>
            <a:off x="7156694" y="8491906"/>
            <a:ext cx="9586452" cy="0"/>
          </a:xfrm>
          <a:prstGeom prst="line">
            <a:avLst/>
          </a:prstGeom>
          <a:ln w="19050" cap="flat">
            <a:solidFill>
              <a:srgbClr val="000000"/>
            </a:solidFill>
            <a:prstDash val="solid"/>
            <a:headEnd type="none" w="sm" len="sm"/>
            <a:tailEnd type="none" w="sm" len="sm"/>
          </a:ln>
        </p:spPr>
      </p:sp>
      <p:sp>
        <p:nvSpPr>
          <p:cNvPr id="7" name="AutoShape 7"/>
          <p:cNvSpPr/>
          <p:nvPr/>
        </p:nvSpPr>
        <p:spPr>
          <a:xfrm flipH="1">
            <a:off x="7156694" y="6904444"/>
            <a:ext cx="7220" cy="3382556"/>
          </a:xfrm>
          <a:prstGeom prst="line">
            <a:avLst/>
          </a:prstGeom>
          <a:ln w="19050" cap="flat">
            <a:solidFill>
              <a:srgbClr val="000000"/>
            </a:solidFill>
            <a:prstDash val="solid"/>
            <a:headEnd type="none" w="sm" len="sm"/>
            <a:tailEnd type="none" w="sm" len="sm"/>
          </a:ln>
        </p:spPr>
      </p:sp>
      <p:grpSp>
        <p:nvGrpSpPr>
          <p:cNvPr id="8" name="Group 8"/>
          <p:cNvGrpSpPr/>
          <p:nvPr/>
        </p:nvGrpSpPr>
        <p:grpSpPr>
          <a:xfrm>
            <a:off x="450357" y="1335612"/>
            <a:ext cx="6723083" cy="7165819"/>
            <a:chOff x="0" y="0"/>
            <a:chExt cx="813674" cy="867257"/>
          </a:xfrm>
        </p:grpSpPr>
        <p:sp>
          <p:nvSpPr>
            <p:cNvPr id="9" name="Freeform 9"/>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4"/>
              <a:stretch>
                <a:fillRect l="-44247" r="-44247"/>
              </a:stretch>
            </a:blipFill>
            <a:ln w="19050" cap="sq">
              <a:solidFill>
                <a:srgbClr val="000000"/>
              </a:solidFill>
              <a:prstDash val="solid"/>
              <a:miter/>
            </a:ln>
          </p:spPr>
        </p:sp>
      </p:grpSp>
      <p:sp>
        <p:nvSpPr>
          <p:cNvPr id="10" name="Freeform 10"/>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5">
              <a:extLst>
                <a:ext uri="{96DAC541-7B7A-43D3-8B79-37D633B846F1}">
                  <asvg:svgBlip xmlns:asvg="http://schemas.microsoft.com/office/drawing/2016/SVG/main" r:embed="rId6"/>
                </a:ext>
              </a:extLst>
            </a:blip>
            <a:stretch>
              <a:fillRect b="-279976"/>
            </a:stretch>
          </a:blipFill>
        </p:spPr>
      </p:sp>
      <p:sp>
        <p:nvSpPr>
          <p:cNvPr id="11" name="TextBox 11"/>
          <p:cNvSpPr txBox="1"/>
          <p:nvPr/>
        </p:nvSpPr>
        <p:spPr>
          <a:xfrm>
            <a:off x="7646938" y="717958"/>
            <a:ext cx="9780003" cy="210820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PROJECTISING LIFE: WHY IMPORTANT?</a:t>
            </a:r>
          </a:p>
        </p:txBody>
      </p:sp>
      <p:sp>
        <p:nvSpPr>
          <p:cNvPr id="12" name="Freeform 12"/>
          <p:cNvSpPr/>
          <p:nvPr/>
        </p:nvSpPr>
        <p:spPr>
          <a:xfrm>
            <a:off x="8043740" y="3961013"/>
            <a:ext cx="3080582" cy="1728977"/>
          </a:xfrm>
          <a:custGeom>
            <a:avLst/>
            <a:gdLst/>
            <a:ahLst/>
            <a:cxnLst/>
            <a:rect l="l" t="t" r="r" b="b"/>
            <a:pathLst>
              <a:path w="3080582" h="1728977">
                <a:moveTo>
                  <a:pt x="0" y="0"/>
                </a:moveTo>
                <a:lnTo>
                  <a:pt x="3080582" y="0"/>
                </a:lnTo>
                <a:lnTo>
                  <a:pt x="3080582" y="1728976"/>
                </a:lnTo>
                <a:lnTo>
                  <a:pt x="0" y="1728976"/>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sp>
        <p:nvSpPr>
          <p:cNvPr id="13" name="Freeform 13"/>
          <p:cNvSpPr/>
          <p:nvPr/>
        </p:nvSpPr>
        <p:spPr>
          <a:xfrm>
            <a:off x="13781916" y="4003667"/>
            <a:ext cx="3080582" cy="1728977"/>
          </a:xfrm>
          <a:custGeom>
            <a:avLst/>
            <a:gdLst/>
            <a:ahLst/>
            <a:cxnLst/>
            <a:rect l="l" t="t" r="r" b="b"/>
            <a:pathLst>
              <a:path w="3080582" h="1728977">
                <a:moveTo>
                  <a:pt x="0" y="0"/>
                </a:moveTo>
                <a:lnTo>
                  <a:pt x="3080582" y="0"/>
                </a:lnTo>
                <a:lnTo>
                  <a:pt x="3080582" y="1728977"/>
                </a:lnTo>
                <a:lnTo>
                  <a:pt x="0" y="1728977"/>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sp>
        <p:nvSpPr>
          <p:cNvPr id="14" name="Freeform 14"/>
          <p:cNvSpPr/>
          <p:nvPr/>
        </p:nvSpPr>
        <p:spPr>
          <a:xfrm>
            <a:off x="11166713" y="6679960"/>
            <a:ext cx="3080582" cy="1728977"/>
          </a:xfrm>
          <a:custGeom>
            <a:avLst/>
            <a:gdLst/>
            <a:ahLst/>
            <a:cxnLst/>
            <a:rect l="l" t="t" r="r" b="b"/>
            <a:pathLst>
              <a:path w="3080582" h="1728977">
                <a:moveTo>
                  <a:pt x="0" y="0"/>
                </a:moveTo>
                <a:lnTo>
                  <a:pt x="3080582" y="0"/>
                </a:lnTo>
                <a:lnTo>
                  <a:pt x="3080582" y="1728977"/>
                </a:lnTo>
                <a:lnTo>
                  <a:pt x="0" y="1728977"/>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grpSp>
        <p:nvGrpSpPr>
          <p:cNvPr id="15" name="Group 15"/>
          <p:cNvGrpSpPr/>
          <p:nvPr/>
        </p:nvGrpSpPr>
        <p:grpSpPr>
          <a:xfrm>
            <a:off x="7843606" y="3468561"/>
            <a:ext cx="3480850" cy="1586410"/>
            <a:chOff x="0" y="0"/>
            <a:chExt cx="1701060" cy="775264"/>
          </a:xfrm>
        </p:grpSpPr>
        <p:sp>
          <p:nvSpPr>
            <p:cNvPr id="16" name="Freeform 16"/>
            <p:cNvSpPr/>
            <p:nvPr/>
          </p:nvSpPr>
          <p:spPr>
            <a:xfrm>
              <a:off x="0" y="0"/>
              <a:ext cx="1701060" cy="775264"/>
            </a:xfrm>
            <a:custGeom>
              <a:avLst/>
              <a:gdLst/>
              <a:ahLst/>
              <a:cxnLst/>
              <a:rect l="l" t="t" r="r" b="b"/>
              <a:pathLst>
                <a:path w="1701060" h="775264">
                  <a:moveTo>
                    <a:pt x="91190" y="0"/>
                  </a:moveTo>
                  <a:lnTo>
                    <a:pt x="1609870" y="0"/>
                  </a:lnTo>
                  <a:cubicBezTo>
                    <a:pt x="1634055" y="0"/>
                    <a:pt x="1657249" y="9607"/>
                    <a:pt x="1674351" y="26709"/>
                  </a:cubicBezTo>
                  <a:cubicBezTo>
                    <a:pt x="1691452" y="43810"/>
                    <a:pt x="1701060" y="67005"/>
                    <a:pt x="1701060" y="91190"/>
                  </a:cubicBezTo>
                  <a:lnTo>
                    <a:pt x="1701060" y="684074"/>
                  </a:lnTo>
                  <a:cubicBezTo>
                    <a:pt x="1701060" y="734437"/>
                    <a:pt x="1660233" y="775264"/>
                    <a:pt x="1609870" y="775264"/>
                  </a:cubicBezTo>
                  <a:lnTo>
                    <a:pt x="91190" y="775264"/>
                  </a:lnTo>
                  <a:cubicBezTo>
                    <a:pt x="40827" y="775264"/>
                    <a:pt x="0" y="734437"/>
                    <a:pt x="0" y="684074"/>
                  </a:cubicBezTo>
                  <a:lnTo>
                    <a:pt x="0" y="91190"/>
                  </a:lnTo>
                  <a:cubicBezTo>
                    <a:pt x="0" y="40827"/>
                    <a:pt x="40827" y="0"/>
                    <a:pt x="91190" y="0"/>
                  </a:cubicBezTo>
                  <a:close/>
                </a:path>
              </a:pathLst>
            </a:custGeom>
            <a:solidFill>
              <a:srgbClr val="FFFFFF"/>
            </a:solidFill>
            <a:ln w="38100" cap="rnd">
              <a:solidFill>
                <a:srgbClr val="F72585"/>
              </a:solidFill>
              <a:prstDash val="solid"/>
              <a:round/>
            </a:ln>
          </p:spPr>
        </p:sp>
        <p:sp>
          <p:nvSpPr>
            <p:cNvPr id="17" name="TextBox 17"/>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sp>
        <p:nvSpPr>
          <p:cNvPr id="18" name="Freeform 18"/>
          <p:cNvSpPr/>
          <p:nvPr/>
        </p:nvSpPr>
        <p:spPr>
          <a:xfrm>
            <a:off x="10873683" y="3874383"/>
            <a:ext cx="1035230" cy="951118"/>
          </a:xfrm>
          <a:custGeom>
            <a:avLst/>
            <a:gdLst/>
            <a:ahLst/>
            <a:cxnLst/>
            <a:rect l="l" t="t" r="r" b="b"/>
            <a:pathLst>
              <a:path w="1035230" h="951118">
                <a:moveTo>
                  <a:pt x="0" y="0"/>
                </a:moveTo>
                <a:lnTo>
                  <a:pt x="1035231" y="0"/>
                </a:lnTo>
                <a:lnTo>
                  <a:pt x="1035231" y="951118"/>
                </a:lnTo>
                <a:lnTo>
                  <a:pt x="0" y="951118"/>
                </a:lnTo>
                <a:lnTo>
                  <a:pt x="0" y="0"/>
                </a:lnTo>
                <a:close/>
              </a:path>
            </a:pathLst>
          </a:custGeom>
          <a:blipFill>
            <a:blip r:embed="rId9">
              <a:alphaModFix amt="35000"/>
              <a:extLst>
                <a:ext uri="{96DAC541-7B7A-43D3-8B79-37D633B846F1}">
                  <asvg:svgBlip xmlns:asvg="http://schemas.microsoft.com/office/drawing/2016/SVG/main" r:embed="rId10"/>
                </a:ext>
              </a:extLst>
            </a:blip>
            <a:stretch>
              <a:fillRect/>
            </a:stretch>
          </a:blipFill>
          <a:ln cap="sq">
            <a:noFill/>
            <a:prstDash val="solid"/>
            <a:miter/>
          </a:ln>
        </p:spPr>
      </p:sp>
      <p:grpSp>
        <p:nvGrpSpPr>
          <p:cNvPr id="19" name="Group 19"/>
          <p:cNvGrpSpPr/>
          <p:nvPr/>
        </p:nvGrpSpPr>
        <p:grpSpPr>
          <a:xfrm rot="-10800000">
            <a:off x="10966579" y="6187509"/>
            <a:ext cx="3480850" cy="1586410"/>
            <a:chOff x="0" y="0"/>
            <a:chExt cx="1701060" cy="775264"/>
          </a:xfrm>
        </p:grpSpPr>
        <p:sp>
          <p:nvSpPr>
            <p:cNvPr id="20" name="Freeform 20"/>
            <p:cNvSpPr/>
            <p:nvPr/>
          </p:nvSpPr>
          <p:spPr>
            <a:xfrm>
              <a:off x="0" y="0"/>
              <a:ext cx="1701060" cy="775264"/>
            </a:xfrm>
            <a:custGeom>
              <a:avLst/>
              <a:gdLst/>
              <a:ahLst/>
              <a:cxnLst/>
              <a:rect l="l" t="t" r="r" b="b"/>
              <a:pathLst>
                <a:path w="1701060" h="775264">
                  <a:moveTo>
                    <a:pt x="91190" y="0"/>
                  </a:moveTo>
                  <a:lnTo>
                    <a:pt x="1609870" y="0"/>
                  </a:lnTo>
                  <a:cubicBezTo>
                    <a:pt x="1634055" y="0"/>
                    <a:pt x="1657249" y="9607"/>
                    <a:pt x="1674351" y="26709"/>
                  </a:cubicBezTo>
                  <a:cubicBezTo>
                    <a:pt x="1691452" y="43810"/>
                    <a:pt x="1701060" y="67005"/>
                    <a:pt x="1701060" y="91190"/>
                  </a:cubicBezTo>
                  <a:lnTo>
                    <a:pt x="1701060" y="684074"/>
                  </a:lnTo>
                  <a:cubicBezTo>
                    <a:pt x="1701060" y="734437"/>
                    <a:pt x="1660233" y="775264"/>
                    <a:pt x="1609870" y="775264"/>
                  </a:cubicBezTo>
                  <a:lnTo>
                    <a:pt x="91190" y="775264"/>
                  </a:lnTo>
                  <a:cubicBezTo>
                    <a:pt x="40827" y="775264"/>
                    <a:pt x="0" y="734437"/>
                    <a:pt x="0" y="684074"/>
                  </a:cubicBezTo>
                  <a:lnTo>
                    <a:pt x="0" y="91190"/>
                  </a:lnTo>
                  <a:cubicBezTo>
                    <a:pt x="0" y="40827"/>
                    <a:pt x="40827" y="0"/>
                    <a:pt x="91190" y="0"/>
                  </a:cubicBezTo>
                  <a:close/>
                </a:path>
              </a:pathLst>
            </a:custGeom>
            <a:solidFill>
              <a:srgbClr val="FFFFFF"/>
            </a:solidFill>
            <a:ln w="38100" cap="rnd">
              <a:solidFill>
                <a:srgbClr val="4361EE"/>
              </a:solidFill>
              <a:prstDash val="solid"/>
              <a:round/>
            </a:ln>
          </p:spPr>
        </p:sp>
        <p:sp>
          <p:nvSpPr>
            <p:cNvPr id="21" name="TextBox 21"/>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22" name="Group 22"/>
          <p:cNvGrpSpPr/>
          <p:nvPr/>
        </p:nvGrpSpPr>
        <p:grpSpPr>
          <a:xfrm rot="-10800000">
            <a:off x="13581782" y="3511215"/>
            <a:ext cx="3480850" cy="1586410"/>
            <a:chOff x="0" y="0"/>
            <a:chExt cx="1701060" cy="775264"/>
          </a:xfrm>
        </p:grpSpPr>
        <p:sp>
          <p:nvSpPr>
            <p:cNvPr id="23" name="Freeform 23"/>
            <p:cNvSpPr/>
            <p:nvPr/>
          </p:nvSpPr>
          <p:spPr>
            <a:xfrm>
              <a:off x="0" y="0"/>
              <a:ext cx="1701060" cy="775264"/>
            </a:xfrm>
            <a:custGeom>
              <a:avLst/>
              <a:gdLst/>
              <a:ahLst/>
              <a:cxnLst/>
              <a:rect l="l" t="t" r="r" b="b"/>
              <a:pathLst>
                <a:path w="1701060" h="775264">
                  <a:moveTo>
                    <a:pt x="91190" y="0"/>
                  </a:moveTo>
                  <a:lnTo>
                    <a:pt x="1609870" y="0"/>
                  </a:lnTo>
                  <a:cubicBezTo>
                    <a:pt x="1634055" y="0"/>
                    <a:pt x="1657249" y="9607"/>
                    <a:pt x="1674351" y="26709"/>
                  </a:cubicBezTo>
                  <a:cubicBezTo>
                    <a:pt x="1691452" y="43810"/>
                    <a:pt x="1701060" y="67005"/>
                    <a:pt x="1701060" y="91190"/>
                  </a:cubicBezTo>
                  <a:lnTo>
                    <a:pt x="1701060" y="684074"/>
                  </a:lnTo>
                  <a:cubicBezTo>
                    <a:pt x="1701060" y="734437"/>
                    <a:pt x="1660233" y="775264"/>
                    <a:pt x="1609870" y="775264"/>
                  </a:cubicBezTo>
                  <a:lnTo>
                    <a:pt x="91190" y="775264"/>
                  </a:lnTo>
                  <a:cubicBezTo>
                    <a:pt x="40827" y="775264"/>
                    <a:pt x="0" y="734437"/>
                    <a:pt x="0" y="684074"/>
                  </a:cubicBezTo>
                  <a:lnTo>
                    <a:pt x="0" y="91190"/>
                  </a:lnTo>
                  <a:cubicBezTo>
                    <a:pt x="0" y="40827"/>
                    <a:pt x="40827" y="0"/>
                    <a:pt x="91190" y="0"/>
                  </a:cubicBezTo>
                  <a:close/>
                </a:path>
              </a:pathLst>
            </a:custGeom>
            <a:solidFill>
              <a:srgbClr val="FFFFFF"/>
            </a:solidFill>
            <a:ln w="38100" cap="rnd">
              <a:solidFill>
                <a:srgbClr val="3A0CA3"/>
              </a:solidFill>
              <a:prstDash val="solid"/>
              <a:round/>
            </a:ln>
          </p:spPr>
        </p:sp>
        <p:sp>
          <p:nvSpPr>
            <p:cNvPr id="24" name="TextBox 24"/>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sp>
        <p:nvSpPr>
          <p:cNvPr id="25" name="Freeform 25"/>
          <p:cNvSpPr/>
          <p:nvPr/>
        </p:nvSpPr>
        <p:spPr>
          <a:xfrm>
            <a:off x="13131009" y="3917037"/>
            <a:ext cx="1035060" cy="950961"/>
          </a:xfrm>
          <a:custGeom>
            <a:avLst/>
            <a:gdLst/>
            <a:ahLst/>
            <a:cxnLst/>
            <a:rect l="l" t="t" r="r" b="b"/>
            <a:pathLst>
              <a:path w="1035060" h="950961">
                <a:moveTo>
                  <a:pt x="0" y="0"/>
                </a:moveTo>
                <a:lnTo>
                  <a:pt x="1035060" y="0"/>
                </a:lnTo>
                <a:lnTo>
                  <a:pt x="1035060" y="950961"/>
                </a:lnTo>
                <a:lnTo>
                  <a:pt x="0" y="950961"/>
                </a:lnTo>
                <a:lnTo>
                  <a:pt x="0" y="0"/>
                </a:lnTo>
                <a:close/>
              </a:path>
            </a:pathLst>
          </a:custGeom>
          <a:blipFill>
            <a:blip r:embed="rId9">
              <a:alphaModFix amt="35000"/>
              <a:extLst>
                <a:ext uri="{96DAC541-7B7A-43D3-8B79-37D633B846F1}">
                  <asvg:svgBlip xmlns:asvg="http://schemas.microsoft.com/office/drawing/2016/SVG/main" r:embed="rId11"/>
                </a:ext>
              </a:extLst>
            </a:blip>
            <a:stretch>
              <a:fillRect/>
            </a:stretch>
          </a:blipFill>
          <a:ln cap="sq">
            <a:noFill/>
            <a:prstDash val="solid"/>
            <a:miter/>
          </a:ln>
        </p:spPr>
      </p:sp>
      <p:grpSp>
        <p:nvGrpSpPr>
          <p:cNvPr id="26" name="Group 26"/>
          <p:cNvGrpSpPr/>
          <p:nvPr/>
        </p:nvGrpSpPr>
        <p:grpSpPr>
          <a:xfrm>
            <a:off x="10873683" y="3874383"/>
            <a:ext cx="901546" cy="774766"/>
            <a:chOff x="0" y="0"/>
            <a:chExt cx="812800" cy="698500"/>
          </a:xfrm>
        </p:grpSpPr>
        <p:sp>
          <p:nvSpPr>
            <p:cNvPr id="27" name="Freeform 27"/>
            <p:cNvSpPr/>
            <p:nvPr/>
          </p:nvSpPr>
          <p:spPr>
            <a:xfrm>
              <a:off x="11543" y="0"/>
              <a:ext cx="789714" cy="698500"/>
            </a:xfrm>
            <a:custGeom>
              <a:avLst/>
              <a:gdLst/>
              <a:ahLst/>
              <a:cxnLst/>
              <a:rect l="l" t="t" r="r" b="b"/>
              <a:pathLst>
                <a:path w="789714" h="698500">
                  <a:moveTo>
                    <a:pt x="771027" y="401207"/>
                  </a:moveTo>
                  <a:lnTo>
                    <a:pt x="628287" y="646543"/>
                  </a:lnTo>
                  <a:cubicBezTo>
                    <a:pt x="609571" y="678711"/>
                    <a:pt x="575162" y="698500"/>
                    <a:pt x="537945" y="698500"/>
                  </a:cubicBezTo>
                  <a:lnTo>
                    <a:pt x="251769" y="698500"/>
                  </a:lnTo>
                  <a:cubicBezTo>
                    <a:pt x="214552" y="698500"/>
                    <a:pt x="180143" y="678711"/>
                    <a:pt x="161427" y="646543"/>
                  </a:cubicBezTo>
                  <a:lnTo>
                    <a:pt x="18687" y="401207"/>
                  </a:lnTo>
                  <a:cubicBezTo>
                    <a:pt x="0" y="369089"/>
                    <a:pt x="0" y="329411"/>
                    <a:pt x="18687" y="297293"/>
                  </a:cubicBezTo>
                  <a:lnTo>
                    <a:pt x="161427" y="51957"/>
                  </a:lnTo>
                  <a:cubicBezTo>
                    <a:pt x="180143" y="19789"/>
                    <a:pt x="214552" y="0"/>
                    <a:pt x="251769" y="0"/>
                  </a:cubicBezTo>
                  <a:lnTo>
                    <a:pt x="537945" y="0"/>
                  </a:lnTo>
                  <a:cubicBezTo>
                    <a:pt x="575162" y="0"/>
                    <a:pt x="609571" y="19789"/>
                    <a:pt x="628287" y="51957"/>
                  </a:cubicBezTo>
                  <a:lnTo>
                    <a:pt x="771027" y="297293"/>
                  </a:lnTo>
                  <a:cubicBezTo>
                    <a:pt x="789714" y="329411"/>
                    <a:pt x="789714" y="369089"/>
                    <a:pt x="771027" y="401207"/>
                  </a:cubicBezTo>
                  <a:close/>
                </a:path>
              </a:pathLst>
            </a:custGeom>
            <a:solidFill>
              <a:srgbClr val="F72585"/>
            </a:solidFill>
          </p:spPr>
        </p:sp>
        <p:sp>
          <p:nvSpPr>
            <p:cNvPr id="28" name="TextBox 28"/>
            <p:cNvSpPr txBox="1"/>
            <p:nvPr/>
          </p:nvSpPr>
          <p:spPr>
            <a:xfrm>
              <a:off x="114300" y="-47625"/>
              <a:ext cx="584200" cy="746125"/>
            </a:xfrm>
            <a:prstGeom prst="rect">
              <a:avLst/>
            </a:prstGeom>
          </p:spPr>
          <p:txBody>
            <a:bodyPr lIns="50800" tIns="50800" rIns="50800" bIns="50800" rtlCol="0" anchor="ctr"/>
            <a:lstStyle/>
            <a:p>
              <a:pPr algn="ctr">
                <a:lnSpc>
                  <a:spcPts val="2239"/>
                </a:lnSpc>
              </a:pPr>
              <a:endParaRPr/>
            </a:p>
          </p:txBody>
        </p:sp>
      </p:grpSp>
      <p:sp>
        <p:nvSpPr>
          <p:cNvPr id="29" name="Freeform 29"/>
          <p:cNvSpPr/>
          <p:nvPr/>
        </p:nvSpPr>
        <p:spPr>
          <a:xfrm>
            <a:off x="10515806" y="6593331"/>
            <a:ext cx="1035060" cy="950961"/>
          </a:xfrm>
          <a:custGeom>
            <a:avLst/>
            <a:gdLst/>
            <a:ahLst/>
            <a:cxnLst/>
            <a:rect l="l" t="t" r="r" b="b"/>
            <a:pathLst>
              <a:path w="1035060" h="950961">
                <a:moveTo>
                  <a:pt x="0" y="0"/>
                </a:moveTo>
                <a:lnTo>
                  <a:pt x="1035060" y="0"/>
                </a:lnTo>
                <a:lnTo>
                  <a:pt x="1035060" y="950961"/>
                </a:lnTo>
                <a:lnTo>
                  <a:pt x="0" y="950961"/>
                </a:lnTo>
                <a:lnTo>
                  <a:pt x="0" y="0"/>
                </a:lnTo>
                <a:close/>
              </a:path>
            </a:pathLst>
          </a:custGeom>
          <a:blipFill>
            <a:blip r:embed="rId9">
              <a:alphaModFix amt="35000"/>
              <a:extLst>
                <a:ext uri="{96DAC541-7B7A-43D3-8B79-37D633B846F1}">
                  <asvg:svgBlip xmlns:asvg="http://schemas.microsoft.com/office/drawing/2016/SVG/main" r:embed="rId12"/>
                </a:ext>
              </a:extLst>
            </a:blip>
            <a:stretch>
              <a:fillRect/>
            </a:stretch>
          </a:blipFill>
          <a:ln cap="sq">
            <a:noFill/>
            <a:prstDash val="solid"/>
            <a:miter/>
          </a:ln>
        </p:spPr>
      </p:sp>
      <p:grpSp>
        <p:nvGrpSpPr>
          <p:cNvPr id="30" name="Group 30"/>
          <p:cNvGrpSpPr/>
          <p:nvPr/>
        </p:nvGrpSpPr>
        <p:grpSpPr>
          <a:xfrm rot="-10800000">
            <a:off x="10515806" y="6593331"/>
            <a:ext cx="901546" cy="774766"/>
            <a:chOff x="0" y="0"/>
            <a:chExt cx="812800" cy="698500"/>
          </a:xfrm>
        </p:grpSpPr>
        <p:sp>
          <p:nvSpPr>
            <p:cNvPr id="31" name="Freeform 31"/>
            <p:cNvSpPr/>
            <p:nvPr/>
          </p:nvSpPr>
          <p:spPr>
            <a:xfrm>
              <a:off x="11543" y="0"/>
              <a:ext cx="789714" cy="698500"/>
            </a:xfrm>
            <a:custGeom>
              <a:avLst/>
              <a:gdLst/>
              <a:ahLst/>
              <a:cxnLst/>
              <a:rect l="l" t="t" r="r" b="b"/>
              <a:pathLst>
                <a:path w="789714" h="698500">
                  <a:moveTo>
                    <a:pt x="771027" y="401207"/>
                  </a:moveTo>
                  <a:lnTo>
                    <a:pt x="628287" y="646543"/>
                  </a:lnTo>
                  <a:cubicBezTo>
                    <a:pt x="609571" y="678711"/>
                    <a:pt x="575162" y="698500"/>
                    <a:pt x="537945" y="698500"/>
                  </a:cubicBezTo>
                  <a:lnTo>
                    <a:pt x="251769" y="698500"/>
                  </a:lnTo>
                  <a:cubicBezTo>
                    <a:pt x="214552" y="698500"/>
                    <a:pt x="180143" y="678711"/>
                    <a:pt x="161427" y="646543"/>
                  </a:cubicBezTo>
                  <a:lnTo>
                    <a:pt x="18687" y="401207"/>
                  </a:lnTo>
                  <a:cubicBezTo>
                    <a:pt x="0" y="369089"/>
                    <a:pt x="0" y="329411"/>
                    <a:pt x="18687" y="297293"/>
                  </a:cubicBezTo>
                  <a:lnTo>
                    <a:pt x="161427" y="51957"/>
                  </a:lnTo>
                  <a:cubicBezTo>
                    <a:pt x="180143" y="19789"/>
                    <a:pt x="214552" y="0"/>
                    <a:pt x="251769" y="0"/>
                  </a:cubicBezTo>
                  <a:lnTo>
                    <a:pt x="537945" y="0"/>
                  </a:lnTo>
                  <a:cubicBezTo>
                    <a:pt x="575162" y="0"/>
                    <a:pt x="609571" y="19789"/>
                    <a:pt x="628287" y="51957"/>
                  </a:cubicBezTo>
                  <a:lnTo>
                    <a:pt x="771027" y="297293"/>
                  </a:lnTo>
                  <a:cubicBezTo>
                    <a:pt x="789714" y="329411"/>
                    <a:pt x="789714" y="369089"/>
                    <a:pt x="771027" y="401207"/>
                  </a:cubicBezTo>
                  <a:close/>
                </a:path>
              </a:pathLst>
            </a:custGeom>
            <a:solidFill>
              <a:srgbClr val="4361EE"/>
            </a:solidFill>
          </p:spPr>
        </p:sp>
        <p:sp>
          <p:nvSpPr>
            <p:cNvPr id="32" name="TextBox 32"/>
            <p:cNvSpPr txBox="1"/>
            <p:nvPr/>
          </p:nvSpPr>
          <p:spPr>
            <a:xfrm>
              <a:off x="114300" y="-47625"/>
              <a:ext cx="584200" cy="746125"/>
            </a:xfrm>
            <a:prstGeom prst="rect">
              <a:avLst/>
            </a:prstGeom>
          </p:spPr>
          <p:txBody>
            <a:bodyPr lIns="50800" tIns="50800" rIns="50800" bIns="50800" rtlCol="0" anchor="ctr"/>
            <a:lstStyle/>
            <a:p>
              <a:pPr algn="ctr">
                <a:lnSpc>
                  <a:spcPts val="2239"/>
                </a:lnSpc>
              </a:pPr>
              <a:endParaRPr/>
            </a:p>
          </p:txBody>
        </p:sp>
      </p:grpSp>
      <p:grpSp>
        <p:nvGrpSpPr>
          <p:cNvPr id="33" name="Group 33"/>
          <p:cNvGrpSpPr/>
          <p:nvPr/>
        </p:nvGrpSpPr>
        <p:grpSpPr>
          <a:xfrm rot="-10800000">
            <a:off x="13131009" y="3917037"/>
            <a:ext cx="901546" cy="774766"/>
            <a:chOff x="0" y="0"/>
            <a:chExt cx="812800" cy="698500"/>
          </a:xfrm>
        </p:grpSpPr>
        <p:sp>
          <p:nvSpPr>
            <p:cNvPr id="34" name="Freeform 34"/>
            <p:cNvSpPr/>
            <p:nvPr/>
          </p:nvSpPr>
          <p:spPr>
            <a:xfrm>
              <a:off x="11543" y="0"/>
              <a:ext cx="789714" cy="698500"/>
            </a:xfrm>
            <a:custGeom>
              <a:avLst/>
              <a:gdLst/>
              <a:ahLst/>
              <a:cxnLst/>
              <a:rect l="l" t="t" r="r" b="b"/>
              <a:pathLst>
                <a:path w="789714" h="698500">
                  <a:moveTo>
                    <a:pt x="771027" y="401207"/>
                  </a:moveTo>
                  <a:lnTo>
                    <a:pt x="628287" y="646543"/>
                  </a:lnTo>
                  <a:cubicBezTo>
                    <a:pt x="609571" y="678711"/>
                    <a:pt x="575162" y="698500"/>
                    <a:pt x="537945" y="698500"/>
                  </a:cubicBezTo>
                  <a:lnTo>
                    <a:pt x="251769" y="698500"/>
                  </a:lnTo>
                  <a:cubicBezTo>
                    <a:pt x="214552" y="698500"/>
                    <a:pt x="180143" y="678711"/>
                    <a:pt x="161427" y="646543"/>
                  </a:cubicBezTo>
                  <a:lnTo>
                    <a:pt x="18687" y="401207"/>
                  </a:lnTo>
                  <a:cubicBezTo>
                    <a:pt x="0" y="369089"/>
                    <a:pt x="0" y="329411"/>
                    <a:pt x="18687" y="297293"/>
                  </a:cubicBezTo>
                  <a:lnTo>
                    <a:pt x="161427" y="51957"/>
                  </a:lnTo>
                  <a:cubicBezTo>
                    <a:pt x="180143" y="19789"/>
                    <a:pt x="214552" y="0"/>
                    <a:pt x="251769" y="0"/>
                  </a:cubicBezTo>
                  <a:lnTo>
                    <a:pt x="537945" y="0"/>
                  </a:lnTo>
                  <a:cubicBezTo>
                    <a:pt x="575162" y="0"/>
                    <a:pt x="609571" y="19789"/>
                    <a:pt x="628287" y="51957"/>
                  </a:cubicBezTo>
                  <a:lnTo>
                    <a:pt x="771027" y="297293"/>
                  </a:lnTo>
                  <a:cubicBezTo>
                    <a:pt x="789714" y="329411"/>
                    <a:pt x="789714" y="369089"/>
                    <a:pt x="771027" y="401207"/>
                  </a:cubicBezTo>
                  <a:close/>
                </a:path>
              </a:pathLst>
            </a:custGeom>
            <a:solidFill>
              <a:srgbClr val="3A0CA3"/>
            </a:solidFill>
          </p:spPr>
        </p:sp>
        <p:sp>
          <p:nvSpPr>
            <p:cNvPr id="35" name="TextBox 35"/>
            <p:cNvSpPr txBox="1"/>
            <p:nvPr/>
          </p:nvSpPr>
          <p:spPr>
            <a:xfrm>
              <a:off x="114300" y="-47625"/>
              <a:ext cx="584200" cy="746125"/>
            </a:xfrm>
            <a:prstGeom prst="rect">
              <a:avLst/>
            </a:prstGeom>
          </p:spPr>
          <p:txBody>
            <a:bodyPr lIns="50800" tIns="50800" rIns="50800" bIns="50800" rtlCol="0" anchor="ctr"/>
            <a:lstStyle/>
            <a:p>
              <a:pPr algn="ctr">
                <a:lnSpc>
                  <a:spcPts val="2239"/>
                </a:lnSpc>
              </a:pPr>
              <a:endParaRPr/>
            </a:p>
          </p:txBody>
        </p:sp>
      </p:grpSp>
      <p:sp>
        <p:nvSpPr>
          <p:cNvPr id="36" name="TextBox 36"/>
          <p:cNvSpPr txBox="1"/>
          <p:nvPr/>
        </p:nvSpPr>
        <p:spPr>
          <a:xfrm>
            <a:off x="8032071" y="3932438"/>
            <a:ext cx="2863651" cy="614652"/>
          </a:xfrm>
          <a:prstGeom prst="rect">
            <a:avLst/>
          </a:prstGeom>
        </p:spPr>
        <p:txBody>
          <a:bodyPr lIns="0" tIns="0" rIns="0" bIns="0" rtlCol="0" anchor="t">
            <a:spAutoFit/>
          </a:bodyPr>
          <a:lstStyle/>
          <a:p>
            <a:pPr algn="ctr">
              <a:lnSpc>
                <a:spcPts val="2407"/>
              </a:lnSpc>
            </a:pPr>
            <a:r>
              <a:rPr lang="en-US" sz="1852" b="1">
                <a:solidFill>
                  <a:srgbClr val="000000"/>
                </a:solidFill>
                <a:latin typeface="Roboto Bold"/>
                <a:ea typeface="Roboto Bold"/>
                <a:cs typeface="Roboto Bold"/>
                <a:sym typeface="Roboto Bold"/>
              </a:rPr>
              <a:t>It helps personal growth and independence</a:t>
            </a:r>
          </a:p>
        </p:txBody>
      </p:sp>
      <p:sp>
        <p:nvSpPr>
          <p:cNvPr id="37" name="TextBox 37"/>
          <p:cNvSpPr txBox="1"/>
          <p:nvPr/>
        </p:nvSpPr>
        <p:spPr>
          <a:xfrm>
            <a:off x="11124322" y="4094869"/>
            <a:ext cx="400267" cy="305218"/>
          </a:xfrm>
          <a:prstGeom prst="rect">
            <a:avLst/>
          </a:prstGeom>
        </p:spPr>
        <p:txBody>
          <a:bodyPr lIns="0" tIns="0" rIns="0" bIns="0" rtlCol="0" anchor="t">
            <a:spAutoFit/>
          </a:bodyPr>
          <a:lstStyle/>
          <a:p>
            <a:pPr algn="ctr">
              <a:lnSpc>
                <a:spcPts val="2359"/>
              </a:lnSpc>
            </a:pPr>
            <a:r>
              <a:rPr lang="en-US" sz="1815">
                <a:solidFill>
                  <a:srgbClr val="FFFFFF"/>
                </a:solidFill>
                <a:latin typeface="Roboto"/>
                <a:ea typeface="Roboto"/>
                <a:cs typeface="Roboto"/>
                <a:sym typeface="Roboto"/>
              </a:rPr>
              <a:t>01</a:t>
            </a:r>
          </a:p>
        </p:txBody>
      </p:sp>
      <p:sp>
        <p:nvSpPr>
          <p:cNvPr id="38" name="TextBox 38"/>
          <p:cNvSpPr txBox="1"/>
          <p:nvPr/>
        </p:nvSpPr>
        <p:spPr>
          <a:xfrm>
            <a:off x="13370780" y="4137524"/>
            <a:ext cx="400267" cy="305218"/>
          </a:xfrm>
          <a:prstGeom prst="rect">
            <a:avLst/>
          </a:prstGeom>
        </p:spPr>
        <p:txBody>
          <a:bodyPr lIns="0" tIns="0" rIns="0" bIns="0" rtlCol="0" anchor="t">
            <a:spAutoFit/>
          </a:bodyPr>
          <a:lstStyle/>
          <a:p>
            <a:pPr algn="ctr">
              <a:lnSpc>
                <a:spcPts val="2359"/>
              </a:lnSpc>
            </a:pPr>
            <a:r>
              <a:rPr lang="en-US" sz="1815">
                <a:solidFill>
                  <a:srgbClr val="FFFFFF"/>
                </a:solidFill>
                <a:latin typeface="Roboto"/>
                <a:ea typeface="Roboto"/>
                <a:cs typeface="Roboto"/>
                <a:sym typeface="Roboto"/>
              </a:rPr>
              <a:t>02</a:t>
            </a:r>
          </a:p>
        </p:txBody>
      </p:sp>
      <p:sp>
        <p:nvSpPr>
          <p:cNvPr id="39" name="TextBox 39"/>
          <p:cNvSpPr txBox="1"/>
          <p:nvPr/>
        </p:nvSpPr>
        <p:spPr>
          <a:xfrm>
            <a:off x="10755577" y="6813817"/>
            <a:ext cx="400267" cy="305218"/>
          </a:xfrm>
          <a:prstGeom prst="rect">
            <a:avLst/>
          </a:prstGeom>
        </p:spPr>
        <p:txBody>
          <a:bodyPr lIns="0" tIns="0" rIns="0" bIns="0" rtlCol="0" anchor="t">
            <a:spAutoFit/>
          </a:bodyPr>
          <a:lstStyle/>
          <a:p>
            <a:pPr algn="ctr">
              <a:lnSpc>
                <a:spcPts val="2359"/>
              </a:lnSpc>
            </a:pPr>
            <a:r>
              <a:rPr lang="en-US" sz="1815">
                <a:solidFill>
                  <a:srgbClr val="FFFFFF"/>
                </a:solidFill>
                <a:latin typeface="Roboto"/>
                <a:ea typeface="Roboto"/>
                <a:cs typeface="Roboto"/>
                <a:sym typeface="Roboto"/>
              </a:rPr>
              <a:t>03</a:t>
            </a:r>
          </a:p>
        </p:txBody>
      </p:sp>
      <p:sp>
        <p:nvSpPr>
          <p:cNvPr id="40" name="TextBox 40"/>
          <p:cNvSpPr txBox="1"/>
          <p:nvPr/>
        </p:nvSpPr>
        <p:spPr>
          <a:xfrm>
            <a:off x="14032555" y="4028328"/>
            <a:ext cx="2864631" cy="614652"/>
          </a:xfrm>
          <a:prstGeom prst="rect">
            <a:avLst/>
          </a:prstGeom>
        </p:spPr>
        <p:txBody>
          <a:bodyPr lIns="0" tIns="0" rIns="0" bIns="0" rtlCol="0" anchor="t">
            <a:spAutoFit/>
          </a:bodyPr>
          <a:lstStyle/>
          <a:p>
            <a:pPr algn="ctr">
              <a:lnSpc>
                <a:spcPts val="2407"/>
              </a:lnSpc>
            </a:pPr>
            <a:r>
              <a:rPr lang="en-US" sz="1852" b="1">
                <a:solidFill>
                  <a:srgbClr val="000000"/>
                </a:solidFill>
                <a:latin typeface="Roboto Bold"/>
                <a:ea typeface="Roboto Bold"/>
                <a:cs typeface="Roboto Bold"/>
                <a:sym typeface="Roboto Bold"/>
              </a:rPr>
              <a:t>Projects give direction and meaning to life</a:t>
            </a:r>
          </a:p>
        </p:txBody>
      </p:sp>
      <p:sp>
        <p:nvSpPr>
          <p:cNvPr id="41" name="TextBox 41"/>
          <p:cNvSpPr txBox="1"/>
          <p:nvPr/>
        </p:nvSpPr>
        <p:spPr>
          <a:xfrm>
            <a:off x="11417352" y="6506700"/>
            <a:ext cx="2696429" cy="919452"/>
          </a:xfrm>
          <a:prstGeom prst="rect">
            <a:avLst/>
          </a:prstGeom>
        </p:spPr>
        <p:txBody>
          <a:bodyPr lIns="0" tIns="0" rIns="0" bIns="0" rtlCol="0" anchor="t">
            <a:spAutoFit/>
          </a:bodyPr>
          <a:lstStyle/>
          <a:p>
            <a:pPr algn="ctr">
              <a:lnSpc>
                <a:spcPts val="2407"/>
              </a:lnSpc>
            </a:pPr>
            <a:r>
              <a:rPr lang="en-US" sz="1852" b="1">
                <a:solidFill>
                  <a:srgbClr val="000000"/>
                </a:solidFill>
                <a:latin typeface="Roboto Bold"/>
                <a:ea typeface="Roboto Bold"/>
                <a:cs typeface="Roboto Bold"/>
                <a:sym typeface="Roboto Bold"/>
              </a:rPr>
              <a:t>We overcome resistance to change by framing life as projects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220" y="-477704"/>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2">
              <a:extLst>
                <a:ext uri="{96DAC541-7B7A-43D3-8B79-37D633B846F1}">
                  <asvg:svgBlip xmlns:asvg="http://schemas.microsoft.com/office/drawing/2016/SVG/main" r:embed="rId3"/>
                </a:ext>
              </a:extLst>
            </a:blip>
            <a:stretch>
              <a:fillRect l="-38228" t="-57320"/>
            </a:stretch>
          </a:blipFill>
        </p:spPr>
      </p:sp>
      <p:grpSp>
        <p:nvGrpSpPr>
          <p:cNvPr id="3" name="Group 3"/>
          <p:cNvGrpSpPr/>
          <p:nvPr/>
        </p:nvGrpSpPr>
        <p:grpSpPr>
          <a:xfrm>
            <a:off x="-1544854" y="0"/>
            <a:ext cx="5343617" cy="10287000"/>
            <a:chOff x="0" y="0"/>
            <a:chExt cx="1407372" cy="2709333"/>
          </a:xfrm>
        </p:grpSpPr>
        <p:sp>
          <p:nvSpPr>
            <p:cNvPr id="4" name="Freeform 4"/>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5" name="TextBox 5"/>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grpSp>
        <p:nvGrpSpPr>
          <p:cNvPr id="6" name="Group 6"/>
          <p:cNvGrpSpPr/>
          <p:nvPr/>
        </p:nvGrpSpPr>
        <p:grpSpPr>
          <a:xfrm>
            <a:off x="-2104863" y="1326087"/>
            <a:ext cx="6723083" cy="7165819"/>
            <a:chOff x="0" y="0"/>
            <a:chExt cx="813674" cy="867257"/>
          </a:xfrm>
        </p:grpSpPr>
        <p:sp>
          <p:nvSpPr>
            <p:cNvPr id="7" name="Freeform 7"/>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4"/>
              <a:stretch>
                <a:fillRect l="-44247" r="-44247"/>
              </a:stretch>
            </a:blipFill>
            <a:ln w="19050" cap="sq">
              <a:solidFill>
                <a:srgbClr val="000000"/>
              </a:solidFill>
              <a:prstDash val="solid"/>
              <a:miter/>
            </a:ln>
          </p:spPr>
        </p:sp>
      </p:grpSp>
      <p:sp>
        <p:nvSpPr>
          <p:cNvPr id="8" name="Freeform 8"/>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5">
              <a:extLst>
                <a:ext uri="{96DAC541-7B7A-43D3-8B79-37D633B846F1}">
                  <asvg:svgBlip xmlns:asvg="http://schemas.microsoft.com/office/drawing/2016/SVG/main" r:embed="rId6"/>
                </a:ext>
              </a:extLst>
            </a:blip>
            <a:stretch>
              <a:fillRect b="-279976"/>
            </a:stretch>
          </a:blipFill>
        </p:spPr>
      </p:sp>
      <p:sp>
        <p:nvSpPr>
          <p:cNvPr id="9" name="TextBox 9"/>
          <p:cNvSpPr txBox="1"/>
          <p:nvPr/>
        </p:nvSpPr>
        <p:spPr>
          <a:xfrm>
            <a:off x="5028532" y="475021"/>
            <a:ext cx="12493697" cy="4420552"/>
          </a:xfrm>
          <a:prstGeom prst="rect">
            <a:avLst/>
          </a:prstGeom>
        </p:spPr>
        <p:txBody>
          <a:bodyPr lIns="0" tIns="0" rIns="0" bIns="0" rtlCol="0" anchor="t">
            <a:spAutoFit/>
          </a:bodyPr>
          <a:lstStyle/>
          <a:p>
            <a:pPr algn="just">
              <a:lnSpc>
                <a:spcPts val="3509"/>
              </a:lnSpc>
              <a:spcBef>
                <a:spcPct val="0"/>
              </a:spcBef>
            </a:pPr>
            <a:r>
              <a:rPr lang="en-US" sz="2999" b="1">
                <a:solidFill>
                  <a:srgbClr val="000000"/>
                </a:solidFill>
                <a:latin typeface="Canva Sans Bold"/>
                <a:ea typeface="Canva Sans Bold"/>
                <a:cs typeface="Canva Sans Bold"/>
                <a:sym typeface="Canva Sans Bold"/>
              </a:rPr>
              <a:t> It helps personal growth and independence</a:t>
            </a:r>
          </a:p>
          <a:p>
            <a:pPr algn="just">
              <a:lnSpc>
                <a:spcPts val="2924"/>
              </a:lnSpc>
              <a:spcBef>
                <a:spcPct val="0"/>
              </a:spcBef>
            </a:pPr>
            <a:endParaRPr lang="en-US" sz="2999" b="1">
              <a:solidFill>
                <a:srgbClr val="000000"/>
              </a:solidFill>
              <a:latin typeface="Canva Sans Bold"/>
              <a:ea typeface="Canva Sans Bold"/>
              <a:cs typeface="Canva Sans Bold"/>
              <a:sym typeface="Canva Sans Bold"/>
            </a:endParaRPr>
          </a:p>
          <a:p>
            <a:pPr algn="just">
              <a:lnSpc>
                <a:spcPts val="2924"/>
              </a:lnSpc>
              <a:spcBef>
                <a:spcPct val="0"/>
              </a:spcBef>
            </a:pPr>
            <a:r>
              <a:rPr lang="en-US" sz="2499">
                <a:solidFill>
                  <a:srgbClr val="000000"/>
                </a:solidFill>
                <a:latin typeface="Canva Sans"/>
                <a:ea typeface="Canva Sans"/>
                <a:cs typeface="Canva Sans"/>
                <a:sym typeface="Canva Sans"/>
              </a:rPr>
              <a:t>Projectising life develops our ability to plan, to take responsibility, and to manage resources. A person who organizes their life into projects learns discipline and accountability. This makes them more independent — they are not simply driven by rumours or external pressures, but by their own structured goals. PMP describes such people as independent ‘cells’ within society: active, creative, and able to act on their own initiative.”</a:t>
            </a:r>
          </a:p>
          <a:p>
            <a:pPr algn="just">
              <a:lnSpc>
                <a:spcPts val="2924"/>
              </a:lnSpc>
              <a:spcBef>
                <a:spcPct val="0"/>
              </a:spcBef>
            </a:pPr>
            <a:endParaRPr lang="en-US" sz="2499">
              <a:solidFill>
                <a:srgbClr val="000000"/>
              </a:solidFill>
              <a:latin typeface="Canva Sans"/>
              <a:ea typeface="Canva Sans"/>
              <a:cs typeface="Canva Sans"/>
              <a:sym typeface="Canva Sans"/>
            </a:endParaRPr>
          </a:p>
          <a:p>
            <a:pPr algn="just">
              <a:lnSpc>
                <a:spcPts val="2924"/>
              </a:lnSpc>
              <a:spcBef>
                <a:spcPct val="0"/>
              </a:spcBef>
            </a:pPr>
            <a:r>
              <a:rPr lang="en-US" sz="2499">
                <a:solidFill>
                  <a:srgbClr val="000000"/>
                </a:solidFill>
                <a:latin typeface="Canva Sans"/>
                <a:ea typeface="Canva Sans"/>
                <a:cs typeface="Canva Sans"/>
                <a:sym typeface="Canva Sans"/>
              </a:rPr>
              <a:t>Example: A student who plans their thesis as a project — with a research question, chapters, deadlines, and available resources — grows in independence and responsibility compared to a student who waits passively for instructions.</a:t>
            </a:r>
          </a:p>
        </p:txBody>
      </p:sp>
      <p:sp>
        <p:nvSpPr>
          <p:cNvPr id="10" name="TextBox 10"/>
          <p:cNvSpPr txBox="1"/>
          <p:nvPr/>
        </p:nvSpPr>
        <p:spPr>
          <a:xfrm>
            <a:off x="5028532" y="5430296"/>
            <a:ext cx="12493697" cy="4058602"/>
          </a:xfrm>
          <a:prstGeom prst="rect">
            <a:avLst/>
          </a:prstGeom>
        </p:spPr>
        <p:txBody>
          <a:bodyPr lIns="0" tIns="0" rIns="0" bIns="0" rtlCol="0" anchor="t">
            <a:spAutoFit/>
          </a:bodyPr>
          <a:lstStyle/>
          <a:p>
            <a:pPr algn="just">
              <a:lnSpc>
                <a:spcPts val="3509"/>
              </a:lnSpc>
              <a:spcBef>
                <a:spcPct val="0"/>
              </a:spcBef>
            </a:pPr>
            <a:r>
              <a:rPr lang="en-US" sz="2999" b="1">
                <a:solidFill>
                  <a:srgbClr val="000000"/>
                </a:solidFill>
                <a:latin typeface="Canva Sans Bold"/>
                <a:ea typeface="Canva Sans Bold"/>
                <a:cs typeface="Canva Sans Bold"/>
                <a:sym typeface="Canva Sans Bold"/>
              </a:rPr>
              <a:t>Projects give direction and meaning to life</a:t>
            </a:r>
          </a:p>
          <a:p>
            <a:pPr algn="just">
              <a:lnSpc>
                <a:spcPts val="2924"/>
              </a:lnSpc>
              <a:spcBef>
                <a:spcPct val="0"/>
              </a:spcBef>
            </a:pPr>
            <a:endParaRPr lang="en-US" sz="2999" b="1">
              <a:solidFill>
                <a:srgbClr val="000000"/>
              </a:solidFill>
              <a:latin typeface="Canva Sans Bold"/>
              <a:ea typeface="Canva Sans Bold"/>
              <a:cs typeface="Canva Sans Bold"/>
              <a:sym typeface="Canva Sans Bold"/>
            </a:endParaRPr>
          </a:p>
          <a:p>
            <a:pPr algn="just">
              <a:lnSpc>
                <a:spcPts val="2924"/>
              </a:lnSpc>
              <a:spcBef>
                <a:spcPct val="0"/>
              </a:spcBef>
            </a:pPr>
            <a:r>
              <a:rPr lang="en-US" sz="2499">
                <a:solidFill>
                  <a:srgbClr val="000000"/>
                </a:solidFill>
                <a:latin typeface="Canva Sans"/>
                <a:ea typeface="Canva Sans"/>
                <a:cs typeface="Canva Sans"/>
                <a:sym typeface="Canva Sans"/>
              </a:rPr>
              <a:t>Projects are more than activities. They connect daily tasks to broader goals. With a project, every step leads to an outcome; achievements can be measured and celebrated. This gives life coherence and meaning, because actions are not random but part of a bigger plan. By seeing life as projects, we transform routine into purpose.</a:t>
            </a:r>
          </a:p>
          <a:p>
            <a:pPr algn="just">
              <a:lnSpc>
                <a:spcPts val="2924"/>
              </a:lnSpc>
              <a:spcBef>
                <a:spcPct val="0"/>
              </a:spcBef>
            </a:pPr>
            <a:endParaRPr lang="en-US" sz="2499">
              <a:solidFill>
                <a:srgbClr val="000000"/>
              </a:solidFill>
              <a:latin typeface="Canva Sans"/>
              <a:ea typeface="Canva Sans"/>
              <a:cs typeface="Canva Sans"/>
              <a:sym typeface="Canva Sans"/>
            </a:endParaRPr>
          </a:p>
          <a:p>
            <a:pPr algn="just">
              <a:lnSpc>
                <a:spcPts val="2924"/>
              </a:lnSpc>
              <a:spcBef>
                <a:spcPct val="0"/>
              </a:spcBef>
            </a:pPr>
            <a:r>
              <a:rPr lang="en-US" sz="2499">
                <a:solidFill>
                  <a:srgbClr val="000000"/>
                </a:solidFill>
                <a:latin typeface="Canva Sans"/>
                <a:ea typeface="Canva Sans"/>
                <a:cs typeface="Canva Sans"/>
                <a:sym typeface="Canva Sans"/>
              </a:rPr>
              <a:t>Example: A young professional who treats career development as a project — setting milestones such as certifications, internships, and promotions — gains direction and meaning in their professional journey.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220" y="-477704"/>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2">
              <a:extLst>
                <a:ext uri="{96DAC541-7B7A-43D3-8B79-37D633B846F1}">
                  <asvg:svgBlip xmlns:asvg="http://schemas.microsoft.com/office/drawing/2016/SVG/main" r:embed="rId3"/>
                </a:ext>
              </a:extLst>
            </a:blip>
            <a:stretch>
              <a:fillRect l="-38228" t="-57320"/>
            </a:stretch>
          </a:blipFill>
        </p:spPr>
      </p:sp>
      <p:grpSp>
        <p:nvGrpSpPr>
          <p:cNvPr id="3" name="Group 3"/>
          <p:cNvGrpSpPr/>
          <p:nvPr/>
        </p:nvGrpSpPr>
        <p:grpSpPr>
          <a:xfrm>
            <a:off x="-1544854" y="0"/>
            <a:ext cx="5343617" cy="10287000"/>
            <a:chOff x="0" y="0"/>
            <a:chExt cx="1407372" cy="2709333"/>
          </a:xfrm>
        </p:grpSpPr>
        <p:sp>
          <p:nvSpPr>
            <p:cNvPr id="4" name="Freeform 4"/>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5" name="TextBox 5"/>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grpSp>
        <p:nvGrpSpPr>
          <p:cNvPr id="6" name="Group 6"/>
          <p:cNvGrpSpPr/>
          <p:nvPr/>
        </p:nvGrpSpPr>
        <p:grpSpPr>
          <a:xfrm>
            <a:off x="-2104863" y="1326087"/>
            <a:ext cx="6723083" cy="7165819"/>
            <a:chOff x="0" y="0"/>
            <a:chExt cx="813674" cy="867257"/>
          </a:xfrm>
        </p:grpSpPr>
        <p:sp>
          <p:nvSpPr>
            <p:cNvPr id="7" name="Freeform 7"/>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4"/>
              <a:stretch>
                <a:fillRect l="-44247" r="-44247"/>
              </a:stretch>
            </a:blipFill>
            <a:ln w="19050" cap="sq">
              <a:solidFill>
                <a:srgbClr val="000000"/>
              </a:solidFill>
              <a:prstDash val="solid"/>
              <a:miter/>
            </a:ln>
          </p:spPr>
        </p:sp>
      </p:grpSp>
      <p:sp>
        <p:nvSpPr>
          <p:cNvPr id="8" name="Freeform 8"/>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5">
              <a:extLst>
                <a:ext uri="{96DAC541-7B7A-43D3-8B79-37D633B846F1}">
                  <asvg:svgBlip xmlns:asvg="http://schemas.microsoft.com/office/drawing/2016/SVG/main" r:embed="rId6"/>
                </a:ext>
              </a:extLst>
            </a:blip>
            <a:stretch>
              <a:fillRect b="-279976"/>
            </a:stretch>
          </a:blipFill>
        </p:spPr>
      </p:sp>
      <p:sp>
        <p:nvSpPr>
          <p:cNvPr id="9" name="TextBox 9"/>
          <p:cNvSpPr txBox="1"/>
          <p:nvPr/>
        </p:nvSpPr>
        <p:spPr>
          <a:xfrm>
            <a:off x="5028532" y="2090344"/>
            <a:ext cx="12493697" cy="6488430"/>
          </a:xfrm>
          <a:prstGeom prst="rect">
            <a:avLst/>
          </a:prstGeom>
        </p:spPr>
        <p:txBody>
          <a:bodyPr lIns="0" tIns="0" rIns="0" bIns="0" rtlCol="0" anchor="t">
            <a:spAutoFit/>
          </a:bodyPr>
          <a:lstStyle/>
          <a:p>
            <a:pPr algn="just">
              <a:lnSpc>
                <a:spcPts val="3860"/>
              </a:lnSpc>
              <a:spcBef>
                <a:spcPct val="0"/>
              </a:spcBef>
            </a:pPr>
            <a:r>
              <a:rPr lang="en-US" sz="3299" b="1">
                <a:solidFill>
                  <a:srgbClr val="000000"/>
                </a:solidFill>
                <a:latin typeface="Canva Sans Bold"/>
                <a:ea typeface="Canva Sans Bold"/>
                <a:cs typeface="Canva Sans Bold"/>
                <a:sym typeface="Canva Sans Bold"/>
              </a:rPr>
              <a:t>Overcoming resistance to change</a:t>
            </a:r>
          </a:p>
          <a:p>
            <a:pPr algn="just">
              <a:lnSpc>
                <a:spcPts val="3158"/>
              </a:lnSpc>
              <a:spcBef>
                <a:spcPct val="0"/>
              </a:spcBef>
            </a:pPr>
            <a:endParaRPr lang="en-US" sz="3299" b="1">
              <a:solidFill>
                <a:srgbClr val="000000"/>
              </a:solidFill>
              <a:latin typeface="Canva Sans Bold"/>
              <a:ea typeface="Canva Sans Bold"/>
              <a:cs typeface="Canva Sans Bold"/>
              <a:sym typeface="Canva Sans Bold"/>
            </a:endParaRPr>
          </a:p>
          <a:p>
            <a:pPr algn="just">
              <a:lnSpc>
                <a:spcPts val="3158"/>
              </a:lnSpc>
              <a:spcBef>
                <a:spcPct val="0"/>
              </a:spcBef>
            </a:pPr>
            <a:r>
              <a:rPr lang="en-US" sz="2699">
                <a:solidFill>
                  <a:srgbClr val="000000"/>
                </a:solidFill>
                <a:latin typeface="Canva Sans"/>
                <a:ea typeface="Canva Sans"/>
                <a:cs typeface="Canva Sans"/>
                <a:sym typeface="Canva Sans"/>
              </a:rPr>
              <a:t>Change often creates fear, uncertainty, or resistance. But when we frame change as a project, it becomes structured and less threatening. A project always has a start and an end, with clear steps and results. This time-bound structure allows people to accept change more easily. Resistance is reduced because change is not seen as endless chaos, but as a manageable project with milestones.</a:t>
            </a:r>
          </a:p>
          <a:p>
            <a:pPr algn="just">
              <a:lnSpc>
                <a:spcPts val="3158"/>
              </a:lnSpc>
              <a:spcBef>
                <a:spcPct val="0"/>
              </a:spcBef>
            </a:pPr>
            <a:endParaRPr lang="en-US" sz="2699">
              <a:solidFill>
                <a:srgbClr val="000000"/>
              </a:solidFill>
              <a:latin typeface="Canva Sans"/>
              <a:ea typeface="Canva Sans"/>
              <a:cs typeface="Canva Sans"/>
              <a:sym typeface="Canva Sans"/>
            </a:endParaRPr>
          </a:p>
          <a:p>
            <a:pPr algn="just">
              <a:lnSpc>
                <a:spcPts val="3158"/>
              </a:lnSpc>
              <a:spcBef>
                <a:spcPct val="0"/>
              </a:spcBef>
            </a:pPr>
            <a:r>
              <a:rPr lang="en-US" sz="2699">
                <a:solidFill>
                  <a:srgbClr val="000000"/>
                </a:solidFill>
                <a:latin typeface="Canva Sans"/>
                <a:ea typeface="Canva Sans"/>
                <a:cs typeface="Canva Sans"/>
                <a:sym typeface="Canva Sans"/>
              </a:rPr>
              <a:t>Example: A family moving to a new city may feel anxious. But if the move is planned as a project — with a timeline (packing, transport, settling), resources (budget, contacts), and goals (new school, new job) — the transition becomes smoother and less stressful.</a:t>
            </a:r>
          </a:p>
          <a:p>
            <a:pPr algn="just">
              <a:lnSpc>
                <a:spcPts val="3158"/>
              </a:lnSpc>
              <a:spcBef>
                <a:spcPct val="0"/>
              </a:spcBef>
            </a:pPr>
            <a:endParaRPr lang="en-US" sz="2699">
              <a:solidFill>
                <a:srgbClr val="000000"/>
              </a:solidFill>
              <a:latin typeface="Canva Sans"/>
              <a:ea typeface="Canva Sans"/>
              <a:cs typeface="Canva Sans"/>
              <a:sym typeface="Canva Sans"/>
            </a:endParaRPr>
          </a:p>
          <a:p>
            <a:pPr algn="just">
              <a:lnSpc>
                <a:spcPts val="3158"/>
              </a:lnSpc>
              <a:spcBef>
                <a:spcPct val="0"/>
              </a:spcBef>
            </a:pPr>
            <a:r>
              <a:rPr lang="en-US" sz="2699">
                <a:solidFill>
                  <a:srgbClr val="000000"/>
                </a:solidFill>
                <a:latin typeface="Canva Sans"/>
                <a:ea typeface="Canva Sans"/>
                <a:cs typeface="Canva Sans"/>
                <a:sym typeface="Canva Sans"/>
              </a:rPr>
              <a:t>In this way, projectising life is not simply about management; it is about shaping ourselves into proactive, independent, and purposeful individuals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TextBox 9"/>
          <p:cNvSpPr txBox="1"/>
          <p:nvPr/>
        </p:nvSpPr>
        <p:spPr>
          <a:xfrm>
            <a:off x="1271695" y="850110"/>
            <a:ext cx="15439810" cy="2108202"/>
          </a:xfrm>
          <a:prstGeom prst="rect">
            <a:avLst/>
          </a:prstGeom>
        </p:spPr>
        <p:txBody>
          <a:bodyPr lIns="0" tIns="0" rIns="0" bIns="0" rtlCol="0" anchor="t">
            <a:spAutoFit/>
          </a:bodyPr>
          <a:lstStyle/>
          <a:p>
            <a:pPr algn="ctr">
              <a:lnSpc>
                <a:spcPts val="7700"/>
              </a:lnSpc>
            </a:pPr>
            <a:r>
              <a:rPr lang="en-US" sz="7000" b="1">
                <a:solidFill>
                  <a:srgbClr val="2012BF"/>
                </a:solidFill>
                <a:latin typeface="Futura Ultra-Bold"/>
                <a:ea typeface="Futura Ultra-Bold"/>
                <a:cs typeface="Futura Ultra-Bold"/>
                <a:sym typeface="Futura Ultra-Bold"/>
              </a:rPr>
              <a:t>PPPP INPUTS 2 MAIN FIGURES:</a:t>
            </a:r>
          </a:p>
          <a:p>
            <a:pPr algn="ctr">
              <a:lnSpc>
                <a:spcPts val="7700"/>
              </a:lnSpc>
            </a:pPr>
            <a:endParaRPr lang="en-US" sz="7000" b="1">
              <a:solidFill>
                <a:srgbClr val="2012BF"/>
              </a:solidFill>
              <a:latin typeface="Futura Ultra-Bold"/>
              <a:ea typeface="Futura Ultra-Bold"/>
              <a:cs typeface="Futura Ultra-Bold"/>
              <a:sym typeface="Futura Ultra-Bold"/>
            </a:endParaRPr>
          </a:p>
        </p:txBody>
      </p:sp>
      <p:grpSp>
        <p:nvGrpSpPr>
          <p:cNvPr id="10" name="Group 10"/>
          <p:cNvGrpSpPr/>
          <p:nvPr/>
        </p:nvGrpSpPr>
        <p:grpSpPr>
          <a:xfrm>
            <a:off x="5403203" y="5088348"/>
            <a:ext cx="3248903" cy="3248903"/>
            <a:chOff x="0" y="0"/>
            <a:chExt cx="1094415" cy="1094415"/>
          </a:xfrm>
        </p:grpSpPr>
        <p:sp>
          <p:nvSpPr>
            <p:cNvPr id="11" name="Freeform 11"/>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12" name="TextBox 12"/>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13" name="Group 13"/>
          <p:cNvGrpSpPr/>
          <p:nvPr/>
        </p:nvGrpSpPr>
        <p:grpSpPr>
          <a:xfrm>
            <a:off x="5284047" y="4946851"/>
            <a:ext cx="3248903" cy="3248903"/>
            <a:chOff x="0" y="0"/>
            <a:chExt cx="1094415" cy="1094415"/>
          </a:xfrm>
        </p:grpSpPr>
        <p:sp>
          <p:nvSpPr>
            <p:cNvPr id="14" name="Freeform 14"/>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15" name="TextBox 15"/>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sp>
        <p:nvSpPr>
          <p:cNvPr id="16" name="TextBox 16"/>
          <p:cNvSpPr txBox="1"/>
          <p:nvPr/>
        </p:nvSpPr>
        <p:spPr>
          <a:xfrm>
            <a:off x="5473052" y="5718856"/>
            <a:ext cx="2870893" cy="1702041"/>
          </a:xfrm>
          <a:prstGeom prst="rect">
            <a:avLst/>
          </a:prstGeom>
        </p:spPr>
        <p:txBody>
          <a:bodyPr lIns="0" tIns="0" rIns="0" bIns="0" rtlCol="0" anchor="t">
            <a:spAutoFit/>
          </a:bodyPr>
          <a:lstStyle/>
          <a:p>
            <a:pPr algn="ctr">
              <a:lnSpc>
                <a:spcPts val="4854"/>
              </a:lnSpc>
            </a:pPr>
            <a:r>
              <a:rPr lang="en-US" sz="3467">
                <a:solidFill>
                  <a:srgbClr val="000000"/>
                </a:solidFill>
                <a:latin typeface="Roboto"/>
                <a:ea typeface="Roboto"/>
                <a:cs typeface="Roboto"/>
                <a:sym typeface="Roboto"/>
              </a:rPr>
              <a:t>1.Difference of Levels</a:t>
            </a:r>
          </a:p>
          <a:p>
            <a:pPr marL="0" lvl="0" indent="0" algn="ctr">
              <a:lnSpc>
                <a:spcPts val="3869"/>
              </a:lnSpc>
            </a:pPr>
            <a:endParaRPr lang="en-US" sz="3467">
              <a:solidFill>
                <a:srgbClr val="000000"/>
              </a:solidFill>
              <a:latin typeface="Roboto"/>
              <a:ea typeface="Roboto"/>
              <a:cs typeface="Roboto"/>
              <a:sym typeface="Roboto"/>
            </a:endParaRPr>
          </a:p>
        </p:txBody>
      </p:sp>
      <p:grpSp>
        <p:nvGrpSpPr>
          <p:cNvPr id="17" name="Group 17"/>
          <p:cNvGrpSpPr/>
          <p:nvPr/>
        </p:nvGrpSpPr>
        <p:grpSpPr>
          <a:xfrm>
            <a:off x="5454164" y="4733039"/>
            <a:ext cx="427624" cy="427624"/>
            <a:chOff x="0" y="0"/>
            <a:chExt cx="144048" cy="144048"/>
          </a:xfrm>
        </p:grpSpPr>
        <p:sp>
          <p:nvSpPr>
            <p:cNvPr id="18" name="Freeform 18"/>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19" name="TextBox 19"/>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grpSp>
        <p:nvGrpSpPr>
          <p:cNvPr id="20" name="Group 20"/>
          <p:cNvGrpSpPr/>
          <p:nvPr/>
        </p:nvGrpSpPr>
        <p:grpSpPr>
          <a:xfrm>
            <a:off x="9755049" y="5088348"/>
            <a:ext cx="3248903" cy="3248903"/>
            <a:chOff x="0" y="0"/>
            <a:chExt cx="1094415" cy="1094415"/>
          </a:xfrm>
        </p:grpSpPr>
        <p:sp>
          <p:nvSpPr>
            <p:cNvPr id="21" name="Freeform 21"/>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22" name="TextBox 22"/>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3" name="Group 23"/>
          <p:cNvGrpSpPr/>
          <p:nvPr/>
        </p:nvGrpSpPr>
        <p:grpSpPr>
          <a:xfrm>
            <a:off x="9635894" y="4946851"/>
            <a:ext cx="3248903" cy="3248903"/>
            <a:chOff x="0" y="0"/>
            <a:chExt cx="1094415" cy="1094415"/>
          </a:xfrm>
        </p:grpSpPr>
        <p:sp>
          <p:nvSpPr>
            <p:cNvPr id="24" name="Freeform 24"/>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25" name="TextBox 25"/>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6" name="Group 26"/>
          <p:cNvGrpSpPr/>
          <p:nvPr/>
        </p:nvGrpSpPr>
        <p:grpSpPr>
          <a:xfrm>
            <a:off x="9806010" y="4733039"/>
            <a:ext cx="427624" cy="427624"/>
            <a:chOff x="0" y="0"/>
            <a:chExt cx="144048" cy="144048"/>
          </a:xfrm>
        </p:grpSpPr>
        <p:sp>
          <p:nvSpPr>
            <p:cNvPr id="27" name="Freeform 27"/>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28" name="TextBox 28"/>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sp>
        <p:nvSpPr>
          <p:cNvPr id="29" name="TextBox 29"/>
          <p:cNvSpPr txBox="1"/>
          <p:nvPr/>
        </p:nvSpPr>
        <p:spPr>
          <a:xfrm>
            <a:off x="9824899" y="5885117"/>
            <a:ext cx="2870893" cy="1790340"/>
          </a:xfrm>
          <a:prstGeom prst="rect">
            <a:avLst/>
          </a:prstGeom>
        </p:spPr>
        <p:txBody>
          <a:bodyPr lIns="0" tIns="0" rIns="0" bIns="0" rtlCol="0" anchor="t">
            <a:spAutoFit/>
          </a:bodyPr>
          <a:lstStyle/>
          <a:p>
            <a:pPr algn="ctr">
              <a:lnSpc>
                <a:spcPts val="4744"/>
              </a:lnSpc>
            </a:pPr>
            <a:r>
              <a:rPr lang="en-US" sz="3389">
                <a:solidFill>
                  <a:srgbClr val="000000"/>
                </a:solidFill>
                <a:latin typeface="Roboto"/>
                <a:ea typeface="Roboto"/>
                <a:cs typeface="Roboto"/>
                <a:sym typeface="Roboto"/>
              </a:rPr>
              <a:t>2. Project Supporter</a:t>
            </a:r>
          </a:p>
          <a:p>
            <a:pPr marL="0" lvl="0" indent="0" algn="ctr">
              <a:lnSpc>
                <a:spcPts val="4744"/>
              </a:lnSpc>
            </a:pPr>
            <a:endParaRPr lang="en-US" sz="3389">
              <a:solidFill>
                <a:srgbClr val="000000"/>
              </a:solidFill>
              <a:latin typeface="Roboto"/>
              <a:ea typeface="Roboto"/>
              <a:cs typeface="Roboto"/>
              <a:sym typeface="Roboto"/>
            </a:endParaRPr>
          </a:p>
        </p:txBody>
      </p:sp>
      <p:sp>
        <p:nvSpPr>
          <p:cNvPr id="30" name="TextBox 30"/>
          <p:cNvSpPr txBox="1"/>
          <p:nvPr/>
        </p:nvSpPr>
        <p:spPr>
          <a:xfrm>
            <a:off x="2068760" y="2379169"/>
            <a:ext cx="14150479" cy="1144906"/>
          </a:xfrm>
          <a:prstGeom prst="rect">
            <a:avLst/>
          </a:prstGeom>
        </p:spPr>
        <p:txBody>
          <a:bodyPr lIns="0" tIns="0" rIns="0" bIns="0" rtlCol="0" anchor="t">
            <a:spAutoFit/>
          </a:bodyPr>
          <a:lstStyle/>
          <a:p>
            <a:pPr algn="ctr">
              <a:lnSpc>
                <a:spcPts val="4619"/>
              </a:lnSpc>
            </a:pPr>
            <a:r>
              <a:rPr lang="en-US" sz="3299" b="1">
                <a:solidFill>
                  <a:srgbClr val="000000"/>
                </a:solidFill>
                <a:latin typeface="Canva Sans Bold"/>
                <a:ea typeface="Canva Sans Bold"/>
                <a:cs typeface="Canva Sans Bold"/>
                <a:sym typeface="Canva Sans Bold"/>
              </a:rPr>
              <a:t>They are unique ones and give to the Project strengths and flexibility.</a:t>
            </a:r>
          </a:p>
          <a:p>
            <a:pPr algn="ctr">
              <a:lnSpc>
                <a:spcPts val="4619"/>
              </a:lnSpc>
            </a:pPr>
            <a:r>
              <a:rPr lang="en-US" sz="3299" b="1">
                <a:solidFill>
                  <a:srgbClr val="000000"/>
                </a:solidFill>
                <a:latin typeface="Canva Sans Bold"/>
                <a:ea typeface="Canva Sans Bold"/>
                <a:cs typeface="Canva Sans Bold"/>
                <a:sym typeface="Canva Sans Bold"/>
              </a:rPr>
              <a:t>Determination and estimation of them is a peace ofart and lays to PM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D037E6-E2CF-4A8D-A99D-68724D04C2FA}"/>
              </a:ext>
            </a:extLst>
          </p:cNvPr>
          <p:cNvSpPr txBox="1"/>
          <p:nvPr/>
        </p:nvSpPr>
        <p:spPr>
          <a:xfrm>
            <a:off x="1524000" y="1409700"/>
            <a:ext cx="14859000" cy="6986528"/>
          </a:xfrm>
          <a:prstGeom prst="rect">
            <a:avLst/>
          </a:prstGeom>
          <a:noFill/>
        </p:spPr>
        <p:txBody>
          <a:bodyPr wrap="square">
            <a:spAutoFit/>
          </a:bodyPr>
          <a:lstStyle/>
          <a:p>
            <a:r>
              <a:rPr lang="en-US" sz="2800" dirty="0"/>
              <a:t>(</a:t>
            </a:r>
            <a:r>
              <a:rPr lang="en-US" sz="2800" dirty="0" err="1"/>
              <a:t>CDoL</a:t>
            </a:r>
            <a:r>
              <a:rPr lang="en-US" sz="2800" dirty="0"/>
              <a:t>) Coefficient of </a:t>
            </a:r>
            <a:r>
              <a:rPr lang="en-US" sz="2800" dirty="0" err="1"/>
              <a:t>DoL.</a:t>
            </a:r>
            <a:r>
              <a:rPr lang="en-US" sz="2800" dirty="0"/>
              <a:t> It is calculated by dividing the number of the people interested in the P. per 1000 population in the respective place of P. implementation (optimal scenario) or even more precisely per 1000 potential clients from the total population of the place (pessimistic scenario). The calculation can be done by both methods, depending on the available statistics.</a:t>
            </a:r>
          </a:p>
          <a:p>
            <a:r>
              <a:rPr lang="en-US" sz="2800" dirty="0"/>
              <a:t>This is a simplified calculation of the </a:t>
            </a:r>
            <a:r>
              <a:rPr lang="en-US" sz="2800" dirty="0" err="1"/>
              <a:t>CDoL</a:t>
            </a:r>
            <a:r>
              <a:rPr lang="en-US" sz="2800" dirty="0"/>
              <a:t>. In order to provide an easier calculation, this method of calculation will be applied in the examples that follow.</a:t>
            </a:r>
          </a:p>
          <a:p>
            <a:r>
              <a:rPr lang="en-US" sz="2800" dirty="0"/>
              <a:t>The complex calculation of the </a:t>
            </a:r>
            <a:r>
              <a:rPr lang="en-US" sz="2800" dirty="0" err="1"/>
              <a:t>CDoL</a:t>
            </a:r>
            <a:r>
              <a:rPr lang="en-US" sz="2800" dirty="0"/>
              <a:t> includes two elements:</a:t>
            </a:r>
          </a:p>
          <a:p>
            <a:r>
              <a:rPr lang="en-US" sz="2800" dirty="0"/>
              <a:t>-	Arithmetic step of accumulation in a larger population;</a:t>
            </a:r>
          </a:p>
          <a:p>
            <a:r>
              <a:rPr lang="en-US" sz="2800" dirty="0"/>
              <a:t>∑x = {y/1000 + y/x}</a:t>
            </a:r>
          </a:p>
          <a:p>
            <a:r>
              <a:rPr lang="en-US" sz="2800" dirty="0"/>
              <a:t>Х – the number of multiples of the population up to 1,000. with a population of 10,000; x = 10;</a:t>
            </a:r>
          </a:p>
          <a:p>
            <a:r>
              <a:rPr lang="en-US" sz="2800" dirty="0"/>
              <a:t>У – the number of people interested in the project per 1000</a:t>
            </a:r>
          </a:p>
          <a:p>
            <a:r>
              <a:rPr lang="en-US" sz="2800" dirty="0"/>
              <a:t>-	Qualitative indicators of accumulation in a larger population, which affect the </a:t>
            </a:r>
            <a:r>
              <a:rPr lang="en-US" sz="2800" dirty="0" err="1"/>
              <a:t>CDoL</a:t>
            </a:r>
            <a:r>
              <a:rPr lang="en-US" sz="2800" dirty="0"/>
              <a:t>.</a:t>
            </a:r>
          </a:p>
          <a:p>
            <a:r>
              <a:rPr lang="en-US" sz="2800" dirty="0"/>
              <a:t>∑x = {y/1000 + y/x + К}</a:t>
            </a:r>
          </a:p>
          <a:p>
            <a:r>
              <a:rPr lang="en-US" sz="2800" dirty="0"/>
              <a:t>Qualitative accumulation rate per 1000 population. </a:t>
            </a:r>
          </a:p>
          <a:p>
            <a:r>
              <a:rPr lang="en-US" sz="2800" dirty="0" err="1"/>
              <a:t>DoL</a:t>
            </a:r>
            <a:r>
              <a:rPr lang="en-US" sz="2800" dirty="0"/>
              <a:t>=</a:t>
            </a:r>
            <a:r>
              <a:rPr lang="en-US" sz="2800" dirty="0" err="1"/>
              <a:t>InV</a:t>
            </a:r>
            <a:r>
              <a:rPr lang="en-US" sz="2800" dirty="0"/>
              <a:t> x </a:t>
            </a:r>
            <a:r>
              <a:rPr lang="en-US" sz="2800" dirty="0" err="1"/>
              <a:t>CDoL</a:t>
            </a:r>
            <a:r>
              <a:rPr lang="en-US" sz="2800" dirty="0"/>
              <a:t>. </a:t>
            </a:r>
            <a:r>
              <a:rPr lang="en-US" sz="2800" dirty="0" err="1"/>
              <a:t>DoL.</a:t>
            </a:r>
            <a:r>
              <a:rPr lang="en-US" sz="2800" dirty="0"/>
              <a:t> We obtain the vertical along the </a:t>
            </a:r>
            <a:r>
              <a:rPr lang="en-US" sz="2800" dirty="0" err="1"/>
              <a:t>DoL</a:t>
            </a:r>
            <a:r>
              <a:rPr lang="en-US" sz="2800" dirty="0"/>
              <a:t> coordinate axis for each P. Linear quantity (</a:t>
            </a:r>
            <a:r>
              <a:rPr lang="en-US" sz="2800" dirty="0" err="1"/>
              <a:t>DoL</a:t>
            </a:r>
            <a:r>
              <a:rPr lang="en-US" sz="2800" dirty="0"/>
              <a:t> P1, </a:t>
            </a:r>
            <a:r>
              <a:rPr lang="en-US" sz="2800" dirty="0" err="1"/>
              <a:t>DoL</a:t>
            </a:r>
            <a:r>
              <a:rPr lang="en-US" sz="2800" dirty="0"/>
              <a:t> P2…. </a:t>
            </a:r>
            <a:r>
              <a:rPr lang="en-US" sz="2800" dirty="0" err="1"/>
              <a:t>DoL</a:t>
            </a:r>
            <a:r>
              <a:rPr lang="en-US" sz="2800" dirty="0"/>
              <a:t> P6 on the graph)</a:t>
            </a:r>
          </a:p>
        </p:txBody>
      </p:sp>
    </p:spTree>
    <p:extLst>
      <p:ext uri="{BB962C8B-B14F-4D97-AF65-F5344CB8AC3E}">
        <p14:creationId xmlns:p14="http://schemas.microsoft.com/office/powerpoint/2010/main" val="1470750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DA9AC7-B1E3-4058-A4FB-A00B292887DC}"/>
              </a:ext>
            </a:extLst>
          </p:cNvPr>
          <p:cNvPicPr>
            <a:picLocks noChangeAspect="1"/>
          </p:cNvPicPr>
          <p:nvPr/>
        </p:nvPicPr>
        <p:blipFill>
          <a:blip r:embed="rId2"/>
          <a:stretch>
            <a:fillRect/>
          </a:stretch>
        </p:blipFill>
        <p:spPr>
          <a:xfrm>
            <a:off x="3048000" y="778002"/>
            <a:ext cx="9753600" cy="9242298"/>
          </a:xfrm>
          <a:prstGeom prst="rect">
            <a:avLst/>
          </a:prstGeom>
        </p:spPr>
      </p:pic>
    </p:spTree>
    <p:extLst>
      <p:ext uri="{BB962C8B-B14F-4D97-AF65-F5344CB8AC3E}">
        <p14:creationId xmlns:p14="http://schemas.microsoft.com/office/powerpoint/2010/main" val="2005082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Freeform 9"/>
          <p:cNvSpPr/>
          <p:nvPr/>
        </p:nvSpPr>
        <p:spPr>
          <a:xfrm>
            <a:off x="1842494" y="2720313"/>
            <a:ext cx="8267201" cy="5487355"/>
          </a:xfrm>
          <a:custGeom>
            <a:avLst/>
            <a:gdLst/>
            <a:ahLst/>
            <a:cxnLst/>
            <a:rect l="l" t="t" r="r" b="b"/>
            <a:pathLst>
              <a:path w="8267201" h="5487355">
                <a:moveTo>
                  <a:pt x="0" y="0"/>
                </a:moveTo>
                <a:lnTo>
                  <a:pt x="8267201" y="0"/>
                </a:lnTo>
                <a:lnTo>
                  <a:pt x="8267201" y="5487354"/>
                </a:lnTo>
                <a:lnTo>
                  <a:pt x="0" y="54873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101689" y="2949217"/>
            <a:ext cx="1158602" cy="1158602"/>
          </a:xfrm>
          <a:custGeom>
            <a:avLst/>
            <a:gdLst/>
            <a:ahLst/>
            <a:cxnLst/>
            <a:rect l="l" t="t" r="r" b="b"/>
            <a:pathLst>
              <a:path w="1158602" h="1158602">
                <a:moveTo>
                  <a:pt x="0" y="0"/>
                </a:moveTo>
                <a:lnTo>
                  <a:pt x="1158602" y="0"/>
                </a:lnTo>
                <a:lnTo>
                  <a:pt x="1158602" y="1158602"/>
                </a:lnTo>
                <a:lnTo>
                  <a:pt x="0" y="115860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2040017" y="4888021"/>
            <a:ext cx="1213683" cy="1213683"/>
          </a:xfrm>
          <a:custGeom>
            <a:avLst/>
            <a:gdLst/>
            <a:ahLst/>
            <a:cxnLst/>
            <a:rect l="l" t="t" r="r" b="b"/>
            <a:pathLst>
              <a:path w="1213683" h="1213683">
                <a:moveTo>
                  <a:pt x="0" y="0"/>
                </a:moveTo>
                <a:lnTo>
                  <a:pt x="1213683" y="0"/>
                </a:lnTo>
                <a:lnTo>
                  <a:pt x="1213683" y="1213683"/>
                </a:lnTo>
                <a:lnTo>
                  <a:pt x="0" y="121368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a:off x="2089992" y="6808205"/>
            <a:ext cx="1151832" cy="1151832"/>
          </a:xfrm>
          <a:custGeom>
            <a:avLst/>
            <a:gdLst/>
            <a:ahLst/>
            <a:cxnLst/>
            <a:rect l="l" t="t" r="r" b="b"/>
            <a:pathLst>
              <a:path w="1151832" h="1151832">
                <a:moveTo>
                  <a:pt x="0" y="0"/>
                </a:moveTo>
                <a:lnTo>
                  <a:pt x="1151833" y="0"/>
                </a:lnTo>
                <a:lnTo>
                  <a:pt x="1151833" y="1151832"/>
                </a:lnTo>
                <a:lnTo>
                  <a:pt x="0" y="115183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TextBox 13"/>
          <p:cNvSpPr txBox="1"/>
          <p:nvPr/>
        </p:nvSpPr>
        <p:spPr>
          <a:xfrm>
            <a:off x="1271695" y="869160"/>
            <a:ext cx="16658491" cy="889003"/>
          </a:xfrm>
          <a:prstGeom prst="rect">
            <a:avLst/>
          </a:prstGeom>
        </p:spPr>
        <p:txBody>
          <a:bodyPr lIns="0" tIns="0" rIns="0" bIns="0" rtlCol="0" anchor="t">
            <a:spAutoFit/>
          </a:bodyPr>
          <a:lstStyle/>
          <a:p>
            <a:pPr algn="ctr">
              <a:lnSpc>
                <a:spcPts val="6050"/>
              </a:lnSpc>
            </a:pPr>
            <a:r>
              <a:rPr lang="en-US" sz="5500" b="1">
                <a:solidFill>
                  <a:srgbClr val="2012BF"/>
                </a:solidFill>
                <a:latin typeface="Futura Ultra-Bold"/>
                <a:ea typeface="Futura Ultra-Bold"/>
                <a:cs typeface="Futura Ultra-Bold"/>
                <a:sym typeface="Futura Ultra-Bold"/>
              </a:rPr>
              <a:t>3 PHASES OF THE PROJECT’S REALIZATION</a:t>
            </a:r>
          </a:p>
        </p:txBody>
      </p:sp>
      <p:sp>
        <p:nvSpPr>
          <p:cNvPr id="14" name="TextBox 14"/>
          <p:cNvSpPr txBox="1"/>
          <p:nvPr/>
        </p:nvSpPr>
        <p:spPr>
          <a:xfrm>
            <a:off x="4737100" y="2977362"/>
            <a:ext cx="4406900" cy="889635"/>
          </a:xfrm>
          <a:prstGeom prst="rect">
            <a:avLst/>
          </a:prstGeom>
        </p:spPr>
        <p:txBody>
          <a:bodyPr lIns="0" tIns="0" rIns="0" bIns="0" rtlCol="0" anchor="t">
            <a:spAutoFit/>
          </a:bodyPr>
          <a:lstStyle/>
          <a:p>
            <a:pPr algn="ctr">
              <a:lnSpc>
                <a:spcPts val="7019"/>
              </a:lnSpc>
              <a:spcBef>
                <a:spcPct val="0"/>
              </a:spcBef>
            </a:pPr>
            <a:r>
              <a:rPr lang="en-US" sz="5999" b="1">
                <a:solidFill>
                  <a:srgbClr val="FFFFFF"/>
                </a:solidFill>
                <a:latin typeface="Canva Sans Bold"/>
                <a:ea typeface="Canva Sans Bold"/>
                <a:cs typeface="Canva Sans Bold"/>
                <a:sym typeface="Canva Sans Bold"/>
              </a:rPr>
              <a:t>Preparation</a:t>
            </a:r>
          </a:p>
        </p:txBody>
      </p:sp>
      <p:sp>
        <p:nvSpPr>
          <p:cNvPr id="15" name="TextBox 15"/>
          <p:cNvSpPr txBox="1"/>
          <p:nvPr/>
        </p:nvSpPr>
        <p:spPr>
          <a:xfrm>
            <a:off x="4779367" y="4907071"/>
            <a:ext cx="3695899" cy="889635"/>
          </a:xfrm>
          <a:prstGeom prst="rect">
            <a:avLst/>
          </a:prstGeom>
        </p:spPr>
        <p:txBody>
          <a:bodyPr lIns="0" tIns="0" rIns="0" bIns="0" rtlCol="0" anchor="t">
            <a:spAutoFit/>
          </a:bodyPr>
          <a:lstStyle/>
          <a:p>
            <a:pPr algn="ctr">
              <a:lnSpc>
                <a:spcPts val="7019"/>
              </a:lnSpc>
              <a:spcBef>
                <a:spcPct val="0"/>
              </a:spcBef>
            </a:pPr>
            <a:r>
              <a:rPr lang="en-US" sz="5999" b="1">
                <a:solidFill>
                  <a:srgbClr val="FFFFFF"/>
                </a:solidFill>
                <a:latin typeface="Canva Sans Bold"/>
                <a:ea typeface="Canva Sans Bold"/>
                <a:cs typeface="Canva Sans Bold"/>
                <a:sym typeface="Canva Sans Bold"/>
              </a:rPr>
              <a:t>Execution</a:t>
            </a:r>
          </a:p>
        </p:txBody>
      </p:sp>
      <p:sp>
        <p:nvSpPr>
          <p:cNvPr id="16" name="TextBox 16"/>
          <p:cNvSpPr txBox="1"/>
          <p:nvPr/>
        </p:nvSpPr>
        <p:spPr>
          <a:xfrm>
            <a:off x="4779367" y="6836780"/>
            <a:ext cx="4322366" cy="889635"/>
          </a:xfrm>
          <a:prstGeom prst="rect">
            <a:avLst/>
          </a:prstGeom>
        </p:spPr>
        <p:txBody>
          <a:bodyPr lIns="0" tIns="0" rIns="0" bIns="0" rtlCol="0" anchor="t">
            <a:spAutoFit/>
          </a:bodyPr>
          <a:lstStyle/>
          <a:p>
            <a:pPr algn="ctr">
              <a:lnSpc>
                <a:spcPts val="7019"/>
              </a:lnSpc>
              <a:spcBef>
                <a:spcPct val="0"/>
              </a:spcBef>
            </a:pPr>
            <a:r>
              <a:rPr lang="en-US" sz="5999" b="1">
                <a:solidFill>
                  <a:srgbClr val="FFFFFF"/>
                </a:solidFill>
                <a:latin typeface="Canva Sans Bold"/>
                <a:ea typeface="Canva Sans Bold"/>
                <a:cs typeface="Canva Sans Bold"/>
                <a:sym typeface="Canva Sans Bold"/>
              </a:rPr>
              <a:t>Finalization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TextBox 9"/>
          <p:cNvSpPr txBox="1"/>
          <p:nvPr/>
        </p:nvSpPr>
        <p:spPr>
          <a:xfrm>
            <a:off x="1424095" y="1034555"/>
            <a:ext cx="15439810" cy="1136652"/>
          </a:xfrm>
          <a:prstGeom prst="rect">
            <a:avLst/>
          </a:prstGeom>
        </p:spPr>
        <p:txBody>
          <a:bodyPr lIns="0" tIns="0" rIns="0" bIns="0" rtlCol="0" anchor="t">
            <a:spAutoFit/>
          </a:bodyPr>
          <a:lstStyle/>
          <a:p>
            <a:pPr algn="ctr">
              <a:lnSpc>
                <a:spcPts val="7700"/>
              </a:lnSpc>
            </a:pPr>
            <a:r>
              <a:rPr lang="en-US" sz="7000" b="1">
                <a:solidFill>
                  <a:srgbClr val="2012BF"/>
                </a:solidFill>
                <a:latin typeface="Futura Ultra-Bold"/>
                <a:ea typeface="Futura Ultra-Bold"/>
                <a:cs typeface="Futura Ultra-Bold"/>
                <a:sym typeface="Futura Ultra-Bold"/>
              </a:rPr>
              <a:t>PREPARATION PHASE OVERVIEW</a:t>
            </a:r>
          </a:p>
        </p:txBody>
      </p:sp>
      <p:grpSp>
        <p:nvGrpSpPr>
          <p:cNvPr id="10" name="Group 10"/>
          <p:cNvGrpSpPr/>
          <p:nvPr/>
        </p:nvGrpSpPr>
        <p:grpSpPr>
          <a:xfrm>
            <a:off x="1576495" y="3781425"/>
            <a:ext cx="4155358" cy="4155358"/>
            <a:chOff x="0" y="0"/>
            <a:chExt cx="1094415" cy="1094415"/>
          </a:xfrm>
        </p:grpSpPr>
        <p:sp>
          <p:nvSpPr>
            <p:cNvPr id="11" name="Freeform 11"/>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12" name="TextBox 12"/>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13" name="Group 13"/>
          <p:cNvGrpSpPr/>
          <p:nvPr/>
        </p:nvGrpSpPr>
        <p:grpSpPr>
          <a:xfrm>
            <a:off x="1424095" y="3600450"/>
            <a:ext cx="4155358" cy="4155358"/>
            <a:chOff x="0" y="0"/>
            <a:chExt cx="1094415" cy="1094415"/>
          </a:xfrm>
        </p:grpSpPr>
        <p:sp>
          <p:nvSpPr>
            <p:cNvPr id="14" name="Freeform 14"/>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15" name="TextBox 15"/>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sp>
        <p:nvSpPr>
          <p:cNvPr id="16" name="TextBox 16"/>
          <p:cNvSpPr txBox="1"/>
          <p:nvPr/>
        </p:nvSpPr>
        <p:spPr>
          <a:xfrm>
            <a:off x="1665833" y="4618632"/>
            <a:ext cx="3671882" cy="2414270"/>
          </a:xfrm>
          <a:prstGeom prst="rect">
            <a:avLst/>
          </a:prstGeom>
        </p:spPr>
        <p:txBody>
          <a:bodyPr lIns="0" tIns="0" rIns="0" bIns="0" rtlCol="0" anchor="t">
            <a:spAutoFit/>
          </a:bodyPr>
          <a:lstStyle/>
          <a:p>
            <a:pPr algn="ctr">
              <a:lnSpc>
                <a:spcPts val="4059"/>
              </a:lnSpc>
            </a:pPr>
            <a:r>
              <a:rPr lang="en-US" sz="2899">
                <a:solidFill>
                  <a:srgbClr val="000000"/>
                </a:solidFill>
                <a:latin typeface="Roboto"/>
                <a:ea typeface="Roboto"/>
                <a:cs typeface="Roboto"/>
                <a:sym typeface="Roboto"/>
              </a:rPr>
              <a:t>The 'passport' of the project includes its name, goals, and timeline.</a:t>
            </a:r>
          </a:p>
          <a:p>
            <a:pPr marL="0" lvl="0" indent="0" algn="ctr">
              <a:lnSpc>
                <a:spcPts val="2800"/>
              </a:lnSpc>
            </a:pPr>
            <a:endParaRPr lang="en-US" sz="2899">
              <a:solidFill>
                <a:srgbClr val="000000"/>
              </a:solidFill>
              <a:latin typeface="Roboto"/>
              <a:ea typeface="Roboto"/>
              <a:cs typeface="Roboto"/>
              <a:sym typeface="Roboto"/>
            </a:endParaRPr>
          </a:p>
        </p:txBody>
      </p:sp>
      <p:grpSp>
        <p:nvGrpSpPr>
          <p:cNvPr id="17" name="Group 17"/>
          <p:cNvGrpSpPr/>
          <p:nvPr/>
        </p:nvGrpSpPr>
        <p:grpSpPr>
          <a:xfrm>
            <a:off x="1641674" y="3326984"/>
            <a:ext cx="546933" cy="546933"/>
            <a:chOff x="0" y="0"/>
            <a:chExt cx="144048" cy="144048"/>
          </a:xfrm>
        </p:grpSpPr>
        <p:sp>
          <p:nvSpPr>
            <p:cNvPr id="18" name="Freeform 18"/>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19" name="TextBox 19"/>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grpSp>
        <p:nvGrpSpPr>
          <p:cNvPr id="20" name="Group 20"/>
          <p:cNvGrpSpPr/>
          <p:nvPr/>
        </p:nvGrpSpPr>
        <p:grpSpPr>
          <a:xfrm>
            <a:off x="7142521" y="3781425"/>
            <a:ext cx="4155358" cy="4155358"/>
            <a:chOff x="0" y="0"/>
            <a:chExt cx="1094415" cy="1094415"/>
          </a:xfrm>
        </p:grpSpPr>
        <p:sp>
          <p:nvSpPr>
            <p:cNvPr id="21" name="Freeform 21"/>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22" name="TextBox 22"/>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3" name="Group 23"/>
          <p:cNvGrpSpPr/>
          <p:nvPr/>
        </p:nvGrpSpPr>
        <p:grpSpPr>
          <a:xfrm>
            <a:off x="6990121" y="3600450"/>
            <a:ext cx="4155358" cy="4155358"/>
            <a:chOff x="0" y="0"/>
            <a:chExt cx="1094415" cy="1094415"/>
          </a:xfrm>
        </p:grpSpPr>
        <p:sp>
          <p:nvSpPr>
            <p:cNvPr id="24" name="Freeform 24"/>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25" name="TextBox 25"/>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6" name="Group 26"/>
          <p:cNvGrpSpPr/>
          <p:nvPr/>
        </p:nvGrpSpPr>
        <p:grpSpPr>
          <a:xfrm>
            <a:off x="7207700" y="3326984"/>
            <a:ext cx="546933" cy="546933"/>
            <a:chOff x="0" y="0"/>
            <a:chExt cx="144048" cy="144048"/>
          </a:xfrm>
        </p:grpSpPr>
        <p:sp>
          <p:nvSpPr>
            <p:cNvPr id="27" name="Freeform 27"/>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28" name="TextBox 28"/>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grpSp>
        <p:nvGrpSpPr>
          <p:cNvPr id="29" name="Group 29"/>
          <p:cNvGrpSpPr/>
          <p:nvPr/>
        </p:nvGrpSpPr>
        <p:grpSpPr>
          <a:xfrm>
            <a:off x="12708547" y="3781425"/>
            <a:ext cx="4155358" cy="4155358"/>
            <a:chOff x="0" y="0"/>
            <a:chExt cx="1094415" cy="1094415"/>
          </a:xfrm>
        </p:grpSpPr>
        <p:sp>
          <p:nvSpPr>
            <p:cNvPr id="30" name="Freeform 30"/>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31" name="TextBox 31"/>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32" name="Group 32"/>
          <p:cNvGrpSpPr/>
          <p:nvPr/>
        </p:nvGrpSpPr>
        <p:grpSpPr>
          <a:xfrm>
            <a:off x="12556147" y="3600450"/>
            <a:ext cx="4155358" cy="4155358"/>
            <a:chOff x="0" y="0"/>
            <a:chExt cx="1094415" cy="1094415"/>
          </a:xfrm>
        </p:grpSpPr>
        <p:sp>
          <p:nvSpPr>
            <p:cNvPr id="33" name="Freeform 33"/>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34" name="TextBox 34"/>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35" name="Group 35"/>
          <p:cNvGrpSpPr/>
          <p:nvPr/>
        </p:nvGrpSpPr>
        <p:grpSpPr>
          <a:xfrm>
            <a:off x="12773727" y="3326984"/>
            <a:ext cx="546933" cy="546933"/>
            <a:chOff x="0" y="0"/>
            <a:chExt cx="144048" cy="144048"/>
          </a:xfrm>
        </p:grpSpPr>
        <p:sp>
          <p:nvSpPr>
            <p:cNvPr id="36" name="Freeform 36"/>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37" name="TextBox 37"/>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sp>
        <p:nvSpPr>
          <p:cNvPr id="38" name="TextBox 38"/>
          <p:cNvSpPr txBox="1"/>
          <p:nvPr/>
        </p:nvSpPr>
        <p:spPr>
          <a:xfrm>
            <a:off x="7231859" y="4821755"/>
            <a:ext cx="3671882" cy="1490980"/>
          </a:xfrm>
          <a:prstGeom prst="rect">
            <a:avLst/>
          </a:prstGeom>
        </p:spPr>
        <p:txBody>
          <a:bodyPr lIns="0" tIns="0" rIns="0" bIns="0" rtlCol="0" anchor="t">
            <a:spAutoFit/>
          </a:bodyPr>
          <a:lstStyle/>
          <a:p>
            <a:pPr marL="0" lvl="0" indent="0" algn="ctr">
              <a:lnSpc>
                <a:spcPts val="3919"/>
              </a:lnSpc>
            </a:pPr>
            <a:r>
              <a:rPr lang="en-US" sz="2799">
                <a:solidFill>
                  <a:srgbClr val="000000"/>
                </a:solidFill>
                <a:latin typeface="Roboto"/>
                <a:ea typeface="Roboto"/>
                <a:cs typeface="Roboto"/>
                <a:sym typeface="Roboto"/>
              </a:rPr>
              <a:t>Defining clear tasks and expected results is essential</a:t>
            </a:r>
          </a:p>
        </p:txBody>
      </p:sp>
      <p:sp>
        <p:nvSpPr>
          <p:cNvPr id="39" name="TextBox 39"/>
          <p:cNvSpPr txBox="1"/>
          <p:nvPr/>
        </p:nvSpPr>
        <p:spPr>
          <a:xfrm>
            <a:off x="12859979" y="4949149"/>
            <a:ext cx="3671882" cy="1986280"/>
          </a:xfrm>
          <a:prstGeom prst="rect">
            <a:avLst/>
          </a:prstGeom>
        </p:spPr>
        <p:txBody>
          <a:bodyPr lIns="0" tIns="0" rIns="0" bIns="0" rtlCol="0" anchor="t">
            <a:spAutoFit/>
          </a:bodyPr>
          <a:lstStyle/>
          <a:p>
            <a:pPr algn="ctr">
              <a:lnSpc>
                <a:spcPts val="3919"/>
              </a:lnSpc>
            </a:pPr>
            <a:r>
              <a:rPr lang="en-US" sz="2799">
                <a:solidFill>
                  <a:srgbClr val="000000"/>
                </a:solidFill>
                <a:latin typeface="Roboto"/>
                <a:ea typeface="Roboto"/>
                <a:cs typeface="Roboto"/>
                <a:sym typeface="Roboto"/>
              </a:rPr>
              <a:t>No project should begin without this blueprint.</a:t>
            </a:r>
          </a:p>
          <a:p>
            <a:pPr marL="0" lvl="0" indent="0" algn="ctr">
              <a:lnSpc>
                <a:spcPts val="3919"/>
              </a:lnSpc>
            </a:pPr>
            <a:endParaRPr lang="en-US" sz="2799">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TextBox 9"/>
          <p:cNvSpPr txBox="1"/>
          <p:nvPr/>
        </p:nvSpPr>
        <p:spPr>
          <a:xfrm>
            <a:off x="1424095" y="654925"/>
            <a:ext cx="15439810" cy="1591313"/>
          </a:xfrm>
          <a:prstGeom prst="rect">
            <a:avLst/>
          </a:prstGeom>
        </p:spPr>
        <p:txBody>
          <a:bodyPr lIns="0" tIns="0" rIns="0" bIns="0" rtlCol="0" anchor="t">
            <a:spAutoFit/>
          </a:bodyPr>
          <a:lstStyle/>
          <a:p>
            <a:pPr algn="ctr">
              <a:lnSpc>
                <a:spcPts val="5830"/>
              </a:lnSpc>
            </a:pPr>
            <a:r>
              <a:rPr lang="en-US" sz="5300" b="1">
                <a:solidFill>
                  <a:srgbClr val="2012BF"/>
                </a:solidFill>
                <a:latin typeface="Futura Ultra-Bold"/>
                <a:ea typeface="Futura Ultra-Bold"/>
                <a:cs typeface="Futura Ultra-Bold"/>
                <a:sym typeface="Futura Ultra-Bold"/>
              </a:rPr>
              <a:t>PREPARATION PHASE OVERVIEW (PASSPORT OF THE PROJECT)</a:t>
            </a:r>
          </a:p>
        </p:txBody>
      </p:sp>
      <p:sp>
        <p:nvSpPr>
          <p:cNvPr id="10" name="TextBox 10"/>
          <p:cNvSpPr txBox="1"/>
          <p:nvPr/>
        </p:nvSpPr>
        <p:spPr>
          <a:xfrm>
            <a:off x="1243313" y="2787785"/>
            <a:ext cx="14968511" cy="4804791"/>
          </a:xfrm>
          <a:prstGeom prst="rect">
            <a:avLst/>
          </a:prstGeom>
        </p:spPr>
        <p:txBody>
          <a:bodyPr lIns="0" tIns="0" rIns="0" bIns="0" rtlCol="0" anchor="t">
            <a:spAutoFit/>
          </a:bodyPr>
          <a:lstStyle/>
          <a:p>
            <a:pPr algn="just">
              <a:lnSpc>
                <a:spcPts val="4211"/>
              </a:lnSpc>
              <a:spcBef>
                <a:spcPct val="0"/>
              </a:spcBef>
            </a:pPr>
            <a:r>
              <a:rPr lang="en-US" sz="3599">
                <a:solidFill>
                  <a:srgbClr val="2012BF"/>
                </a:solidFill>
                <a:latin typeface="Canva Sans"/>
                <a:ea typeface="Canva Sans"/>
                <a:cs typeface="Canva Sans"/>
                <a:sym typeface="Canva Sans"/>
              </a:rPr>
              <a:t>The preparation phase centers on the Project Passport — the precise description including project name, place, time, main goals and the PM. Preparation defines phases/sub-phases, key tasks, and resource allocation. It also begins the legal, institutional and social studies that will shape feasibility. Preparation finishes with the Business Plan (BP) that consolidates the legal study, economic justification, competitive analysis, SWOT/risk assessment and a three-scenario financial model (optimistic/realistic/pessimistic). This BP is the gatekeeper for 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TextBox 9"/>
          <p:cNvSpPr txBox="1"/>
          <p:nvPr/>
        </p:nvSpPr>
        <p:spPr>
          <a:xfrm>
            <a:off x="1424095" y="654925"/>
            <a:ext cx="15439810" cy="1591313"/>
          </a:xfrm>
          <a:prstGeom prst="rect">
            <a:avLst/>
          </a:prstGeom>
        </p:spPr>
        <p:txBody>
          <a:bodyPr lIns="0" tIns="0" rIns="0" bIns="0" rtlCol="0" anchor="t">
            <a:spAutoFit/>
          </a:bodyPr>
          <a:lstStyle/>
          <a:p>
            <a:pPr algn="ctr">
              <a:lnSpc>
                <a:spcPts val="5830"/>
              </a:lnSpc>
            </a:pPr>
            <a:r>
              <a:rPr lang="en-US" sz="5300" b="1">
                <a:solidFill>
                  <a:srgbClr val="2012BF"/>
                </a:solidFill>
                <a:latin typeface="Futura Ultra-Bold"/>
                <a:ea typeface="Futura Ultra-Bold"/>
                <a:cs typeface="Futura Ultra-Bold"/>
                <a:sym typeface="Futura Ultra-Bold"/>
              </a:rPr>
              <a:t>DEFINING CLEAR TASKS AND EXPECTED RESULTS IS ESSENTIAL</a:t>
            </a:r>
          </a:p>
        </p:txBody>
      </p:sp>
      <p:sp>
        <p:nvSpPr>
          <p:cNvPr id="10" name="TextBox 10"/>
          <p:cNvSpPr txBox="1"/>
          <p:nvPr/>
        </p:nvSpPr>
        <p:spPr>
          <a:xfrm>
            <a:off x="1243313" y="2787785"/>
            <a:ext cx="14968511" cy="4271391"/>
          </a:xfrm>
          <a:prstGeom prst="rect">
            <a:avLst/>
          </a:prstGeom>
        </p:spPr>
        <p:txBody>
          <a:bodyPr lIns="0" tIns="0" rIns="0" bIns="0" rtlCol="0" anchor="t">
            <a:spAutoFit/>
          </a:bodyPr>
          <a:lstStyle/>
          <a:p>
            <a:pPr algn="just">
              <a:lnSpc>
                <a:spcPts val="4211"/>
              </a:lnSpc>
              <a:spcBef>
                <a:spcPct val="0"/>
              </a:spcBef>
            </a:pPr>
            <a:r>
              <a:rPr lang="en-US" sz="3599">
                <a:solidFill>
                  <a:srgbClr val="2012BF"/>
                </a:solidFill>
                <a:latin typeface="Canva Sans"/>
                <a:ea typeface="Canva Sans"/>
                <a:cs typeface="Canva Sans"/>
                <a:sym typeface="Canva Sans"/>
              </a:rPr>
              <a:t>In the preparation phase, the Project Manager must define every task precisely and link it to expected results. This is the only way to measure whether a project is successful or not. Without clarity in tasks and results, the execution phase will collapse into confusion. Each task should be connected to a milestone, and each milestone must be realistic and measurable. The Project Passport, as described in the material, always includes goals, tasks, and expected outcomes. These are the backbone of preparation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2786" y="-166895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0" y="8939788"/>
            <a:ext cx="18288000" cy="0"/>
          </a:xfrm>
          <a:prstGeom prst="line">
            <a:avLst/>
          </a:prstGeom>
          <a:ln w="19050" cap="flat">
            <a:solidFill>
              <a:srgbClr val="000000"/>
            </a:solidFill>
            <a:prstDash val="solid"/>
            <a:headEnd type="none" w="sm" len="sm"/>
            <a:tailEnd type="none" w="sm" len="sm"/>
          </a:ln>
        </p:spPr>
      </p:sp>
      <p:sp>
        <p:nvSpPr>
          <p:cNvPr id="4" name="Freeform 4"/>
          <p:cNvSpPr/>
          <p:nvPr/>
        </p:nvSpPr>
        <p:spPr>
          <a:xfrm flipH="1">
            <a:off x="16940788" y="7592576"/>
            <a:ext cx="1347212" cy="2694424"/>
          </a:xfrm>
          <a:custGeom>
            <a:avLst/>
            <a:gdLst/>
            <a:ahLst/>
            <a:cxnLst/>
            <a:rect l="l" t="t" r="r" b="b"/>
            <a:pathLst>
              <a:path w="1347212" h="2694424">
                <a:moveTo>
                  <a:pt x="1347212" y="0"/>
                </a:moveTo>
                <a:lnTo>
                  <a:pt x="0" y="0"/>
                </a:lnTo>
                <a:lnTo>
                  <a:pt x="0" y="2694424"/>
                </a:lnTo>
                <a:lnTo>
                  <a:pt x="1347212" y="2694424"/>
                </a:lnTo>
                <a:lnTo>
                  <a:pt x="134721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8722090" y="262314"/>
            <a:ext cx="9236440" cy="8074937"/>
          </a:xfrm>
          <a:custGeom>
            <a:avLst/>
            <a:gdLst/>
            <a:ahLst/>
            <a:cxnLst/>
            <a:rect l="l" t="t" r="r" b="b"/>
            <a:pathLst>
              <a:path w="9236440" h="8074937">
                <a:moveTo>
                  <a:pt x="0" y="8074937"/>
                </a:moveTo>
                <a:lnTo>
                  <a:pt x="9236440" y="8074937"/>
                </a:lnTo>
                <a:lnTo>
                  <a:pt x="9236440" y="0"/>
                </a:lnTo>
                <a:lnTo>
                  <a:pt x="0" y="0"/>
                </a:lnTo>
                <a:lnTo>
                  <a:pt x="0" y="8074937"/>
                </a:lnTo>
                <a:close/>
              </a:path>
            </a:pathLst>
          </a:custGeom>
          <a:blipFill>
            <a:blip r:embed="rId6">
              <a:extLst>
                <a:ext uri="{96DAC541-7B7A-43D3-8B79-37D633B846F1}">
                  <asvg:svgBlip xmlns:asvg="http://schemas.microsoft.com/office/drawing/2016/SVG/main" r:embed="rId7"/>
                </a:ext>
              </a:extLst>
            </a:blip>
            <a:stretch>
              <a:fillRect l="-38228" t="-57320"/>
            </a:stretch>
          </a:blipFill>
        </p:spPr>
      </p:sp>
      <p:grpSp>
        <p:nvGrpSpPr>
          <p:cNvPr id="6" name="Group 6"/>
          <p:cNvGrpSpPr/>
          <p:nvPr/>
        </p:nvGrpSpPr>
        <p:grpSpPr>
          <a:xfrm>
            <a:off x="0" y="0"/>
            <a:ext cx="514350" cy="2958312"/>
            <a:chOff x="0" y="0"/>
            <a:chExt cx="135467" cy="779144"/>
          </a:xfrm>
        </p:grpSpPr>
        <p:sp>
          <p:nvSpPr>
            <p:cNvPr id="7" name="Freeform 7"/>
            <p:cNvSpPr/>
            <p:nvPr/>
          </p:nvSpPr>
          <p:spPr>
            <a:xfrm>
              <a:off x="0" y="0"/>
              <a:ext cx="135467" cy="779144"/>
            </a:xfrm>
            <a:custGeom>
              <a:avLst/>
              <a:gdLst/>
              <a:ahLst/>
              <a:cxnLst/>
              <a:rect l="l" t="t" r="r" b="b"/>
              <a:pathLst>
                <a:path w="135467" h="779144">
                  <a:moveTo>
                    <a:pt x="0" y="0"/>
                  </a:moveTo>
                  <a:lnTo>
                    <a:pt x="135467" y="0"/>
                  </a:lnTo>
                  <a:lnTo>
                    <a:pt x="135467" y="779144"/>
                  </a:lnTo>
                  <a:lnTo>
                    <a:pt x="0" y="779144"/>
                  </a:lnTo>
                  <a:close/>
                </a:path>
              </a:pathLst>
            </a:custGeom>
            <a:solidFill>
              <a:srgbClr val="2012BF"/>
            </a:solidFill>
          </p:spPr>
        </p:sp>
        <p:sp>
          <p:nvSpPr>
            <p:cNvPr id="8" name="TextBox 8"/>
            <p:cNvSpPr txBox="1"/>
            <p:nvPr/>
          </p:nvSpPr>
          <p:spPr>
            <a:xfrm>
              <a:off x="0" y="0"/>
              <a:ext cx="135467" cy="779144"/>
            </a:xfrm>
            <a:prstGeom prst="rect">
              <a:avLst/>
            </a:prstGeom>
          </p:spPr>
          <p:txBody>
            <a:bodyPr lIns="50800" tIns="50800" rIns="50800" bIns="50800" rtlCol="0" anchor="ctr"/>
            <a:lstStyle/>
            <a:p>
              <a:pPr algn="ctr">
                <a:lnSpc>
                  <a:spcPts val="2924"/>
                </a:lnSpc>
              </a:pPr>
              <a:endParaRPr/>
            </a:p>
          </p:txBody>
        </p:sp>
      </p:grpSp>
      <p:sp>
        <p:nvSpPr>
          <p:cNvPr id="9" name="TextBox 9"/>
          <p:cNvSpPr txBox="1"/>
          <p:nvPr/>
        </p:nvSpPr>
        <p:spPr>
          <a:xfrm>
            <a:off x="1424095" y="654925"/>
            <a:ext cx="15439810" cy="1591313"/>
          </a:xfrm>
          <a:prstGeom prst="rect">
            <a:avLst/>
          </a:prstGeom>
        </p:spPr>
        <p:txBody>
          <a:bodyPr lIns="0" tIns="0" rIns="0" bIns="0" rtlCol="0" anchor="t">
            <a:spAutoFit/>
          </a:bodyPr>
          <a:lstStyle/>
          <a:p>
            <a:pPr algn="ctr">
              <a:lnSpc>
                <a:spcPts val="5830"/>
              </a:lnSpc>
            </a:pPr>
            <a:r>
              <a:rPr lang="en-US" sz="5300" b="1">
                <a:solidFill>
                  <a:srgbClr val="2012BF"/>
                </a:solidFill>
                <a:latin typeface="Futura Ultra-Bold"/>
                <a:ea typeface="Futura Ultra-Bold"/>
                <a:cs typeface="Futura Ultra-Bold"/>
                <a:sym typeface="Futura Ultra-Bold"/>
              </a:rPr>
              <a:t>NO PROJECT SHOULD BEGIN WITHOUT THIS BLUEPRINT</a:t>
            </a:r>
          </a:p>
        </p:txBody>
      </p:sp>
      <p:sp>
        <p:nvSpPr>
          <p:cNvPr id="10" name="TextBox 10"/>
          <p:cNvSpPr txBox="1"/>
          <p:nvPr/>
        </p:nvSpPr>
        <p:spPr>
          <a:xfrm>
            <a:off x="1243313" y="2787785"/>
            <a:ext cx="14968511" cy="5338191"/>
          </a:xfrm>
          <a:prstGeom prst="rect">
            <a:avLst/>
          </a:prstGeom>
        </p:spPr>
        <p:txBody>
          <a:bodyPr lIns="0" tIns="0" rIns="0" bIns="0" rtlCol="0" anchor="t">
            <a:spAutoFit/>
          </a:bodyPr>
          <a:lstStyle/>
          <a:p>
            <a:pPr algn="just">
              <a:lnSpc>
                <a:spcPts val="4211"/>
              </a:lnSpc>
              <a:spcBef>
                <a:spcPct val="0"/>
              </a:spcBef>
            </a:pPr>
            <a:r>
              <a:rPr lang="en-US" sz="3599">
                <a:solidFill>
                  <a:srgbClr val="2012BF"/>
                </a:solidFill>
                <a:latin typeface="Canva Sans"/>
                <a:ea typeface="Canva Sans"/>
                <a:cs typeface="Canva Sans"/>
                <a:sym typeface="Canva Sans"/>
              </a:rPr>
              <a:t>The Business Plan, or BP, is the blueprint of the project. It combines the passport with legal, financial, institutional, and social analyses. It also includes economic justification, risk assessment, and financial scenarios. Without this blueprint, a project has no foundation. The lecture materials emphasize that no project should begin without a BP, because it provides the structure and legitimacy needed to attract investors, secure resources, and guide the execution. Beginning without a BP is compared to building a house without a design: the result will be unstable, unpredictable, and unsustainable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931511"/>
            <a:ext cx="7507939" cy="5355489"/>
            <a:chOff x="0" y="0"/>
            <a:chExt cx="908663" cy="648158"/>
          </a:xfrm>
        </p:grpSpPr>
        <p:sp>
          <p:nvSpPr>
            <p:cNvPr id="3" name="Freeform 3"/>
            <p:cNvSpPr/>
            <p:nvPr/>
          </p:nvSpPr>
          <p:spPr>
            <a:xfrm>
              <a:off x="0" y="0"/>
              <a:ext cx="908663" cy="648158"/>
            </a:xfrm>
            <a:custGeom>
              <a:avLst/>
              <a:gdLst/>
              <a:ahLst/>
              <a:cxnLst/>
              <a:rect l="l" t="t" r="r" b="b"/>
              <a:pathLst>
                <a:path w="908663" h="648158">
                  <a:moveTo>
                    <a:pt x="0" y="0"/>
                  </a:moveTo>
                  <a:lnTo>
                    <a:pt x="908663" y="0"/>
                  </a:lnTo>
                  <a:lnTo>
                    <a:pt x="908663" y="648158"/>
                  </a:lnTo>
                  <a:lnTo>
                    <a:pt x="0" y="648158"/>
                  </a:lnTo>
                  <a:close/>
                </a:path>
              </a:pathLst>
            </a:custGeom>
            <a:blipFill>
              <a:blip r:embed="rId2"/>
              <a:stretch>
                <a:fillRect l="-3404" t="-76498" r="-123676" b="-2354"/>
              </a:stretch>
            </a:blipFill>
            <a:ln w="19050" cap="sq">
              <a:solidFill>
                <a:srgbClr val="000000"/>
              </a:solidFill>
              <a:prstDash val="solid"/>
              <a:miter/>
            </a:ln>
          </p:spPr>
        </p:sp>
      </p:grpSp>
      <p:sp>
        <p:nvSpPr>
          <p:cNvPr id="4" name="AutoShape 4"/>
          <p:cNvSpPr/>
          <p:nvPr/>
        </p:nvSpPr>
        <p:spPr>
          <a:xfrm flipH="1">
            <a:off x="8395316" y="167353"/>
            <a:ext cx="0" cy="10287000"/>
          </a:xfrm>
          <a:prstGeom prst="line">
            <a:avLst/>
          </a:prstGeom>
          <a:ln w="19050" cap="flat">
            <a:solidFill>
              <a:srgbClr val="000000"/>
            </a:solidFill>
            <a:prstDash val="solid"/>
            <a:headEnd type="none" w="sm" len="sm"/>
            <a:tailEnd type="none" w="sm" len="sm"/>
          </a:ln>
        </p:spPr>
      </p:sp>
      <p:grpSp>
        <p:nvGrpSpPr>
          <p:cNvPr id="5" name="Group 5"/>
          <p:cNvGrpSpPr/>
          <p:nvPr/>
        </p:nvGrpSpPr>
        <p:grpSpPr>
          <a:xfrm>
            <a:off x="10066787" y="1191073"/>
            <a:ext cx="563983" cy="563983"/>
            <a:chOff x="0" y="0"/>
            <a:chExt cx="148539" cy="148539"/>
          </a:xfrm>
        </p:grpSpPr>
        <p:sp>
          <p:nvSpPr>
            <p:cNvPr id="6" name="Freeform 6"/>
            <p:cNvSpPr/>
            <p:nvPr/>
          </p:nvSpPr>
          <p:spPr>
            <a:xfrm>
              <a:off x="0" y="0"/>
              <a:ext cx="148539" cy="148539"/>
            </a:xfrm>
            <a:custGeom>
              <a:avLst/>
              <a:gdLst/>
              <a:ahLst/>
              <a:cxnLst/>
              <a:rect l="l" t="t" r="r" b="b"/>
              <a:pathLst>
                <a:path w="148539" h="148539">
                  <a:moveTo>
                    <a:pt x="0" y="0"/>
                  </a:moveTo>
                  <a:lnTo>
                    <a:pt x="148539" y="0"/>
                  </a:lnTo>
                  <a:lnTo>
                    <a:pt x="148539" y="148539"/>
                  </a:lnTo>
                  <a:lnTo>
                    <a:pt x="0" y="148539"/>
                  </a:lnTo>
                  <a:close/>
                </a:path>
              </a:pathLst>
            </a:custGeom>
            <a:solidFill>
              <a:srgbClr val="2012BF"/>
            </a:solidFill>
          </p:spPr>
        </p:sp>
        <p:sp>
          <p:nvSpPr>
            <p:cNvPr id="7" name="TextBox 7"/>
            <p:cNvSpPr txBox="1"/>
            <p:nvPr/>
          </p:nvSpPr>
          <p:spPr>
            <a:xfrm>
              <a:off x="0" y="0"/>
              <a:ext cx="148539" cy="148539"/>
            </a:xfrm>
            <a:prstGeom prst="rect">
              <a:avLst/>
            </a:prstGeom>
          </p:spPr>
          <p:txBody>
            <a:bodyPr lIns="50800" tIns="50800" rIns="50800" bIns="50800" rtlCol="0" anchor="ctr"/>
            <a:lstStyle/>
            <a:p>
              <a:pPr algn="ctr">
                <a:lnSpc>
                  <a:spcPts val="2924"/>
                </a:lnSpc>
              </a:pPr>
              <a:endParaRPr/>
            </a:p>
          </p:txBody>
        </p:sp>
      </p:grpSp>
      <p:sp>
        <p:nvSpPr>
          <p:cNvPr id="8" name="Freeform 8"/>
          <p:cNvSpPr/>
          <p:nvPr/>
        </p:nvSpPr>
        <p:spPr>
          <a:xfrm>
            <a:off x="232391" y="8925020"/>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3">
              <a:extLst>
                <a:ext uri="{96DAC541-7B7A-43D3-8B79-37D633B846F1}">
                  <asvg:svgBlip xmlns:asvg="http://schemas.microsoft.com/office/drawing/2016/SVG/main" r:embed="rId4"/>
                </a:ext>
              </a:extLst>
            </a:blip>
            <a:stretch>
              <a:fillRect b="-279976"/>
            </a:stretch>
          </a:blipFill>
        </p:spPr>
      </p:sp>
      <p:sp>
        <p:nvSpPr>
          <p:cNvPr id="9" name="Freeform 9"/>
          <p:cNvSpPr/>
          <p:nvPr/>
        </p:nvSpPr>
        <p:spPr>
          <a:xfrm>
            <a:off x="232391"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5">
              <a:extLst>
                <a:ext uri="{96DAC541-7B7A-43D3-8B79-37D633B846F1}">
                  <asvg:svgBlip xmlns:asvg="http://schemas.microsoft.com/office/drawing/2016/SVG/main" r:embed="rId6"/>
                </a:ext>
              </a:extLst>
            </a:blip>
            <a:stretch>
              <a:fillRect b="-279976"/>
            </a:stretch>
          </a:blipFill>
        </p:spPr>
      </p:sp>
      <p:sp>
        <p:nvSpPr>
          <p:cNvPr id="10" name="Freeform 10"/>
          <p:cNvSpPr/>
          <p:nvPr/>
        </p:nvSpPr>
        <p:spPr>
          <a:xfrm>
            <a:off x="10949282" y="2584755"/>
            <a:ext cx="4914537" cy="976764"/>
          </a:xfrm>
          <a:custGeom>
            <a:avLst/>
            <a:gdLst/>
            <a:ahLst/>
            <a:cxnLst/>
            <a:rect l="l" t="t" r="r" b="b"/>
            <a:pathLst>
              <a:path w="4914537" h="976764">
                <a:moveTo>
                  <a:pt x="0" y="0"/>
                </a:moveTo>
                <a:lnTo>
                  <a:pt x="4914536" y="0"/>
                </a:lnTo>
                <a:lnTo>
                  <a:pt x="4914536" y="976764"/>
                </a:lnTo>
                <a:lnTo>
                  <a:pt x="0" y="976764"/>
                </a:lnTo>
                <a:lnTo>
                  <a:pt x="0" y="0"/>
                </a:lnTo>
                <a:close/>
              </a:path>
            </a:pathLst>
          </a:custGeom>
          <a:blipFill>
            <a:blip r:embed="rId7"/>
            <a:stretch>
              <a:fillRect/>
            </a:stretch>
          </a:blipFill>
        </p:spPr>
      </p:sp>
      <p:sp>
        <p:nvSpPr>
          <p:cNvPr id="11" name="TextBox 11"/>
          <p:cNvSpPr txBox="1"/>
          <p:nvPr/>
        </p:nvSpPr>
        <p:spPr>
          <a:xfrm>
            <a:off x="232391" y="1259412"/>
            <a:ext cx="8115300" cy="30797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RESOURCES IN PROJECT PREPARATION</a:t>
            </a:r>
          </a:p>
        </p:txBody>
      </p:sp>
      <p:sp>
        <p:nvSpPr>
          <p:cNvPr id="12" name="TextBox 12"/>
          <p:cNvSpPr txBox="1"/>
          <p:nvPr/>
        </p:nvSpPr>
        <p:spPr>
          <a:xfrm>
            <a:off x="10949282" y="1055552"/>
            <a:ext cx="6310018" cy="1113790"/>
          </a:xfrm>
          <a:prstGeom prst="rect">
            <a:avLst/>
          </a:prstGeom>
        </p:spPr>
        <p:txBody>
          <a:bodyPr lIns="0" tIns="0" rIns="0" bIns="0" rtlCol="0" anchor="t">
            <a:spAutoFit/>
          </a:bodyPr>
          <a:lstStyle/>
          <a:p>
            <a:pPr algn="l">
              <a:lnSpc>
                <a:spcPts val="4070"/>
              </a:lnSpc>
            </a:pPr>
            <a:r>
              <a:rPr lang="en-US" sz="3700" b="1">
                <a:solidFill>
                  <a:srgbClr val="2012BF"/>
                </a:solidFill>
                <a:latin typeface="Futura Ultra-Bold"/>
                <a:ea typeface="Futura Ultra-Bold"/>
                <a:cs typeface="Futura Ultra-Bold"/>
                <a:sym typeface="Futura Ultra-Bold"/>
              </a:rPr>
              <a:t>PROJECTS RELY ON FOUR KEY RESOURCES</a:t>
            </a:r>
          </a:p>
        </p:txBody>
      </p:sp>
      <p:sp>
        <p:nvSpPr>
          <p:cNvPr id="13" name="Freeform 13"/>
          <p:cNvSpPr/>
          <p:nvPr/>
        </p:nvSpPr>
        <p:spPr>
          <a:xfrm>
            <a:off x="10949282" y="3954747"/>
            <a:ext cx="4914537" cy="976764"/>
          </a:xfrm>
          <a:custGeom>
            <a:avLst/>
            <a:gdLst/>
            <a:ahLst/>
            <a:cxnLst/>
            <a:rect l="l" t="t" r="r" b="b"/>
            <a:pathLst>
              <a:path w="4914537" h="976764">
                <a:moveTo>
                  <a:pt x="0" y="0"/>
                </a:moveTo>
                <a:lnTo>
                  <a:pt x="4914536" y="0"/>
                </a:lnTo>
                <a:lnTo>
                  <a:pt x="4914536" y="976764"/>
                </a:lnTo>
                <a:lnTo>
                  <a:pt x="0" y="976764"/>
                </a:lnTo>
                <a:lnTo>
                  <a:pt x="0" y="0"/>
                </a:lnTo>
                <a:close/>
              </a:path>
            </a:pathLst>
          </a:custGeom>
          <a:blipFill>
            <a:blip r:embed="rId7"/>
            <a:stretch>
              <a:fillRect/>
            </a:stretch>
          </a:blipFill>
        </p:spPr>
      </p:sp>
      <p:sp>
        <p:nvSpPr>
          <p:cNvPr id="14" name="Freeform 14"/>
          <p:cNvSpPr/>
          <p:nvPr/>
        </p:nvSpPr>
        <p:spPr>
          <a:xfrm>
            <a:off x="10949282" y="5324738"/>
            <a:ext cx="4914537" cy="976764"/>
          </a:xfrm>
          <a:custGeom>
            <a:avLst/>
            <a:gdLst/>
            <a:ahLst/>
            <a:cxnLst/>
            <a:rect l="l" t="t" r="r" b="b"/>
            <a:pathLst>
              <a:path w="4914537" h="976764">
                <a:moveTo>
                  <a:pt x="0" y="0"/>
                </a:moveTo>
                <a:lnTo>
                  <a:pt x="4914536" y="0"/>
                </a:lnTo>
                <a:lnTo>
                  <a:pt x="4914536" y="976764"/>
                </a:lnTo>
                <a:lnTo>
                  <a:pt x="0" y="976764"/>
                </a:lnTo>
                <a:lnTo>
                  <a:pt x="0" y="0"/>
                </a:lnTo>
                <a:close/>
              </a:path>
            </a:pathLst>
          </a:custGeom>
          <a:blipFill>
            <a:blip r:embed="rId7"/>
            <a:stretch>
              <a:fillRect/>
            </a:stretch>
          </a:blipFill>
        </p:spPr>
      </p:sp>
      <p:sp>
        <p:nvSpPr>
          <p:cNvPr id="15" name="Freeform 15"/>
          <p:cNvSpPr/>
          <p:nvPr/>
        </p:nvSpPr>
        <p:spPr>
          <a:xfrm>
            <a:off x="10949282" y="6694730"/>
            <a:ext cx="4914537" cy="976764"/>
          </a:xfrm>
          <a:custGeom>
            <a:avLst/>
            <a:gdLst/>
            <a:ahLst/>
            <a:cxnLst/>
            <a:rect l="l" t="t" r="r" b="b"/>
            <a:pathLst>
              <a:path w="4914537" h="976764">
                <a:moveTo>
                  <a:pt x="0" y="0"/>
                </a:moveTo>
                <a:lnTo>
                  <a:pt x="4914536" y="0"/>
                </a:lnTo>
                <a:lnTo>
                  <a:pt x="4914536" y="976764"/>
                </a:lnTo>
                <a:lnTo>
                  <a:pt x="0" y="976764"/>
                </a:lnTo>
                <a:lnTo>
                  <a:pt x="0" y="0"/>
                </a:lnTo>
                <a:close/>
              </a:path>
            </a:pathLst>
          </a:custGeom>
          <a:blipFill>
            <a:blip r:embed="rId7"/>
            <a:stretch>
              <a:fillRect/>
            </a:stretch>
          </a:blipFill>
        </p:spPr>
      </p:sp>
      <p:sp>
        <p:nvSpPr>
          <p:cNvPr id="16" name="TextBox 16"/>
          <p:cNvSpPr txBox="1"/>
          <p:nvPr/>
        </p:nvSpPr>
        <p:spPr>
          <a:xfrm>
            <a:off x="12284138" y="2779767"/>
            <a:ext cx="2244824" cy="59626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Financial</a:t>
            </a:r>
          </a:p>
        </p:txBody>
      </p:sp>
      <p:sp>
        <p:nvSpPr>
          <p:cNvPr id="17" name="TextBox 17"/>
          <p:cNvSpPr txBox="1"/>
          <p:nvPr/>
        </p:nvSpPr>
        <p:spPr>
          <a:xfrm>
            <a:off x="12091306" y="4149759"/>
            <a:ext cx="2630488" cy="59626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Manpower</a:t>
            </a:r>
          </a:p>
        </p:txBody>
      </p:sp>
      <p:sp>
        <p:nvSpPr>
          <p:cNvPr id="18" name="TextBox 18"/>
          <p:cNvSpPr txBox="1"/>
          <p:nvPr/>
        </p:nvSpPr>
        <p:spPr>
          <a:xfrm>
            <a:off x="12556344" y="5519750"/>
            <a:ext cx="1314748" cy="59626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Legal</a:t>
            </a:r>
          </a:p>
        </p:txBody>
      </p:sp>
      <p:sp>
        <p:nvSpPr>
          <p:cNvPr id="19" name="TextBox 19"/>
          <p:cNvSpPr txBox="1"/>
          <p:nvPr/>
        </p:nvSpPr>
        <p:spPr>
          <a:xfrm>
            <a:off x="11128735" y="6892052"/>
            <a:ext cx="4555629" cy="566928"/>
          </a:xfrm>
          <a:prstGeom prst="rect">
            <a:avLst/>
          </a:prstGeom>
        </p:spPr>
        <p:txBody>
          <a:bodyPr lIns="0" tIns="0" rIns="0" bIns="0" rtlCol="0" anchor="t">
            <a:spAutoFit/>
          </a:bodyPr>
          <a:lstStyle/>
          <a:p>
            <a:pPr algn="ctr">
              <a:lnSpc>
                <a:spcPts val="4445"/>
              </a:lnSpc>
              <a:spcBef>
                <a:spcPct val="0"/>
              </a:spcBef>
            </a:pPr>
            <a:r>
              <a:rPr lang="en-US" sz="3799" b="1">
                <a:solidFill>
                  <a:srgbClr val="FFFFFF"/>
                </a:solidFill>
                <a:latin typeface="Canva Sans Bold"/>
                <a:ea typeface="Canva Sans Bold"/>
                <a:cs typeface="Canva Sans Bold"/>
                <a:sym typeface="Canva Sans Bold"/>
              </a:rPr>
              <a:t>Institutional/Social</a:t>
            </a:r>
          </a:p>
        </p:txBody>
      </p:sp>
      <p:sp>
        <p:nvSpPr>
          <p:cNvPr id="20" name="TextBox 20"/>
          <p:cNvSpPr txBox="1"/>
          <p:nvPr/>
        </p:nvSpPr>
        <p:spPr>
          <a:xfrm>
            <a:off x="8770540" y="8748808"/>
            <a:ext cx="9117707" cy="430149"/>
          </a:xfrm>
          <a:prstGeom prst="rect">
            <a:avLst/>
          </a:prstGeom>
        </p:spPr>
        <p:txBody>
          <a:bodyPr lIns="0" tIns="0" rIns="0" bIns="0" rtlCol="0" anchor="t">
            <a:spAutoFit/>
          </a:bodyPr>
          <a:lstStyle/>
          <a:p>
            <a:pPr algn="ctr">
              <a:lnSpc>
                <a:spcPts val="3392"/>
              </a:lnSpc>
              <a:spcBef>
                <a:spcPct val="0"/>
              </a:spcBef>
            </a:pPr>
            <a:r>
              <a:rPr lang="en-US" sz="2899" b="1">
                <a:solidFill>
                  <a:srgbClr val="000000"/>
                </a:solidFill>
                <a:latin typeface="Canva Sans Bold"/>
                <a:ea typeface="Canva Sans Bold"/>
                <a:cs typeface="Canva Sans Bold"/>
                <a:sym typeface="Canva Sans Bold"/>
              </a:rPr>
              <a:t>The PM must integrate all resources systematically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1258827" y="543519"/>
            <a:ext cx="11138829"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FINANCIAL RESOURCES</a:t>
            </a:r>
          </a:p>
        </p:txBody>
      </p:sp>
      <p:sp>
        <p:nvSpPr>
          <p:cNvPr id="4" name="TextBox 4"/>
          <p:cNvSpPr txBox="1"/>
          <p:nvPr/>
        </p:nvSpPr>
        <p:spPr>
          <a:xfrm>
            <a:off x="1569800" y="2167457"/>
            <a:ext cx="15689500" cy="8004686"/>
          </a:xfrm>
          <a:prstGeom prst="rect">
            <a:avLst/>
          </a:prstGeom>
        </p:spPr>
        <p:txBody>
          <a:bodyPr lIns="0" tIns="0" rIns="0" bIns="0" rtlCol="0" anchor="t">
            <a:spAutoFit/>
          </a:bodyPr>
          <a:lstStyle/>
          <a:p>
            <a:pPr algn="just">
              <a:lnSpc>
                <a:spcPts val="4521"/>
              </a:lnSpc>
            </a:pPr>
            <a:r>
              <a:rPr lang="en-US" sz="3229">
                <a:solidFill>
                  <a:srgbClr val="000000"/>
                </a:solidFill>
                <a:latin typeface="Roboto"/>
                <a:ea typeface="Roboto"/>
                <a:cs typeface="Roboto"/>
                <a:sym typeface="Roboto"/>
              </a:rPr>
              <a:t>FINANCIAL RESOURCES ARE THE FIRST BARRIER AND THE FIRST ENABLER FOR ANY PROJECT. THE LECTURE MATERIALS CLASSIFY FUNDING INTO DONORS (UN AGENCIES, EU), INSTITUTIONAL DONORS (WORLD BANK, EBRD, ADB), COMMERCIAL BANKS (CREDIT LINES, REVOLVING LOANS) AND MARKET INSTRUMENTS (VENTURE CAPITAL, CROWDFUNDING). </a:t>
            </a:r>
          </a:p>
          <a:p>
            <a:pPr algn="just">
              <a:lnSpc>
                <a:spcPts val="4521"/>
              </a:lnSpc>
            </a:pPr>
            <a:endParaRPr lang="en-US" sz="3229">
              <a:solidFill>
                <a:srgbClr val="000000"/>
              </a:solidFill>
              <a:latin typeface="Roboto"/>
              <a:ea typeface="Roboto"/>
              <a:cs typeface="Roboto"/>
              <a:sym typeface="Roboto"/>
            </a:endParaRPr>
          </a:p>
          <a:p>
            <a:pPr algn="just">
              <a:lnSpc>
                <a:spcPts val="4521"/>
              </a:lnSpc>
            </a:pPr>
            <a:r>
              <a:rPr lang="en-US" sz="3229">
                <a:solidFill>
                  <a:srgbClr val="000000"/>
                </a:solidFill>
                <a:latin typeface="Roboto"/>
                <a:ea typeface="Roboto"/>
                <a:cs typeface="Roboto"/>
                <a:sym typeface="Roboto"/>
              </a:rPr>
              <a:t>PROJECT FINANCE MAY BE STRUCTURED AS NON-RECOURSE (RISK BORNE BY LENDER), PARTIAL RECOURSE, OR FULL RECOURSE (PM BEARS RISK). EACH OPTION HAS TRADE-OFFS: DEVELOPMENT BANKS OFTEN PROVIDE FAVORABLE TERMS AND CONSULTING, BUT ARE SELECTIVE; COMMERCIAL BANKS REQUIRE CREDITWORTHINESS; ALTERNATIVE FINANCE IS FLEXIBLE BUT MAY LACK PREDICTABILITY. THE PM MUST CHOOSE A MODEL AND ACCEPT RESPONSIBILITY FOR THE CHOSEN FINANCIAL ARCHITECTURE.</a:t>
            </a:r>
          </a:p>
          <a:p>
            <a:pPr algn="l">
              <a:lnSpc>
                <a:spcPts val="4521"/>
              </a:lnSpc>
            </a:pPr>
            <a:endParaRPr lang="en-US" sz="3229">
              <a:solidFill>
                <a:srgbClr val="000000"/>
              </a:solidFill>
              <a:latin typeface="Roboto"/>
              <a:ea typeface="Roboto"/>
              <a:cs typeface="Roboto"/>
              <a:sym typeface="Roboto"/>
            </a:endParaRPr>
          </a:p>
        </p:txBody>
      </p:sp>
      <p:grpSp>
        <p:nvGrpSpPr>
          <p:cNvPr id="5" name="Group 5"/>
          <p:cNvGrpSpPr/>
          <p:nvPr/>
        </p:nvGrpSpPr>
        <p:grpSpPr>
          <a:xfrm>
            <a:off x="0" y="0"/>
            <a:ext cx="1028700" cy="3737571"/>
            <a:chOff x="0" y="0"/>
            <a:chExt cx="270933" cy="984381"/>
          </a:xfrm>
        </p:grpSpPr>
        <p:sp>
          <p:nvSpPr>
            <p:cNvPr id="6" name="Freeform 6"/>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7" name="TextBox 7"/>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6793"/>
            <a:ext cx="18288000" cy="1483813"/>
            <a:chOff x="0" y="0"/>
            <a:chExt cx="4816593" cy="390799"/>
          </a:xfrm>
        </p:grpSpPr>
        <p:sp>
          <p:nvSpPr>
            <p:cNvPr id="3" name="Freeform 3"/>
            <p:cNvSpPr/>
            <p:nvPr/>
          </p:nvSpPr>
          <p:spPr>
            <a:xfrm>
              <a:off x="0" y="0"/>
              <a:ext cx="4816592" cy="390799"/>
            </a:xfrm>
            <a:custGeom>
              <a:avLst/>
              <a:gdLst/>
              <a:ahLst/>
              <a:cxnLst/>
              <a:rect l="l" t="t" r="r" b="b"/>
              <a:pathLst>
                <a:path w="4816592" h="390799">
                  <a:moveTo>
                    <a:pt x="0" y="0"/>
                  </a:moveTo>
                  <a:lnTo>
                    <a:pt x="4816592" y="0"/>
                  </a:lnTo>
                  <a:lnTo>
                    <a:pt x="4816592" y="390799"/>
                  </a:lnTo>
                  <a:lnTo>
                    <a:pt x="0" y="390799"/>
                  </a:lnTo>
                  <a:close/>
                </a:path>
              </a:pathLst>
            </a:custGeom>
            <a:gradFill rotWithShape="1">
              <a:gsLst>
                <a:gs pos="0">
                  <a:srgbClr val="104994">
                    <a:alpha val="100000"/>
                  </a:srgbClr>
                </a:gs>
                <a:gs pos="100000">
                  <a:srgbClr val="558ACF">
                    <a:alpha val="100000"/>
                  </a:srgbClr>
                </a:gs>
              </a:gsLst>
              <a:lin ang="0"/>
            </a:gradFill>
          </p:spPr>
        </p:sp>
        <p:sp>
          <p:nvSpPr>
            <p:cNvPr id="4" name="TextBox 4"/>
            <p:cNvSpPr txBox="1"/>
            <p:nvPr/>
          </p:nvSpPr>
          <p:spPr>
            <a:xfrm>
              <a:off x="0" y="-9525"/>
              <a:ext cx="4816593" cy="400324"/>
            </a:xfrm>
            <a:prstGeom prst="rect">
              <a:avLst/>
            </a:prstGeom>
          </p:spPr>
          <p:txBody>
            <a:bodyPr lIns="50800" tIns="50800" rIns="50800" bIns="50800" rtlCol="0" anchor="ctr"/>
            <a:lstStyle/>
            <a:p>
              <a:pPr algn="ctr">
                <a:lnSpc>
                  <a:spcPts val="2811"/>
                </a:lnSpc>
              </a:pPr>
              <a:endParaRPr/>
            </a:p>
          </p:txBody>
        </p:sp>
      </p:grpSp>
      <p:sp>
        <p:nvSpPr>
          <p:cNvPr id="5" name="TextBox 5"/>
          <p:cNvSpPr txBox="1"/>
          <p:nvPr/>
        </p:nvSpPr>
        <p:spPr>
          <a:xfrm>
            <a:off x="1115467" y="650709"/>
            <a:ext cx="15994681" cy="845577"/>
          </a:xfrm>
          <a:prstGeom prst="rect">
            <a:avLst/>
          </a:prstGeom>
        </p:spPr>
        <p:txBody>
          <a:bodyPr lIns="0" tIns="0" rIns="0" bIns="0" rtlCol="0" anchor="t">
            <a:spAutoFit/>
          </a:bodyPr>
          <a:lstStyle/>
          <a:p>
            <a:pPr algn="ctr">
              <a:lnSpc>
                <a:spcPts val="6361"/>
              </a:lnSpc>
            </a:pPr>
            <a:r>
              <a:rPr lang="en-US" sz="6361" b="1">
                <a:solidFill>
                  <a:srgbClr val="FFFFFF"/>
                </a:solidFill>
                <a:latin typeface="Aileron Bold"/>
                <a:ea typeface="Aileron Bold"/>
                <a:cs typeface="Aileron Bold"/>
                <a:sym typeface="Aileron Bold"/>
              </a:rPr>
              <a:t>POSSIBLE FINANCIAL RESOURCES</a:t>
            </a:r>
          </a:p>
        </p:txBody>
      </p:sp>
      <p:grpSp>
        <p:nvGrpSpPr>
          <p:cNvPr id="6" name="Group 6"/>
          <p:cNvGrpSpPr/>
          <p:nvPr/>
        </p:nvGrpSpPr>
        <p:grpSpPr>
          <a:xfrm>
            <a:off x="506379" y="2059772"/>
            <a:ext cx="8606429" cy="7888719"/>
            <a:chOff x="0" y="0"/>
            <a:chExt cx="2725133" cy="2497878"/>
          </a:xfrm>
        </p:grpSpPr>
        <p:sp>
          <p:nvSpPr>
            <p:cNvPr id="7" name="Freeform 7"/>
            <p:cNvSpPr/>
            <p:nvPr/>
          </p:nvSpPr>
          <p:spPr>
            <a:xfrm>
              <a:off x="0" y="0"/>
              <a:ext cx="2725133" cy="2497878"/>
            </a:xfrm>
            <a:custGeom>
              <a:avLst/>
              <a:gdLst/>
              <a:ahLst/>
              <a:cxnLst/>
              <a:rect l="l" t="t" r="r" b="b"/>
              <a:pathLst>
                <a:path w="2725133" h="2497878">
                  <a:moveTo>
                    <a:pt x="18891" y="0"/>
                  </a:moveTo>
                  <a:lnTo>
                    <a:pt x="2706242" y="0"/>
                  </a:lnTo>
                  <a:cubicBezTo>
                    <a:pt x="2711252" y="0"/>
                    <a:pt x="2716057" y="1990"/>
                    <a:pt x="2719600" y="5533"/>
                  </a:cubicBezTo>
                  <a:cubicBezTo>
                    <a:pt x="2723143" y="9076"/>
                    <a:pt x="2725133" y="13880"/>
                    <a:pt x="2725133" y="18891"/>
                  </a:cubicBezTo>
                  <a:lnTo>
                    <a:pt x="2725133" y="2478987"/>
                  </a:lnTo>
                  <a:cubicBezTo>
                    <a:pt x="2725133" y="2483997"/>
                    <a:pt x="2723143" y="2488802"/>
                    <a:pt x="2719600" y="2492345"/>
                  </a:cubicBezTo>
                  <a:cubicBezTo>
                    <a:pt x="2716057" y="2495888"/>
                    <a:pt x="2711252" y="2497878"/>
                    <a:pt x="2706242" y="2497878"/>
                  </a:cubicBezTo>
                  <a:lnTo>
                    <a:pt x="18891" y="2497878"/>
                  </a:lnTo>
                  <a:cubicBezTo>
                    <a:pt x="13880" y="2497878"/>
                    <a:pt x="9076" y="2495888"/>
                    <a:pt x="5533" y="2492345"/>
                  </a:cubicBezTo>
                  <a:cubicBezTo>
                    <a:pt x="1990" y="2488802"/>
                    <a:pt x="0" y="2483997"/>
                    <a:pt x="0" y="2478987"/>
                  </a:cubicBezTo>
                  <a:lnTo>
                    <a:pt x="0" y="18891"/>
                  </a:lnTo>
                  <a:cubicBezTo>
                    <a:pt x="0" y="13880"/>
                    <a:pt x="1990" y="9076"/>
                    <a:pt x="5533" y="5533"/>
                  </a:cubicBezTo>
                  <a:cubicBezTo>
                    <a:pt x="9076" y="1990"/>
                    <a:pt x="13880" y="0"/>
                    <a:pt x="18891" y="0"/>
                  </a:cubicBezTo>
                  <a:close/>
                </a:path>
              </a:pathLst>
            </a:custGeom>
            <a:solidFill>
              <a:srgbClr val="FFFFFF"/>
            </a:solidFill>
            <a:ln w="76200" cap="rnd">
              <a:gradFill>
                <a:gsLst>
                  <a:gs pos="0">
                    <a:srgbClr val="104994">
                      <a:alpha val="100000"/>
                    </a:srgbClr>
                  </a:gs>
                  <a:gs pos="100000">
                    <a:srgbClr val="3B7FD8">
                      <a:alpha val="100000"/>
                    </a:srgbClr>
                  </a:gs>
                </a:gsLst>
                <a:lin ang="0"/>
              </a:gradFill>
              <a:prstDash val="solid"/>
              <a:round/>
            </a:ln>
          </p:spPr>
        </p:sp>
        <p:sp>
          <p:nvSpPr>
            <p:cNvPr id="8" name="TextBox 8"/>
            <p:cNvSpPr txBox="1"/>
            <p:nvPr/>
          </p:nvSpPr>
          <p:spPr>
            <a:xfrm>
              <a:off x="0" y="-9525"/>
              <a:ext cx="2725133" cy="2507403"/>
            </a:xfrm>
            <a:prstGeom prst="rect">
              <a:avLst/>
            </a:prstGeom>
          </p:spPr>
          <p:txBody>
            <a:bodyPr lIns="42254" tIns="42254" rIns="42254" bIns="42254" rtlCol="0" anchor="ctr"/>
            <a:lstStyle/>
            <a:p>
              <a:pPr algn="ctr">
                <a:lnSpc>
                  <a:spcPts val="2811"/>
                </a:lnSpc>
              </a:pPr>
              <a:endParaRPr/>
            </a:p>
          </p:txBody>
        </p:sp>
      </p:grpSp>
      <p:grpSp>
        <p:nvGrpSpPr>
          <p:cNvPr id="9" name="Group 9"/>
          <p:cNvGrpSpPr/>
          <p:nvPr/>
        </p:nvGrpSpPr>
        <p:grpSpPr>
          <a:xfrm>
            <a:off x="509366" y="2059772"/>
            <a:ext cx="8603442" cy="873451"/>
            <a:chOff x="0" y="0"/>
            <a:chExt cx="2265927" cy="230045"/>
          </a:xfrm>
        </p:grpSpPr>
        <p:sp>
          <p:nvSpPr>
            <p:cNvPr id="10" name="Freeform 10"/>
            <p:cNvSpPr/>
            <p:nvPr/>
          </p:nvSpPr>
          <p:spPr>
            <a:xfrm>
              <a:off x="0" y="0"/>
              <a:ext cx="2265927" cy="230045"/>
            </a:xfrm>
            <a:custGeom>
              <a:avLst/>
              <a:gdLst/>
              <a:ahLst/>
              <a:cxnLst/>
              <a:rect l="l" t="t" r="r" b="b"/>
              <a:pathLst>
                <a:path w="2265927" h="230045">
                  <a:moveTo>
                    <a:pt x="18897" y="0"/>
                  </a:moveTo>
                  <a:lnTo>
                    <a:pt x="2247030" y="0"/>
                  </a:lnTo>
                  <a:cubicBezTo>
                    <a:pt x="2252042" y="0"/>
                    <a:pt x="2256848" y="1991"/>
                    <a:pt x="2260392" y="5535"/>
                  </a:cubicBezTo>
                  <a:cubicBezTo>
                    <a:pt x="2263936" y="9079"/>
                    <a:pt x="2265927" y="13885"/>
                    <a:pt x="2265927" y="18897"/>
                  </a:cubicBezTo>
                  <a:lnTo>
                    <a:pt x="2265927" y="211147"/>
                  </a:lnTo>
                  <a:cubicBezTo>
                    <a:pt x="2265927" y="216159"/>
                    <a:pt x="2263936" y="220966"/>
                    <a:pt x="2260392" y="224510"/>
                  </a:cubicBezTo>
                  <a:cubicBezTo>
                    <a:pt x="2256848" y="228054"/>
                    <a:pt x="2252042" y="230045"/>
                    <a:pt x="2247030" y="230045"/>
                  </a:cubicBezTo>
                  <a:lnTo>
                    <a:pt x="18897" y="230045"/>
                  </a:lnTo>
                  <a:cubicBezTo>
                    <a:pt x="13885" y="230045"/>
                    <a:pt x="9079" y="228054"/>
                    <a:pt x="5535" y="224510"/>
                  </a:cubicBezTo>
                  <a:cubicBezTo>
                    <a:pt x="1991" y="220966"/>
                    <a:pt x="0" y="216159"/>
                    <a:pt x="0" y="211147"/>
                  </a:cubicBezTo>
                  <a:lnTo>
                    <a:pt x="0" y="18897"/>
                  </a:lnTo>
                  <a:cubicBezTo>
                    <a:pt x="0" y="13885"/>
                    <a:pt x="1991" y="9079"/>
                    <a:pt x="5535" y="5535"/>
                  </a:cubicBezTo>
                  <a:cubicBezTo>
                    <a:pt x="9079" y="1991"/>
                    <a:pt x="13885" y="0"/>
                    <a:pt x="18897" y="0"/>
                  </a:cubicBezTo>
                  <a:close/>
                </a:path>
              </a:pathLst>
            </a:custGeom>
            <a:gradFill rotWithShape="1">
              <a:gsLst>
                <a:gs pos="0">
                  <a:srgbClr val="104994">
                    <a:alpha val="100000"/>
                  </a:srgbClr>
                </a:gs>
                <a:gs pos="100000">
                  <a:srgbClr val="3B7FD8">
                    <a:alpha val="100000"/>
                  </a:srgbClr>
                </a:gs>
              </a:gsLst>
              <a:lin ang="0"/>
            </a:gradFill>
            <a:ln w="76200" cap="rnd">
              <a:gradFill>
                <a:gsLst>
                  <a:gs pos="0">
                    <a:srgbClr val="104994">
                      <a:alpha val="100000"/>
                    </a:srgbClr>
                  </a:gs>
                  <a:gs pos="100000">
                    <a:srgbClr val="558ACF">
                      <a:alpha val="100000"/>
                    </a:srgbClr>
                  </a:gs>
                </a:gsLst>
                <a:lin ang="0"/>
              </a:gradFill>
              <a:prstDash val="solid"/>
              <a:round/>
            </a:ln>
          </p:spPr>
        </p:sp>
        <p:sp>
          <p:nvSpPr>
            <p:cNvPr id="11" name="TextBox 11"/>
            <p:cNvSpPr txBox="1"/>
            <p:nvPr/>
          </p:nvSpPr>
          <p:spPr>
            <a:xfrm>
              <a:off x="0" y="-9525"/>
              <a:ext cx="2265927" cy="239570"/>
            </a:xfrm>
            <a:prstGeom prst="rect">
              <a:avLst/>
            </a:prstGeom>
          </p:spPr>
          <p:txBody>
            <a:bodyPr lIns="50800" tIns="50800" rIns="50800" bIns="50800" rtlCol="0" anchor="ctr"/>
            <a:lstStyle/>
            <a:p>
              <a:pPr marL="0" lvl="0" indent="0" algn="ctr">
                <a:lnSpc>
                  <a:spcPts val="2811"/>
                </a:lnSpc>
                <a:spcBef>
                  <a:spcPct val="0"/>
                </a:spcBef>
              </a:pPr>
              <a:endParaRPr/>
            </a:p>
          </p:txBody>
        </p:sp>
      </p:grpSp>
      <p:sp>
        <p:nvSpPr>
          <p:cNvPr id="12" name="TextBox 12"/>
          <p:cNvSpPr txBox="1"/>
          <p:nvPr/>
        </p:nvSpPr>
        <p:spPr>
          <a:xfrm>
            <a:off x="1295030" y="1979884"/>
            <a:ext cx="7029127" cy="866775"/>
          </a:xfrm>
          <a:prstGeom prst="rect">
            <a:avLst/>
          </a:prstGeom>
        </p:spPr>
        <p:txBody>
          <a:bodyPr lIns="0" tIns="0" rIns="0" bIns="0" rtlCol="0" anchor="t">
            <a:spAutoFit/>
          </a:bodyPr>
          <a:lstStyle/>
          <a:p>
            <a:pPr algn="ctr">
              <a:lnSpc>
                <a:spcPts val="6811"/>
              </a:lnSpc>
            </a:pPr>
            <a:r>
              <a:rPr lang="en-US" sz="5676" b="1">
                <a:solidFill>
                  <a:srgbClr val="FFFFFF"/>
                </a:solidFill>
                <a:latin typeface="Inter Bold"/>
                <a:ea typeface="Inter Bold"/>
                <a:cs typeface="Inter Bold"/>
                <a:sym typeface="Inter Bold"/>
              </a:rPr>
              <a:t>Donors</a:t>
            </a:r>
          </a:p>
        </p:txBody>
      </p:sp>
      <p:sp>
        <p:nvSpPr>
          <p:cNvPr id="13" name="TextBox 13"/>
          <p:cNvSpPr txBox="1"/>
          <p:nvPr/>
        </p:nvSpPr>
        <p:spPr>
          <a:xfrm>
            <a:off x="665230" y="3156143"/>
            <a:ext cx="8015113" cy="6398283"/>
          </a:xfrm>
          <a:prstGeom prst="rect">
            <a:avLst/>
          </a:prstGeom>
        </p:spPr>
        <p:txBody>
          <a:bodyPr lIns="0" tIns="0" rIns="0" bIns="0" rtlCol="0" anchor="t">
            <a:spAutoFit/>
          </a:bodyPr>
          <a:lstStyle/>
          <a:p>
            <a:pPr marL="0" lvl="0" indent="0" algn="just">
              <a:lnSpc>
                <a:spcPts val="3182"/>
              </a:lnSpc>
              <a:spcBef>
                <a:spcPct val="0"/>
              </a:spcBef>
            </a:pPr>
            <a:r>
              <a:rPr lang="en-US" sz="2448">
                <a:solidFill>
                  <a:srgbClr val="000000"/>
                </a:solidFill>
                <a:latin typeface="Inter"/>
                <a:ea typeface="Inter"/>
                <a:cs typeface="Inter"/>
                <a:sym typeface="Inter"/>
              </a:rPr>
              <a:t>UN and UN </a:t>
            </a:r>
            <a:r>
              <a:rPr lang="en-US" sz="2448" u="none" strike="noStrike">
                <a:solidFill>
                  <a:srgbClr val="000000"/>
                </a:solidFill>
                <a:latin typeface="Inter"/>
                <a:ea typeface="Inter"/>
                <a:cs typeface="Inter"/>
                <a:sym typeface="Inter"/>
              </a:rPr>
              <a:t>organizations, a total of 26 (UNESCO, UNICEF, ILO, FAO, UNDP, UNIDO, etc.). Wide areas of social activities are financed. They work with established companies and NGOs (list), but the additional inclusion of new entities is possible;</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a:p>
            <a:pPr marL="0" lvl="0" indent="0" algn="just">
              <a:lnSpc>
                <a:spcPts val="3182"/>
              </a:lnSpc>
              <a:spcBef>
                <a:spcPct val="0"/>
              </a:spcBef>
            </a:pPr>
            <a:r>
              <a:rPr lang="en-US" sz="2448" u="none" strike="noStrike">
                <a:solidFill>
                  <a:srgbClr val="000000"/>
                </a:solidFill>
                <a:latin typeface="Inter"/>
                <a:ea typeface="Inter"/>
                <a:cs typeface="Inter"/>
                <a:sym typeface="Inter"/>
              </a:rPr>
              <a:t>EU. Management at national and regional level (e.g. regional hubs have been set up for third countries). It also covers a wide range of activities. It is a particularly suitable tool for social platforms, training and consulting P.</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a:p>
            <a:pPr marL="0" lvl="0" indent="0" algn="just">
              <a:lnSpc>
                <a:spcPts val="3182"/>
              </a:lnSpc>
              <a:spcBef>
                <a:spcPct val="0"/>
              </a:spcBef>
            </a:pPr>
            <a:r>
              <a:rPr lang="en-US" sz="2448" u="none" strike="noStrike">
                <a:solidFill>
                  <a:srgbClr val="000000"/>
                </a:solidFill>
                <a:latin typeface="Inter"/>
                <a:ea typeface="Inter"/>
                <a:cs typeface="Inter"/>
                <a:sym typeface="Inter"/>
              </a:rPr>
              <a:t>USAID. Extremely suitable for SMEs and start-ups. The focus is on career formats and administrative reforms (processes and institutions) such as P. </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p:txBody>
      </p:sp>
      <p:sp>
        <p:nvSpPr>
          <p:cNvPr id="14" name="Freeform 14"/>
          <p:cNvSpPr/>
          <p:nvPr/>
        </p:nvSpPr>
        <p:spPr>
          <a:xfrm rot="-10800000" flipH="1">
            <a:off x="17706611" y="4734679"/>
            <a:ext cx="5573531" cy="3901472"/>
          </a:xfrm>
          <a:custGeom>
            <a:avLst/>
            <a:gdLst/>
            <a:ahLst/>
            <a:cxnLst/>
            <a:rect l="l" t="t" r="r" b="b"/>
            <a:pathLst>
              <a:path w="5573531" h="3901472">
                <a:moveTo>
                  <a:pt x="5573531" y="0"/>
                </a:moveTo>
                <a:lnTo>
                  <a:pt x="0" y="0"/>
                </a:lnTo>
                <a:lnTo>
                  <a:pt x="0" y="3901472"/>
                </a:lnTo>
                <a:lnTo>
                  <a:pt x="5573531" y="3901472"/>
                </a:lnTo>
                <a:lnTo>
                  <a:pt x="557353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7702821" y="7317305"/>
            <a:ext cx="856720" cy="803568"/>
          </a:xfrm>
          <a:custGeom>
            <a:avLst/>
            <a:gdLst/>
            <a:ahLst/>
            <a:cxnLst/>
            <a:rect l="l" t="t" r="r" b="b"/>
            <a:pathLst>
              <a:path w="856720" h="803568">
                <a:moveTo>
                  <a:pt x="0" y="0"/>
                </a:moveTo>
                <a:lnTo>
                  <a:pt x="856720" y="0"/>
                </a:lnTo>
                <a:lnTo>
                  <a:pt x="856720" y="803568"/>
                </a:lnTo>
                <a:lnTo>
                  <a:pt x="0" y="803568"/>
                </a:lnTo>
                <a:lnTo>
                  <a:pt x="0" y="0"/>
                </a:lnTo>
                <a:close/>
              </a:path>
            </a:pathLst>
          </a:custGeom>
          <a:blipFill>
            <a:blip r:embed="rId4">
              <a:extLst>
                <a:ext uri="{96DAC541-7B7A-43D3-8B79-37D633B846F1}">
                  <asvg:svgBlip xmlns:asvg="http://schemas.microsoft.com/office/drawing/2016/SVG/main" r:embed="rId5"/>
                </a:ext>
              </a:extLst>
            </a:blip>
            <a:stretch>
              <a:fillRect l="-257813" t="-147688" b="-19348"/>
            </a:stretch>
          </a:blipFill>
        </p:spPr>
      </p:sp>
      <p:grpSp>
        <p:nvGrpSpPr>
          <p:cNvPr id="16" name="Group 16"/>
          <p:cNvGrpSpPr/>
          <p:nvPr/>
        </p:nvGrpSpPr>
        <p:grpSpPr>
          <a:xfrm>
            <a:off x="9499794" y="2036700"/>
            <a:ext cx="7998178" cy="7911791"/>
            <a:chOff x="0" y="0"/>
            <a:chExt cx="2532537" cy="2505183"/>
          </a:xfrm>
        </p:grpSpPr>
        <p:sp>
          <p:nvSpPr>
            <p:cNvPr id="17" name="Freeform 17"/>
            <p:cNvSpPr/>
            <p:nvPr/>
          </p:nvSpPr>
          <p:spPr>
            <a:xfrm>
              <a:off x="0" y="0"/>
              <a:ext cx="2532537" cy="2505183"/>
            </a:xfrm>
            <a:custGeom>
              <a:avLst/>
              <a:gdLst/>
              <a:ahLst/>
              <a:cxnLst/>
              <a:rect l="l" t="t" r="r" b="b"/>
              <a:pathLst>
                <a:path w="2532537" h="2505183">
                  <a:moveTo>
                    <a:pt x="20327" y="0"/>
                  </a:moveTo>
                  <a:lnTo>
                    <a:pt x="2512210" y="0"/>
                  </a:lnTo>
                  <a:cubicBezTo>
                    <a:pt x="2523436" y="0"/>
                    <a:pt x="2532537" y="9101"/>
                    <a:pt x="2532537" y="20327"/>
                  </a:cubicBezTo>
                  <a:lnTo>
                    <a:pt x="2532537" y="2484856"/>
                  </a:lnTo>
                  <a:cubicBezTo>
                    <a:pt x="2532537" y="2496083"/>
                    <a:pt x="2523436" y="2505183"/>
                    <a:pt x="2512210" y="2505183"/>
                  </a:cubicBezTo>
                  <a:lnTo>
                    <a:pt x="20327" y="2505183"/>
                  </a:lnTo>
                  <a:cubicBezTo>
                    <a:pt x="9101" y="2505183"/>
                    <a:pt x="0" y="2496083"/>
                    <a:pt x="0" y="2484856"/>
                  </a:cubicBezTo>
                  <a:lnTo>
                    <a:pt x="0" y="20327"/>
                  </a:lnTo>
                  <a:cubicBezTo>
                    <a:pt x="0" y="9101"/>
                    <a:pt x="9101" y="0"/>
                    <a:pt x="20327" y="0"/>
                  </a:cubicBezTo>
                  <a:close/>
                </a:path>
              </a:pathLst>
            </a:custGeom>
            <a:solidFill>
              <a:srgbClr val="FFFFFF"/>
            </a:solidFill>
            <a:ln w="76200" cap="rnd">
              <a:gradFill>
                <a:gsLst>
                  <a:gs pos="0">
                    <a:srgbClr val="104994">
                      <a:alpha val="100000"/>
                    </a:srgbClr>
                  </a:gs>
                  <a:gs pos="100000">
                    <a:srgbClr val="3B7FD8">
                      <a:alpha val="100000"/>
                    </a:srgbClr>
                  </a:gs>
                </a:gsLst>
                <a:lin ang="0"/>
              </a:gradFill>
              <a:prstDash val="solid"/>
              <a:round/>
            </a:ln>
          </p:spPr>
        </p:sp>
        <p:sp>
          <p:nvSpPr>
            <p:cNvPr id="18" name="TextBox 18"/>
            <p:cNvSpPr txBox="1"/>
            <p:nvPr/>
          </p:nvSpPr>
          <p:spPr>
            <a:xfrm>
              <a:off x="0" y="-9525"/>
              <a:ext cx="2532537" cy="2514708"/>
            </a:xfrm>
            <a:prstGeom prst="rect">
              <a:avLst/>
            </a:prstGeom>
          </p:spPr>
          <p:txBody>
            <a:bodyPr lIns="42254" tIns="42254" rIns="42254" bIns="42254" rtlCol="0" anchor="ctr"/>
            <a:lstStyle/>
            <a:p>
              <a:pPr algn="ctr">
                <a:lnSpc>
                  <a:spcPts val="2811"/>
                </a:lnSpc>
              </a:pPr>
              <a:endParaRPr/>
            </a:p>
          </p:txBody>
        </p:sp>
      </p:grpSp>
      <p:grpSp>
        <p:nvGrpSpPr>
          <p:cNvPr id="19" name="Group 19"/>
          <p:cNvGrpSpPr/>
          <p:nvPr/>
        </p:nvGrpSpPr>
        <p:grpSpPr>
          <a:xfrm>
            <a:off x="9499794" y="2036700"/>
            <a:ext cx="8001165" cy="809960"/>
            <a:chOff x="0" y="0"/>
            <a:chExt cx="2107303" cy="213323"/>
          </a:xfrm>
        </p:grpSpPr>
        <p:sp>
          <p:nvSpPr>
            <p:cNvPr id="20" name="Freeform 20"/>
            <p:cNvSpPr/>
            <p:nvPr/>
          </p:nvSpPr>
          <p:spPr>
            <a:xfrm>
              <a:off x="0" y="0"/>
              <a:ext cx="2107303" cy="213323"/>
            </a:xfrm>
            <a:custGeom>
              <a:avLst/>
              <a:gdLst/>
              <a:ahLst/>
              <a:cxnLst/>
              <a:rect l="l" t="t" r="r" b="b"/>
              <a:pathLst>
                <a:path w="2107303" h="213323">
                  <a:moveTo>
                    <a:pt x="20320" y="0"/>
                  </a:moveTo>
                  <a:lnTo>
                    <a:pt x="2086983" y="0"/>
                  </a:lnTo>
                  <a:cubicBezTo>
                    <a:pt x="2092372" y="0"/>
                    <a:pt x="2097541" y="2141"/>
                    <a:pt x="2101351" y="5951"/>
                  </a:cubicBezTo>
                  <a:cubicBezTo>
                    <a:pt x="2105162" y="9762"/>
                    <a:pt x="2107303" y="14930"/>
                    <a:pt x="2107303" y="20320"/>
                  </a:cubicBezTo>
                  <a:lnTo>
                    <a:pt x="2107303" y="193003"/>
                  </a:lnTo>
                  <a:cubicBezTo>
                    <a:pt x="2107303" y="198392"/>
                    <a:pt x="2105162" y="203561"/>
                    <a:pt x="2101351" y="207371"/>
                  </a:cubicBezTo>
                  <a:cubicBezTo>
                    <a:pt x="2097541" y="211182"/>
                    <a:pt x="2092372" y="213323"/>
                    <a:pt x="2086983" y="213323"/>
                  </a:cubicBezTo>
                  <a:lnTo>
                    <a:pt x="20320" y="213323"/>
                  </a:lnTo>
                  <a:cubicBezTo>
                    <a:pt x="14930" y="213323"/>
                    <a:pt x="9762" y="211182"/>
                    <a:pt x="5951" y="207371"/>
                  </a:cubicBezTo>
                  <a:cubicBezTo>
                    <a:pt x="2141" y="203561"/>
                    <a:pt x="0" y="198392"/>
                    <a:pt x="0" y="193003"/>
                  </a:cubicBezTo>
                  <a:lnTo>
                    <a:pt x="0" y="20320"/>
                  </a:lnTo>
                  <a:cubicBezTo>
                    <a:pt x="0" y="14930"/>
                    <a:pt x="2141" y="9762"/>
                    <a:pt x="5951" y="5951"/>
                  </a:cubicBezTo>
                  <a:cubicBezTo>
                    <a:pt x="9762" y="2141"/>
                    <a:pt x="14930" y="0"/>
                    <a:pt x="20320" y="0"/>
                  </a:cubicBezTo>
                  <a:close/>
                </a:path>
              </a:pathLst>
            </a:custGeom>
            <a:gradFill rotWithShape="1">
              <a:gsLst>
                <a:gs pos="0">
                  <a:srgbClr val="104994">
                    <a:alpha val="100000"/>
                  </a:srgbClr>
                </a:gs>
                <a:gs pos="100000">
                  <a:srgbClr val="3B7FD8">
                    <a:alpha val="100000"/>
                  </a:srgbClr>
                </a:gs>
              </a:gsLst>
              <a:lin ang="0"/>
            </a:gradFill>
            <a:ln w="76200" cap="rnd">
              <a:gradFill>
                <a:gsLst>
                  <a:gs pos="0">
                    <a:srgbClr val="104994">
                      <a:alpha val="100000"/>
                    </a:srgbClr>
                  </a:gs>
                  <a:gs pos="100000">
                    <a:srgbClr val="558ACF">
                      <a:alpha val="100000"/>
                    </a:srgbClr>
                  </a:gs>
                </a:gsLst>
                <a:lin ang="0"/>
              </a:gradFill>
              <a:prstDash val="solid"/>
              <a:round/>
            </a:ln>
          </p:spPr>
        </p:sp>
        <p:sp>
          <p:nvSpPr>
            <p:cNvPr id="21" name="TextBox 21"/>
            <p:cNvSpPr txBox="1"/>
            <p:nvPr/>
          </p:nvSpPr>
          <p:spPr>
            <a:xfrm>
              <a:off x="0" y="-9525"/>
              <a:ext cx="2107303" cy="222848"/>
            </a:xfrm>
            <a:prstGeom prst="rect">
              <a:avLst/>
            </a:prstGeom>
          </p:spPr>
          <p:txBody>
            <a:bodyPr lIns="50800" tIns="50800" rIns="50800" bIns="50800" rtlCol="0" anchor="ctr"/>
            <a:lstStyle/>
            <a:p>
              <a:pPr marL="0" lvl="0" indent="0" algn="ctr">
                <a:lnSpc>
                  <a:spcPts val="2811"/>
                </a:lnSpc>
                <a:spcBef>
                  <a:spcPct val="0"/>
                </a:spcBef>
              </a:pPr>
              <a:endParaRPr/>
            </a:p>
          </p:txBody>
        </p:sp>
      </p:grpSp>
      <p:sp>
        <p:nvSpPr>
          <p:cNvPr id="22" name="TextBox 22"/>
          <p:cNvSpPr txBox="1"/>
          <p:nvPr/>
        </p:nvSpPr>
        <p:spPr>
          <a:xfrm>
            <a:off x="10315969" y="2012147"/>
            <a:ext cx="7029127" cy="1495425"/>
          </a:xfrm>
          <a:prstGeom prst="rect">
            <a:avLst/>
          </a:prstGeom>
        </p:spPr>
        <p:txBody>
          <a:bodyPr lIns="0" tIns="0" rIns="0" bIns="0" rtlCol="0" anchor="t">
            <a:spAutoFit/>
          </a:bodyPr>
          <a:lstStyle/>
          <a:p>
            <a:pPr algn="ctr">
              <a:lnSpc>
                <a:spcPts val="5851"/>
              </a:lnSpc>
            </a:pPr>
            <a:r>
              <a:rPr lang="en-US" sz="4876" b="1">
                <a:solidFill>
                  <a:srgbClr val="FFFFFF"/>
                </a:solidFill>
                <a:latin typeface="Inter Bold"/>
                <a:ea typeface="Inter Bold"/>
                <a:cs typeface="Inter Bold"/>
                <a:sym typeface="Inter Bold"/>
              </a:rPr>
              <a:t>Institutional donors</a:t>
            </a:r>
          </a:p>
          <a:p>
            <a:pPr algn="ctr">
              <a:lnSpc>
                <a:spcPts val="5851"/>
              </a:lnSpc>
            </a:pPr>
            <a:endParaRPr lang="en-US" sz="4876" b="1">
              <a:solidFill>
                <a:srgbClr val="FFFFFF"/>
              </a:solidFill>
              <a:latin typeface="Inter Bold"/>
              <a:ea typeface="Inter Bold"/>
              <a:cs typeface="Inter Bold"/>
              <a:sym typeface="Inter Bold"/>
            </a:endParaRPr>
          </a:p>
        </p:txBody>
      </p:sp>
      <p:sp>
        <p:nvSpPr>
          <p:cNvPr id="23" name="TextBox 23"/>
          <p:cNvSpPr txBox="1"/>
          <p:nvPr/>
        </p:nvSpPr>
        <p:spPr>
          <a:xfrm>
            <a:off x="9790109" y="3020253"/>
            <a:ext cx="7554986" cy="6670063"/>
          </a:xfrm>
          <a:prstGeom prst="rect">
            <a:avLst/>
          </a:prstGeom>
        </p:spPr>
        <p:txBody>
          <a:bodyPr lIns="0" tIns="0" rIns="0" bIns="0" rtlCol="0" anchor="t">
            <a:spAutoFit/>
          </a:bodyPr>
          <a:lstStyle/>
          <a:p>
            <a:pPr marL="0" lvl="0" indent="0" algn="just">
              <a:lnSpc>
                <a:spcPts val="2662"/>
              </a:lnSpc>
              <a:spcBef>
                <a:spcPct val="0"/>
              </a:spcBef>
            </a:pPr>
            <a:r>
              <a:rPr lang="en-US" sz="2048">
                <a:solidFill>
                  <a:srgbClr val="000000"/>
                </a:solidFill>
                <a:latin typeface="Inter"/>
                <a:ea typeface="Inter"/>
                <a:cs typeface="Inter"/>
                <a:sym typeface="Inter"/>
              </a:rPr>
              <a:t>WB/ IMF/ IFC (</a:t>
            </a:r>
            <a:r>
              <a:rPr lang="en-US" sz="2048" u="none" strike="noStrike">
                <a:solidFill>
                  <a:srgbClr val="000000"/>
                </a:solidFill>
                <a:latin typeface="Inter"/>
                <a:ea typeface="Inter"/>
                <a:cs typeface="Inter"/>
                <a:sym typeface="Inter"/>
              </a:rPr>
              <a:t>although they are UN bodies, they have a mixed role, not a purely donor one). Stabilizing policies.</a:t>
            </a:r>
          </a:p>
          <a:p>
            <a:pPr marL="0" lvl="0" indent="0" algn="just">
              <a:lnSpc>
                <a:spcPts val="2662"/>
              </a:lnSpc>
              <a:spcBef>
                <a:spcPct val="0"/>
              </a:spcBef>
            </a:pPr>
            <a:r>
              <a:rPr lang="en-US" sz="2048" u="none" strike="noStrike">
                <a:solidFill>
                  <a:srgbClr val="000000"/>
                </a:solidFill>
                <a:latin typeface="Inter"/>
                <a:ea typeface="Inter"/>
                <a:cs typeface="Inter"/>
                <a:sym typeface="Inter"/>
              </a:rPr>
              <a:t>EBRD/ EIB. Regional type, politically oriented;</a:t>
            </a:r>
          </a:p>
          <a:p>
            <a:pPr marL="0" lvl="0" indent="0" algn="just">
              <a:lnSpc>
                <a:spcPts val="2662"/>
              </a:lnSpc>
              <a:spcBef>
                <a:spcPct val="0"/>
              </a:spcBef>
            </a:pPr>
            <a:r>
              <a:rPr lang="en-US" sz="2048" u="none" strike="noStrike">
                <a:solidFill>
                  <a:srgbClr val="000000"/>
                </a:solidFill>
                <a:latin typeface="Inter"/>
                <a:ea typeface="Inter"/>
                <a:cs typeface="Inter"/>
                <a:sym typeface="Inter"/>
              </a:rPr>
              <a:t>ADB/ AIIB. Regional type, hybrid oriented (policy plus imposition of influence in the region);</a:t>
            </a:r>
          </a:p>
          <a:p>
            <a:pPr marL="0" lvl="0" indent="0" algn="just">
              <a:lnSpc>
                <a:spcPts val="2662"/>
              </a:lnSpc>
              <a:spcBef>
                <a:spcPct val="0"/>
              </a:spcBef>
            </a:pPr>
            <a:endParaRPr lang="en-US" sz="2048" u="none" strike="noStrike">
              <a:solidFill>
                <a:srgbClr val="000000"/>
              </a:solidFill>
              <a:latin typeface="Inter"/>
              <a:ea typeface="Inter"/>
              <a:cs typeface="Inter"/>
              <a:sym typeface="Inter"/>
            </a:endParaRPr>
          </a:p>
          <a:p>
            <a:pPr marL="0" lvl="0" indent="0" algn="just">
              <a:lnSpc>
                <a:spcPts val="2662"/>
              </a:lnSpc>
              <a:spcBef>
                <a:spcPct val="0"/>
              </a:spcBef>
            </a:pPr>
            <a:r>
              <a:rPr lang="en-US" sz="2048" u="none" strike="noStrike">
                <a:solidFill>
                  <a:srgbClr val="000000"/>
                </a:solidFill>
                <a:latin typeface="Inter"/>
                <a:ea typeface="Inter"/>
                <a:cs typeface="Inter"/>
                <a:sym typeface="Inter"/>
              </a:rPr>
              <a:t>Subregional type: Black Sea Investment Bank, NORD BANK, etc. Intermediaries in large financial framework contracts. </a:t>
            </a:r>
          </a:p>
          <a:p>
            <a:pPr marL="0" lvl="0" indent="0" algn="just">
              <a:lnSpc>
                <a:spcPts val="2662"/>
              </a:lnSpc>
              <a:spcBef>
                <a:spcPct val="0"/>
              </a:spcBef>
            </a:pPr>
            <a:r>
              <a:rPr lang="en-US" sz="2048" u="none" strike="noStrike">
                <a:solidFill>
                  <a:srgbClr val="000000"/>
                </a:solidFill>
                <a:latin typeface="Inter"/>
                <a:ea typeface="Inter"/>
                <a:cs typeface="Inter"/>
                <a:sym typeface="Inter"/>
              </a:rPr>
              <a:t>The development banks in various countries: KfW, ADF, EXIMBANK and others.</a:t>
            </a:r>
          </a:p>
          <a:p>
            <a:pPr marL="0" lvl="0" indent="0" algn="just">
              <a:lnSpc>
                <a:spcPts val="2662"/>
              </a:lnSpc>
              <a:spcBef>
                <a:spcPct val="0"/>
              </a:spcBef>
            </a:pPr>
            <a:endParaRPr lang="en-US" sz="2048" u="none" strike="noStrike">
              <a:solidFill>
                <a:srgbClr val="000000"/>
              </a:solidFill>
              <a:latin typeface="Inter"/>
              <a:ea typeface="Inter"/>
              <a:cs typeface="Inter"/>
              <a:sym typeface="Inter"/>
            </a:endParaRPr>
          </a:p>
          <a:p>
            <a:pPr marL="0" lvl="0" indent="0" algn="just">
              <a:lnSpc>
                <a:spcPts val="2662"/>
              </a:lnSpc>
              <a:spcBef>
                <a:spcPct val="0"/>
              </a:spcBef>
            </a:pPr>
            <a:r>
              <a:rPr lang="en-US" sz="2048" u="none" strike="noStrike">
                <a:solidFill>
                  <a:srgbClr val="000000"/>
                </a:solidFill>
                <a:latin typeface="Inter"/>
                <a:ea typeface="Inter"/>
                <a:cs typeface="Inter"/>
                <a:sym typeface="Inter"/>
              </a:rPr>
              <a:t>The common thing here is the extremely low interest rate as well as the provision of consulting services as a bonus in the implementation of the P. In addition, there are a number of good conditions such as a grace period, bearing the interest in certain cases and more. The negative aspect of this type of financing: - they finance large and established companies; - they finance only certain businesses; - lack of flexibility in funding.</a:t>
            </a:r>
          </a:p>
          <a:p>
            <a:pPr marL="0" lvl="0" indent="0" algn="just">
              <a:lnSpc>
                <a:spcPts val="2662"/>
              </a:lnSpc>
              <a:spcBef>
                <a:spcPct val="0"/>
              </a:spcBef>
            </a:pPr>
            <a:endParaRPr lang="en-US" sz="2048" u="none" strike="noStrike">
              <a:solidFill>
                <a:srgbClr val="000000"/>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6793"/>
            <a:ext cx="18288000" cy="1483813"/>
            <a:chOff x="0" y="0"/>
            <a:chExt cx="4816593" cy="390799"/>
          </a:xfrm>
        </p:grpSpPr>
        <p:sp>
          <p:nvSpPr>
            <p:cNvPr id="3" name="Freeform 3"/>
            <p:cNvSpPr/>
            <p:nvPr/>
          </p:nvSpPr>
          <p:spPr>
            <a:xfrm>
              <a:off x="0" y="0"/>
              <a:ext cx="4816592" cy="390799"/>
            </a:xfrm>
            <a:custGeom>
              <a:avLst/>
              <a:gdLst/>
              <a:ahLst/>
              <a:cxnLst/>
              <a:rect l="l" t="t" r="r" b="b"/>
              <a:pathLst>
                <a:path w="4816592" h="390799">
                  <a:moveTo>
                    <a:pt x="0" y="0"/>
                  </a:moveTo>
                  <a:lnTo>
                    <a:pt x="4816592" y="0"/>
                  </a:lnTo>
                  <a:lnTo>
                    <a:pt x="4816592" y="390799"/>
                  </a:lnTo>
                  <a:lnTo>
                    <a:pt x="0" y="390799"/>
                  </a:lnTo>
                  <a:close/>
                </a:path>
              </a:pathLst>
            </a:custGeom>
            <a:gradFill rotWithShape="1">
              <a:gsLst>
                <a:gs pos="0">
                  <a:srgbClr val="104994">
                    <a:alpha val="100000"/>
                  </a:srgbClr>
                </a:gs>
                <a:gs pos="100000">
                  <a:srgbClr val="558ACF">
                    <a:alpha val="100000"/>
                  </a:srgbClr>
                </a:gs>
              </a:gsLst>
              <a:lin ang="0"/>
            </a:gradFill>
          </p:spPr>
        </p:sp>
        <p:sp>
          <p:nvSpPr>
            <p:cNvPr id="4" name="TextBox 4"/>
            <p:cNvSpPr txBox="1"/>
            <p:nvPr/>
          </p:nvSpPr>
          <p:spPr>
            <a:xfrm>
              <a:off x="0" y="-9525"/>
              <a:ext cx="4816593" cy="400324"/>
            </a:xfrm>
            <a:prstGeom prst="rect">
              <a:avLst/>
            </a:prstGeom>
          </p:spPr>
          <p:txBody>
            <a:bodyPr lIns="50800" tIns="50800" rIns="50800" bIns="50800" rtlCol="0" anchor="ctr"/>
            <a:lstStyle/>
            <a:p>
              <a:pPr algn="ctr">
                <a:lnSpc>
                  <a:spcPts val="2811"/>
                </a:lnSpc>
              </a:pPr>
              <a:endParaRPr/>
            </a:p>
          </p:txBody>
        </p:sp>
      </p:grpSp>
      <p:sp>
        <p:nvSpPr>
          <p:cNvPr id="5" name="TextBox 5"/>
          <p:cNvSpPr txBox="1"/>
          <p:nvPr/>
        </p:nvSpPr>
        <p:spPr>
          <a:xfrm>
            <a:off x="1115467" y="650709"/>
            <a:ext cx="15994681" cy="845577"/>
          </a:xfrm>
          <a:prstGeom prst="rect">
            <a:avLst/>
          </a:prstGeom>
        </p:spPr>
        <p:txBody>
          <a:bodyPr lIns="0" tIns="0" rIns="0" bIns="0" rtlCol="0" anchor="t">
            <a:spAutoFit/>
          </a:bodyPr>
          <a:lstStyle/>
          <a:p>
            <a:pPr algn="ctr">
              <a:lnSpc>
                <a:spcPts val="6361"/>
              </a:lnSpc>
            </a:pPr>
            <a:r>
              <a:rPr lang="en-US" sz="6361" b="1">
                <a:solidFill>
                  <a:srgbClr val="FFFFFF"/>
                </a:solidFill>
                <a:latin typeface="Aileron Bold"/>
                <a:ea typeface="Aileron Bold"/>
                <a:cs typeface="Aileron Bold"/>
                <a:sym typeface="Aileron Bold"/>
              </a:rPr>
              <a:t>POSSIBLE FINANCIAL RESOURCES</a:t>
            </a:r>
          </a:p>
        </p:txBody>
      </p:sp>
      <p:grpSp>
        <p:nvGrpSpPr>
          <p:cNvPr id="6" name="Group 6"/>
          <p:cNvGrpSpPr/>
          <p:nvPr/>
        </p:nvGrpSpPr>
        <p:grpSpPr>
          <a:xfrm>
            <a:off x="506379" y="2059772"/>
            <a:ext cx="8606429" cy="7888719"/>
            <a:chOff x="0" y="0"/>
            <a:chExt cx="2725133" cy="2497878"/>
          </a:xfrm>
        </p:grpSpPr>
        <p:sp>
          <p:nvSpPr>
            <p:cNvPr id="7" name="Freeform 7"/>
            <p:cNvSpPr/>
            <p:nvPr/>
          </p:nvSpPr>
          <p:spPr>
            <a:xfrm>
              <a:off x="0" y="0"/>
              <a:ext cx="2725133" cy="2497878"/>
            </a:xfrm>
            <a:custGeom>
              <a:avLst/>
              <a:gdLst/>
              <a:ahLst/>
              <a:cxnLst/>
              <a:rect l="l" t="t" r="r" b="b"/>
              <a:pathLst>
                <a:path w="2725133" h="2497878">
                  <a:moveTo>
                    <a:pt x="18891" y="0"/>
                  </a:moveTo>
                  <a:lnTo>
                    <a:pt x="2706242" y="0"/>
                  </a:lnTo>
                  <a:cubicBezTo>
                    <a:pt x="2711252" y="0"/>
                    <a:pt x="2716057" y="1990"/>
                    <a:pt x="2719600" y="5533"/>
                  </a:cubicBezTo>
                  <a:cubicBezTo>
                    <a:pt x="2723143" y="9076"/>
                    <a:pt x="2725133" y="13880"/>
                    <a:pt x="2725133" y="18891"/>
                  </a:cubicBezTo>
                  <a:lnTo>
                    <a:pt x="2725133" y="2478987"/>
                  </a:lnTo>
                  <a:cubicBezTo>
                    <a:pt x="2725133" y="2483997"/>
                    <a:pt x="2723143" y="2488802"/>
                    <a:pt x="2719600" y="2492345"/>
                  </a:cubicBezTo>
                  <a:cubicBezTo>
                    <a:pt x="2716057" y="2495888"/>
                    <a:pt x="2711252" y="2497878"/>
                    <a:pt x="2706242" y="2497878"/>
                  </a:cubicBezTo>
                  <a:lnTo>
                    <a:pt x="18891" y="2497878"/>
                  </a:lnTo>
                  <a:cubicBezTo>
                    <a:pt x="13880" y="2497878"/>
                    <a:pt x="9076" y="2495888"/>
                    <a:pt x="5533" y="2492345"/>
                  </a:cubicBezTo>
                  <a:cubicBezTo>
                    <a:pt x="1990" y="2488802"/>
                    <a:pt x="0" y="2483997"/>
                    <a:pt x="0" y="2478987"/>
                  </a:cubicBezTo>
                  <a:lnTo>
                    <a:pt x="0" y="18891"/>
                  </a:lnTo>
                  <a:cubicBezTo>
                    <a:pt x="0" y="13880"/>
                    <a:pt x="1990" y="9076"/>
                    <a:pt x="5533" y="5533"/>
                  </a:cubicBezTo>
                  <a:cubicBezTo>
                    <a:pt x="9076" y="1990"/>
                    <a:pt x="13880" y="0"/>
                    <a:pt x="18891" y="0"/>
                  </a:cubicBezTo>
                  <a:close/>
                </a:path>
              </a:pathLst>
            </a:custGeom>
            <a:solidFill>
              <a:srgbClr val="FFFFFF"/>
            </a:solidFill>
            <a:ln w="76200" cap="rnd">
              <a:gradFill>
                <a:gsLst>
                  <a:gs pos="0">
                    <a:srgbClr val="104994">
                      <a:alpha val="100000"/>
                    </a:srgbClr>
                  </a:gs>
                  <a:gs pos="100000">
                    <a:srgbClr val="3B7FD8">
                      <a:alpha val="100000"/>
                    </a:srgbClr>
                  </a:gs>
                </a:gsLst>
                <a:lin ang="0"/>
              </a:gradFill>
              <a:prstDash val="solid"/>
              <a:round/>
            </a:ln>
          </p:spPr>
        </p:sp>
        <p:sp>
          <p:nvSpPr>
            <p:cNvPr id="8" name="TextBox 8"/>
            <p:cNvSpPr txBox="1"/>
            <p:nvPr/>
          </p:nvSpPr>
          <p:spPr>
            <a:xfrm>
              <a:off x="0" y="-9525"/>
              <a:ext cx="2725133" cy="2507403"/>
            </a:xfrm>
            <a:prstGeom prst="rect">
              <a:avLst/>
            </a:prstGeom>
          </p:spPr>
          <p:txBody>
            <a:bodyPr lIns="42254" tIns="42254" rIns="42254" bIns="42254" rtlCol="0" anchor="ctr"/>
            <a:lstStyle/>
            <a:p>
              <a:pPr algn="ctr">
                <a:lnSpc>
                  <a:spcPts val="2811"/>
                </a:lnSpc>
              </a:pPr>
              <a:endParaRPr/>
            </a:p>
          </p:txBody>
        </p:sp>
      </p:grpSp>
      <p:grpSp>
        <p:nvGrpSpPr>
          <p:cNvPr id="9" name="Group 9"/>
          <p:cNvGrpSpPr/>
          <p:nvPr/>
        </p:nvGrpSpPr>
        <p:grpSpPr>
          <a:xfrm>
            <a:off x="509366" y="2059772"/>
            <a:ext cx="8603442" cy="873451"/>
            <a:chOff x="0" y="0"/>
            <a:chExt cx="2265927" cy="230045"/>
          </a:xfrm>
        </p:grpSpPr>
        <p:sp>
          <p:nvSpPr>
            <p:cNvPr id="10" name="Freeform 10"/>
            <p:cNvSpPr/>
            <p:nvPr/>
          </p:nvSpPr>
          <p:spPr>
            <a:xfrm>
              <a:off x="0" y="0"/>
              <a:ext cx="2265927" cy="230045"/>
            </a:xfrm>
            <a:custGeom>
              <a:avLst/>
              <a:gdLst/>
              <a:ahLst/>
              <a:cxnLst/>
              <a:rect l="l" t="t" r="r" b="b"/>
              <a:pathLst>
                <a:path w="2265927" h="230045">
                  <a:moveTo>
                    <a:pt x="18897" y="0"/>
                  </a:moveTo>
                  <a:lnTo>
                    <a:pt x="2247030" y="0"/>
                  </a:lnTo>
                  <a:cubicBezTo>
                    <a:pt x="2252042" y="0"/>
                    <a:pt x="2256848" y="1991"/>
                    <a:pt x="2260392" y="5535"/>
                  </a:cubicBezTo>
                  <a:cubicBezTo>
                    <a:pt x="2263936" y="9079"/>
                    <a:pt x="2265927" y="13885"/>
                    <a:pt x="2265927" y="18897"/>
                  </a:cubicBezTo>
                  <a:lnTo>
                    <a:pt x="2265927" y="211147"/>
                  </a:lnTo>
                  <a:cubicBezTo>
                    <a:pt x="2265927" y="216159"/>
                    <a:pt x="2263936" y="220966"/>
                    <a:pt x="2260392" y="224510"/>
                  </a:cubicBezTo>
                  <a:cubicBezTo>
                    <a:pt x="2256848" y="228054"/>
                    <a:pt x="2252042" y="230045"/>
                    <a:pt x="2247030" y="230045"/>
                  </a:cubicBezTo>
                  <a:lnTo>
                    <a:pt x="18897" y="230045"/>
                  </a:lnTo>
                  <a:cubicBezTo>
                    <a:pt x="13885" y="230045"/>
                    <a:pt x="9079" y="228054"/>
                    <a:pt x="5535" y="224510"/>
                  </a:cubicBezTo>
                  <a:cubicBezTo>
                    <a:pt x="1991" y="220966"/>
                    <a:pt x="0" y="216159"/>
                    <a:pt x="0" y="211147"/>
                  </a:cubicBezTo>
                  <a:lnTo>
                    <a:pt x="0" y="18897"/>
                  </a:lnTo>
                  <a:cubicBezTo>
                    <a:pt x="0" y="13885"/>
                    <a:pt x="1991" y="9079"/>
                    <a:pt x="5535" y="5535"/>
                  </a:cubicBezTo>
                  <a:cubicBezTo>
                    <a:pt x="9079" y="1991"/>
                    <a:pt x="13885" y="0"/>
                    <a:pt x="18897" y="0"/>
                  </a:cubicBezTo>
                  <a:close/>
                </a:path>
              </a:pathLst>
            </a:custGeom>
            <a:gradFill rotWithShape="1">
              <a:gsLst>
                <a:gs pos="0">
                  <a:srgbClr val="104994">
                    <a:alpha val="100000"/>
                  </a:srgbClr>
                </a:gs>
                <a:gs pos="100000">
                  <a:srgbClr val="3B7FD8">
                    <a:alpha val="100000"/>
                  </a:srgbClr>
                </a:gs>
              </a:gsLst>
              <a:lin ang="0"/>
            </a:gradFill>
            <a:ln w="76200" cap="rnd">
              <a:gradFill>
                <a:gsLst>
                  <a:gs pos="0">
                    <a:srgbClr val="104994">
                      <a:alpha val="100000"/>
                    </a:srgbClr>
                  </a:gs>
                  <a:gs pos="100000">
                    <a:srgbClr val="558ACF">
                      <a:alpha val="100000"/>
                    </a:srgbClr>
                  </a:gs>
                </a:gsLst>
                <a:lin ang="0"/>
              </a:gradFill>
              <a:prstDash val="solid"/>
              <a:round/>
            </a:ln>
          </p:spPr>
        </p:sp>
        <p:sp>
          <p:nvSpPr>
            <p:cNvPr id="11" name="TextBox 11"/>
            <p:cNvSpPr txBox="1"/>
            <p:nvPr/>
          </p:nvSpPr>
          <p:spPr>
            <a:xfrm>
              <a:off x="0" y="-9525"/>
              <a:ext cx="2265927" cy="239570"/>
            </a:xfrm>
            <a:prstGeom prst="rect">
              <a:avLst/>
            </a:prstGeom>
          </p:spPr>
          <p:txBody>
            <a:bodyPr lIns="50800" tIns="50800" rIns="50800" bIns="50800" rtlCol="0" anchor="ctr"/>
            <a:lstStyle/>
            <a:p>
              <a:pPr marL="0" lvl="0" indent="0" algn="ctr">
                <a:lnSpc>
                  <a:spcPts val="2811"/>
                </a:lnSpc>
                <a:spcBef>
                  <a:spcPct val="0"/>
                </a:spcBef>
              </a:pPr>
              <a:endParaRPr/>
            </a:p>
          </p:txBody>
        </p:sp>
      </p:grpSp>
      <p:sp>
        <p:nvSpPr>
          <p:cNvPr id="12" name="TextBox 12"/>
          <p:cNvSpPr txBox="1"/>
          <p:nvPr/>
        </p:nvSpPr>
        <p:spPr>
          <a:xfrm>
            <a:off x="1256822" y="2084659"/>
            <a:ext cx="7029127" cy="1514475"/>
          </a:xfrm>
          <a:prstGeom prst="rect">
            <a:avLst/>
          </a:prstGeom>
        </p:spPr>
        <p:txBody>
          <a:bodyPr lIns="0" tIns="0" rIns="0" bIns="0" rtlCol="0" anchor="t">
            <a:spAutoFit/>
          </a:bodyPr>
          <a:lstStyle/>
          <a:p>
            <a:pPr algn="ctr">
              <a:lnSpc>
                <a:spcPts val="5971"/>
              </a:lnSpc>
            </a:pPr>
            <a:r>
              <a:rPr lang="en-US" sz="4976" b="1">
                <a:solidFill>
                  <a:srgbClr val="FFFFFF"/>
                </a:solidFill>
                <a:latin typeface="Inter Bold"/>
                <a:ea typeface="Inter Bold"/>
                <a:cs typeface="Inter Bold"/>
                <a:sym typeface="Inter Bold"/>
              </a:rPr>
              <a:t>Commercial banks.</a:t>
            </a:r>
          </a:p>
          <a:p>
            <a:pPr algn="ctr">
              <a:lnSpc>
                <a:spcPts val="5971"/>
              </a:lnSpc>
            </a:pPr>
            <a:endParaRPr lang="en-US" sz="4976" b="1">
              <a:solidFill>
                <a:srgbClr val="FFFFFF"/>
              </a:solidFill>
              <a:latin typeface="Inter Bold"/>
              <a:ea typeface="Inter Bold"/>
              <a:cs typeface="Inter Bold"/>
              <a:sym typeface="Inter Bold"/>
            </a:endParaRPr>
          </a:p>
        </p:txBody>
      </p:sp>
      <p:sp>
        <p:nvSpPr>
          <p:cNvPr id="13" name="TextBox 13"/>
          <p:cNvSpPr txBox="1"/>
          <p:nvPr/>
        </p:nvSpPr>
        <p:spPr>
          <a:xfrm>
            <a:off x="665230" y="2904648"/>
            <a:ext cx="8212311" cy="7198383"/>
          </a:xfrm>
          <a:prstGeom prst="rect">
            <a:avLst/>
          </a:prstGeom>
        </p:spPr>
        <p:txBody>
          <a:bodyPr lIns="0" tIns="0" rIns="0" bIns="0" rtlCol="0" anchor="t">
            <a:spAutoFit/>
          </a:bodyPr>
          <a:lstStyle/>
          <a:p>
            <a:pPr marL="0" lvl="0" indent="0" algn="just">
              <a:lnSpc>
                <a:spcPts val="3182"/>
              </a:lnSpc>
              <a:spcBef>
                <a:spcPct val="0"/>
              </a:spcBef>
            </a:pPr>
            <a:r>
              <a:rPr lang="en-US" sz="2448">
                <a:solidFill>
                  <a:srgbClr val="000000"/>
                </a:solidFill>
                <a:latin typeface="Inter"/>
                <a:ea typeface="Inter"/>
                <a:cs typeface="Inter"/>
                <a:sym typeface="Inter"/>
              </a:rPr>
              <a:t>The principle </a:t>
            </a:r>
            <a:r>
              <a:rPr lang="en-US" sz="2448" u="none" strike="noStrike">
                <a:solidFill>
                  <a:srgbClr val="000000"/>
                </a:solidFill>
                <a:latin typeface="Inter"/>
                <a:ea typeface="Inter"/>
                <a:cs typeface="Inter"/>
                <a:sym typeface="Inter"/>
              </a:rPr>
              <a:t>of the main financial action here is LIBOR (London Interbank Offered Rate) and the credit rating of a particular country, territory or individual corporation.</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a:p>
            <a:pPr marL="0" lvl="0" indent="0" algn="just">
              <a:lnSpc>
                <a:spcPts val="3182"/>
              </a:lnSpc>
              <a:spcBef>
                <a:spcPct val="0"/>
              </a:spcBef>
            </a:pPr>
            <a:r>
              <a:rPr lang="en-US" sz="2448" u="none" strike="noStrike">
                <a:solidFill>
                  <a:srgbClr val="000000"/>
                </a:solidFill>
                <a:latin typeface="Inter"/>
                <a:ea typeface="Inter"/>
                <a:cs typeface="Inter"/>
                <a:sym typeface="Inter"/>
              </a:rPr>
              <a:t>Forms: - Credit line (openness and trust between the two parties); - Framework credit line (within the project, but for a specific action or acquisition); - Revolving loan (continuing loan within the project, without the need for new contractual relations).</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a:p>
            <a:pPr marL="0" lvl="0" indent="0" algn="just">
              <a:lnSpc>
                <a:spcPts val="3182"/>
              </a:lnSpc>
              <a:spcBef>
                <a:spcPct val="0"/>
              </a:spcBef>
            </a:pPr>
            <a:r>
              <a:rPr lang="en-US" sz="2448" u="none" strike="noStrike">
                <a:solidFill>
                  <a:srgbClr val="000000"/>
                </a:solidFill>
                <a:latin typeface="Inter"/>
                <a:ea typeface="Inter"/>
                <a:cs typeface="Inter"/>
                <a:sym typeface="Inter"/>
              </a:rPr>
              <a:t>The use of credit increases the responsibility of the PM for its repayment, respectively for the implementation of the P. The establishment of a relationship of trust with the commercial bank leads to the fact that it monitors and controls the P. during all its phases, which proves to be of certain assistance to the PM.</a:t>
            </a:r>
          </a:p>
          <a:p>
            <a:pPr marL="0" lvl="0" indent="0" algn="just">
              <a:lnSpc>
                <a:spcPts val="3182"/>
              </a:lnSpc>
              <a:spcBef>
                <a:spcPct val="0"/>
              </a:spcBef>
            </a:pPr>
            <a:endParaRPr lang="en-US" sz="2448" u="none" strike="noStrike">
              <a:solidFill>
                <a:srgbClr val="000000"/>
              </a:solidFill>
              <a:latin typeface="Inter"/>
              <a:ea typeface="Inter"/>
              <a:cs typeface="Inter"/>
              <a:sym typeface="Inter"/>
            </a:endParaRPr>
          </a:p>
        </p:txBody>
      </p:sp>
      <p:sp>
        <p:nvSpPr>
          <p:cNvPr id="14" name="Freeform 14"/>
          <p:cNvSpPr/>
          <p:nvPr/>
        </p:nvSpPr>
        <p:spPr>
          <a:xfrm rot="-10800000" flipH="1">
            <a:off x="17706611" y="4734679"/>
            <a:ext cx="5573531" cy="3901472"/>
          </a:xfrm>
          <a:custGeom>
            <a:avLst/>
            <a:gdLst/>
            <a:ahLst/>
            <a:cxnLst/>
            <a:rect l="l" t="t" r="r" b="b"/>
            <a:pathLst>
              <a:path w="5573531" h="3901472">
                <a:moveTo>
                  <a:pt x="5573531" y="0"/>
                </a:moveTo>
                <a:lnTo>
                  <a:pt x="0" y="0"/>
                </a:lnTo>
                <a:lnTo>
                  <a:pt x="0" y="3901472"/>
                </a:lnTo>
                <a:lnTo>
                  <a:pt x="5573531" y="3901472"/>
                </a:lnTo>
                <a:lnTo>
                  <a:pt x="557353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7702821" y="7317305"/>
            <a:ext cx="856720" cy="803568"/>
          </a:xfrm>
          <a:custGeom>
            <a:avLst/>
            <a:gdLst/>
            <a:ahLst/>
            <a:cxnLst/>
            <a:rect l="l" t="t" r="r" b="b"/>
            <a:pathLst>
              <a:path w="856720" h="803568">
                <a:moveTo>
                  <a:pt x="0" y="0"/>
                </a:moveTo>
                <a:lnTo>
                  <a:pt x="856720" y="0"/>
                </a:lnTo>
                <a:lnTo>
                  <a:pt x="856720" y="803568"/>
                </a:lnTo>
                <a:lnTo>
                  <a:pt x="0" y="803568"/>
                </a:lnTo>
                <a:lnTo>
                  <a:pt x="0" y="0"/>
                </a:lnTo>
                <a:close/>
              </a:path>
            </a:pathLst>
          </a:custGeom>
          <a:blipFill>
            <a:blip r:embed="rId4">
              <a:extLst>
                <a:ext uri="{96DAC541-7B7A-43D3-8B79-37D633B846F1}">
                  <asvg:svgBlip xmlns:asvg="http://schemas.microsoft.com/office/drawing/2016/SVG/main" r:embed="rId5"/>
                </a:ext>
              </a:extLst>
            </a:blip>
            <a:stretch>
              <a:fillRect l="-257813" t="-147688" b="-19348"/>
            </a:stretch>
          </a:blipFill>
        </p:spPr>
      </p:sp>
      <p:grpSp>
        <p:nvGrpSpPr>
          <p:cNvPr id="16" name="Group 16"/>
          <p:cNvGrpSpPr/>
          <p:nvPr/>
        </p:nvGrpSpPr>
        <p:grpSpPr>
          <a:xfrm>
            <a:off x="9499794" y="2036700"/>
            <a:ext cx="7998178" cy="7911791"/>
            <a:chOff x="0" y="0"/>
            <a:chExt cx="2532537" cy="2505183"/>
          </a:xfrm>
        </p:grpSpPr>
        <p:sp>
          <p:nvSpPr>
            <p:cNvPr id="17" name="Freeform 17"/>
            <p:cNvSpPr/>
            <p:nvPr/>
          </p:nvSpPr>
          <p:spPr>
            <a:xfrm>
              <a:off x="0" y="0"/>
              <a:ext cx="2532537" cy="2505183"/>
            </a:xfrm>
            <a:custGeom>
              <a:avLst/>
              <a:gdLst/>
              <a:ahLst/>
              <a:cxnLst/>
              <a:rect l="l" t="t" r="r" b="b"/>
              <a:pathLst>
                <a:path w="2532537" h="2505183">
                  <a:moveTo>
                    <a:pt x="20327" y="0"/>
                  </a:moveTo>
                  <a:lnTo>
                    <a:pt x="2512210" y="0"/>
                  </a:lnTo>
                  <a:cubicBezTo>
                    <a:pt x="2523436" y="0"/>
                    <a:pt x="2532537" y="9101"/>
                    <a:pt x="2532537" y="20327"/>
                  </a:cubicBezTo>
                  <a:lnTo>
                    <a:pt x="2532537" y="2484856"/>
                  </a:lnTo>
                  <a:cubicBezTo>
                    <a:pt x="2532537" y="2496083"/>
                    <a:pt x="2523436" y="2505183"/>
                    <a:pt x="2512210" y="2505183"/>
                  </a:cubicBezTo>
                  <a:lnTo>
                    <a:pt x="20327" y="2505183"/>
                  </a:lnTo>
                  <a:cubicBezTo>
                    <a:pt x="9101" y="2505183"/>
                    <a:pt x="0" y="2496083"/>
                    <a:pt x="0" y="2484856"/>
                  </a:cubicBezTo>
                  <a:lnTo>
                    <a:pt x="0" y="20327"/>
                  </a:lnTo>
                  <a:cubicBezTo>
                    <a:pt x="0" y="9101"/>
                    <a:pt x="9101" y="0"/>
                    <a:pt x="20327" y="0"/>
                  </a:cubicBezTo>
                  <a:close/>
                </a:path>
              </a:pathLst>
            </a:custGeom>
            <a:solidFill>
              <a:srgbClr val="FFFFFF"/>
            </a:solidFill>
            <a:ln w="76200" cap="rnd">
              <a:gradFill>
                <a:gsLst>
                  <a:gs pos="0">
                    <a:srgbClr val="104994">
                      <a:alpha val="100000"/>
                    </a:srgbClr>
                  </a:gs>
                  <a:gs pos="100000">
                    <a:srgbClr val="3B7FD8">
                      <a:alpha val="100000"/>
                    </a:srgbClr>
                  </a:gs>
                </a:gsLst>
                <a:lin ang="0"/>
              </a:gradFill>
              <a:prstDash val="solid"/>
              <a:round/>
            </a:ln>
          </p:spPr>
        </p:sp>
        <p:sp>
          <p:nvSpPr>
            <p:cNvPr id="18" name="TextBox 18"/>
            <p:cNvSpPr txBox="1"/>
            <p:nvPr/>
          </p:nvSpPr>
          <p:spPr>
            <a:xfrm>
              <a:off x="0" y="-9525"/>
              <a:ext cx="2532537" cy="2514708"/>
            </a:xfrm>
            <a:prstGeom prst="rect">
              <a:avLst/>
            </a:prstGeom>
          </p:spPr>
          <p:txBody>
            <a:bodyPr lIns="42254" tIns="42254" rIns="42254" bIns="42254" rtlCol="0" anchor="ctr"/>
            <a:lstStyle/>
            <a:p>
              <a:pPr algn="ctr">
                <a:lnSpc>
                  <a:spcPts val="2811"/>
                </a:lnSpc>
              </a:pPr>
              <a:endParaRPr/>
            </a:p>
          </p:txBody>
        </p:sp>
      </p:grpSp>
      <p:grpSp>
        <p:nvGrpSpPr>
          <p:cNvPr id="19" name="Group 19"/>
          <p:cNvGrpSpPr/>
          <p:nvPr/>
        </p:nvGrpSpPr>
        <p:grpSpPr>
          <a:xfrm>
            <a:off x="9499794" y="2036700"/>
            <a:ext cx="8001165" cy="809960"/>
            <a:chOff x="0" y="0"/>
            <a:chExt cx="2107303" cy="213323"/>
          </a:xfrm>
        </p:grpSpPr>
        <p:sp>
          <p:nvSpPr>
            <p:cNvPr id="20" name="Freeform 20"/>
            <p:cNvSpPr/>
            <p:nvPr/>
          </p:nvSpPr>
          <p:spPr>
            <a:xfrm>
              <a:off x="0" y="0"/>
              <a:ext cx="2107303" cy="213323"/>
            </a:xfrm>
            <a:custGeom>
              <a:avLst/>
              <a:gdLst/>
              <a:ahLst/>
              <a:cxnLst/>
              <a:rect l="l" t="t" r="r" b="b"/>
              <a:pathLst>
                <a:path w="2107303" h="213323">
                  <a:moveTo>
                    <a:pt x="20320" y="0"/>
                  </a:moveTo>
                  <a:lnTo>
                    <a:pt x="2086983" y="0"/>
                  </a:lnTo>
                  <a:cubicBezTo>
                    <a:pt x="2092372" y="0"/>
                    <a:pt x="2097541" y="2141"/>
                    <a:pt x="2101351" y="5951"/>
                  </a:cubicBezTo>
                  <a:cubicBezTo>
                    <a:pt x="2105162" y="9762"/>
                    <a:pt x="2107303" y="14930"/>
                    <a:pt x="2107303" y="20320"/>
                  </a:cubicBezTo>
                  <a:lnTo>
                    <a:pt x="2107303" y="193003"/>
                  </a:lnTo>
                  <a:cubicBezTo>
                    <a:pt x="2107303" y="198392"/>
                    <a:pt x="2105162" y="203561"/>
                    <a:pt x="2101351" y="207371"/>
                  </a:cubicBezTo>
                  <a:cubicBezTo>
                    <a:pt x="2097541" y="211182"/>
                    <a:pt x="2092372" y="213323"/>
                    <a:pt x="2086983" y="213323"/>
                  </a:cubicBezTo>
                  <a:lnTo>
                    <a:pt x="20320" y="213323"/>
                  </a:lnTo>
                  <a:cubicBezTo>
                    <a:pt x="14930" y="213323"/>
                    <a:pt x="9762" y="211182"/>
                    <a:pt x="5951" y="207371"/>
                  </a:cubicBezTo>
                  <a:cubicBezTo>
                    <a:pt x="2141" y="203561"/>
                    <a:pt x="0" y="198392"/>
                    <a:pt x="0" y="193003"/>
                  </a:cubicBezTo>
                  <a:lnTo>
                    <a:pt x="0" y="20320"/>
                  </a:lnTo>
                  <a:cubicBezTo>
                    <a:pt x="0" y="14930"/>
                    <a:pt x="2141" y="9762"/>
                    <a:pt x="5951" y="5951"/>
                  </a:cubicBezTo>
                  <a:cubicBezTo>
                    <a:pt x="9762" y="2141"/>
                    <a:pt x="14930" y="0"/>
                    <a:pt x="20320" y="0"/>
                  </a:cubicBezTo>
                  <a:close/>
                </a:path>
              </a:pathLst>
            </a:custGeom>
            <a:gradFill rotWithShape="1">
              <a:gsLst>
                <a:gs pos="0">
                  <a:srgbClr val="104994">
                    <a:alpha val="100000"/>
                  </a:srgbClr>
                </a:gs>
                <a:gs pos="100000">
                  <a:srgbClr val="3B7FD8">
                    <a:alpha val="100000"/>
                  </a:srgbClr>
                </a:gs>
              </a:gsLst>
              <a:lin ang="0"/>
            </a:gradFill>
            <a:ln w="76200" cap="rnd">
              <a:gradFill>
                <a:gsLst>
                  <a:gs pos="0">
                    <a:srgbClr val="104994">
                      <a:alpha val="100000"/>
                    </a:srgbClr>
                  </a:gs>
                  <a:gs pos="100000">
                    <a:srgbClr val="558ACF">
                      <a:alpha val="100000"/>
                    </a:srgbClr>
                  </a:gs>
                </a:gsLst>
                <a:lin ang="0"/>
              </a:gradFill>
              <a:prstDash val="solid"/>
              <a:round/>
            </a:ln>
          </p:spPr>
        </p:sp>
        <p:sp>
          <p:nvSpPr>
            <p:cNvPr id="21" name="TextBox 21"/>
            <p:cNvSpPr txBox="1"/>
            <p:nvPr/>
          </p:nvSpPr>
          <p:spPr>
            <a:xfrm>
              <a:off x="0" y="-9525"/>
              <a:ext cx="2107303" cy="222848"/>
            </a:xfrm>
            <a:prstGeom prst="rect">
              <a:avLst/>
            </a:prstGeom>
          </p:spPr>
          <p:txBody>
            <a:bodyPr lIns="50800" tIns="50800" rIns="50800" bIns="50800" rtlCol="0" anchor="ctr"/>
            <a:lstStyle/>
            <a:p>
              <a:pPr marL="0" lvl="0" indent="0" algn="ctr">
                <a:lnSpc>
                  <a:spcPts val="2811"/>
                </a:lnSpc>
                <a:spcBef>
                  <a:spcPct val="0"/>
                </a:spcBef>
              </a:pPr>
              <a:endParaRPr/>
            </a:p>
          </p:txBody>
        </p:sp>
      </p:grpSp>
      <p:sp>
        <p:nvSpPr>
          <p:cNvPr id="22" name="TextBox 22"/>
          <p:cNvSpPr txBox="1"/>
          <p:nvPr/>
        </p:nvSpPr>
        <p:spPr>
          <a:xfrm>
            <a:off x="10053039" y="2052530"/>
            <a:ext cx="7029127" cy="704850"/>
          </a:xfrm>
          <a:prstGeom prst="rect">
            <a:avLst/>
          </a:prstGeom>
        </p:spPr>
        <p:txBody>
          <a:bodyPr lIns="0" tIns="0" rIns="0" bIns="0" rtlCol="0" anchor="t">
            <a:spAutoFit/>
          </a:bodyPr>
          <a:lstStyle/>
          <a:p>
            <a:pPr algn="ctr">
              <a:lnSpc>
                <a:spcPts val="5491"/>
              </a:lnSpc>
            </a:pPr>
            <a:r>
              <a:rPr lang="en-US" sz="4576" b="1">
                <a:solidFill>
                  <a:srgbClr val="FFFFFF"/>
                </a:solidFill>
                <a:latin typeface="Inter Bold"/>
                <a:ea typeface="Inter Bold"/>
                <a:cs typeface="Inter Bold"/>
                <a:sym typeface="Inter Bold"/>
              </a:rPr>
              <a:t>Investment mechanisms</a:t>
            </a:r>
          </a:p>
        </p:txBody>
      </p:sp>
      <p:sp>
        <p:nvSpPr>
          <p:cNvPr id="23" name="TextBox 23"/>
          <p:cNvSpPr txBox="1"/>
          <p:nvPr/>
        </p:nvSpPr>
        <p:spPr>
          <a:xfrm>
            <a:off x="9790109" y="3020253"/>
            <a:ext cx="7554986" cy="4571388"/>
          </a:xfrm>
          <a:prstGeom prst="rect">
            <a:avLst/>
          </a:prstGeom>
        </p:spPr>
        <p:txBody>
          <a:bodyPr lIns="0" tIns="0" rIns="0" bIns="0" rtlCol="0" anchor="t">
            <a:spAutoFit/>
          </a:bodyPr>
          <a:lstStyle/>
          <a:p>
            <a:pPr marL="0" lvl="0" indent="0" algn="just">
              <a:lnSpc>
                <a:spcPts val="3572"/>
              </a:lnSpc>
              <a:spcBef>
                <a:spcPct val="0"/>
              </a:spcBef>
            </a:pPr>
            <a:r>
              <a:rPr lang="en-US" sz="2748">
                <a:solidFill>
                  <a:srgbClr val="000000"/>
                </a:solidFill>
                <a:latin typeface="Inter"/>
                <a:ea typeface="Inter"/>
                <a:cs typeface="Inter"/>
                <a:sym typeface="Inter"/>
              </a:rPr>
              <a:t>JV (J</a:t>
            </a:r>
            <a:r>
              <a:rPr lang="en-US" sz="2748" u="none" strike="noStrike">
                <a:solidFill>
                  <a:srgbClr val="000000"/>
                </a:solidFill>
                <a:latin typeface="Inter"/>
                <a:ea typeface="Inter"/>
                <a:cs typeface="Inter"/>
                <a:sym typeface="Inter"/>
              </a:rPr>
              <a:t>oint Venture). Obtaining a percentage of the P. in turn of investment. With the possibility to leave after a certain period or revaluation of the share participation following revaluation of the P. once the set time for exit is reached. JVs can be resorted to at a later stage in the development of the P, and some better terms will be agreed on at that time;</a:t>
            </a:r>
          </a:p>
          <a:p>
            <a:pPr marL="0" lvl="0" indent="0" algn="just">
              <a:lnSpc>
                <a:spcPts val="4352"/>
              </a:lnSpc>
              <a:spcBef>
                <a:spcPct val="0"/>
              </a:spcBef>
            </a:pPr>
            <a:endParaRPr lang="en-US" sz="2748" u="none" strike="noStrike">
              <a:solidFill>
                <a:srgbClr val="000000"/>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931971">
            <a:off x="11719189" y="1895763"/>
            <a:ext cx="9244621" cy="614832"/>
          </a:xfrm>
          <a:custGeom>
            <a:avLst/>
            <a:gdLst/>
            <a:ahLst/>
            <a:cxnLst/>
            <a:rect l="l" t="t" r="r" b="b"/>
            <a:pathLst>
              <a:path w="9244621" h="614832">
                <a:moveTo>
                  <a:pt x="0" y="0"/>
                </a:moveTo>
                <a:lnTo>
                  <a:pt x="9244621" y="0"/>
                </a:lnTo>
                <a:lnTo>
                  <a:pt x="9244621" y="614832"/>
                </a:lnTo>
                <a:lnTo>
                  <a:pt x="0" y="614832"/>
                </a:lnTo>
                <a:lnTo>
                  <a:pt x="0" y="0"/>
                </a:lnTo>
                <a:close/>
              </a:path>
            </a:pathLst>
          </a:custGeom>
          <a:blipFill>
            <a:blip r:embed="rId2"/>
            <a:stretch>
              <a:fillRect l="-8644" t="-67538" r="-8644"/>
            </a:stretch>
          </a:blipFill>
        </p:spPr>
      </p:sp>
      <p:sp>
        <p:nvSpPr>
          <p:cNvPr id="3" name="Freeform 3"/>
          <p:cNvSpPr/>
          <p:nvPr/>
        </p:nvSpPr>
        <p:spPr>
          <a:xfrm rot="-1932000">
            <a:off x="-2674469" y="1895763"/>
            <a:ext cx="9244621" cy="614832"/>
          </a:xfrm>
          <a:custGeom>
            <a:avLst/>
            <a:gdLst/>
            <a:ahLst/>
            <a:cxnLst/>
            <a:rect l="l" t="t" r="r" b="b"/>
            <a:pathLst>
              <a:path w="9244621" h="614832">
                <a:moveTo>
                  <a:pt x="0" y="0"/>
                </a:moveTo>
                <a:lnTo>
                  <a:pt x="9244621" y="0"/>
                </a:lnTo>
                <a:lnTo>
                  <a:pt x="9244621" y="614832"/>
                </a:lnTo>
                <a:lnTo>
                  <a:pt x="0" y="614832"/>
                </a:lnTo>
                <a:lnTo>
                  <a:pt x="0" y="0"/>
                </a:lnTo>
                <a:close/>
              </a:path>
            </a:pathLst>
          </a:custGeom>
          <a:blipFill>
            <a:blip r:embed="rId2"/>
            <a:stretch>
              <a:fillRect l="-8644" t="-67538" r="-8644"/>
            </a:stretch>
          </a:blipFill>
        </p:spPr>
      </p:sp>
      <p:sp>
        <p:nvSpPr>
          <p:cNvPr id="4" name="TextBox 4"/>
          <p:cNvSpPr txBox="1"/>
          <p:nvPr/>
        </p:nvSpPr>
        <p:spPr>
          <a:xfrm>
            <a:off x="3097653" y="123825"/>
            <a:ext cx="11355622" cy="2681282"/>
          </a:xfrm>
          <a:prstGeom prst="rect">
            <a:avLst/>
          </a:prstGeom>
        </p:spPr>
        <p:txBody>
          <a:bodyPr lIns="0" tIns="0" rIns="0" bIns="0" rtlCol="0" anchor="t">
            <a:spAutoFit/>
          </a:bodyPr>
          <a:lstStyle/>
          <a:p>
            <a:pPr algn="ctr">
              <a:lnSpc>
                <a:spcPts val="6937"/>
              </a:lnSpc>
            </a:pPr>
            <a:r>
              <a:rPr lang="en-US" sz="6937" b="1">
                <a:solidFill>
                  <a:srgbClr val="134B96"/>
                </a:solidFill>
                <a:latin typeface="Aileron Bold"/>
                <a:ea typeface="Aileron Bold"/>
                <a:cs typeface="Aileron Bold"/>
                <a:sym typeface="Aileron Bold"/>
              </a:rPr>
              <a:t>SHARED FINANCIAL PLATFORMS</a:t>
            </a:r>
          </a:p>
          <a:p>
            <a:pPr algn="ctr">
              <a:lnSpc>
                <a:spcPts val="6937"/>
              </a:lnSpc>
            </a:pPr>
            <a:endParaRPr lang="en-US" sz="6937" b="1">
              <a:solidFill>
                <a:srgbClr val="134B96"/>
              </a:solidFill>
              <a:latin typeface="Aileron Bold"/>
              <a:ea typeface="Aileron Bold"/>
              <a:cs typeface="Aileron Bold"/>
              <a:sym typeface="Aileron Bold"/>
            </a:endParaRPr>
          </a:p>
        </p:txBody>
      </p:sp>
      <p:grpSp>
        <p:nvGrpSpPr>
          <p:cNvPr id="5" name="Group 5"/>
          <p:cNvGrpSpPr/>
          <p:nvPr/>
        </p:nvGrpSpPr>
        <p:grpSpPr>
          <a:xfrm rot="1924446">
            <a:off x="12904646" y="-883816"/>
            <a:ext cx="7880848" cy="2722442"/>
            <a:chOff x="0" y="0"/>
            <a:chExt cx="2075614" cy="717022"/>
          </a:xfrm>
        </p:grpSpPr>
        <p:sp>
          <p:nvSpPr>
            <p:cNvPr id="6" name="Freeform 6"/>
            <p:cNvSpPr/>
            <p:nvPr/>
          </p:nvSpPr>
          <p:spPr>
            <a:xfrm>
              <a:off x="0" y="0"/>
              <a:ext cx="2075614" cy="717022"/>
            </a:xfrm>
            <a:custGeom>
              <a:avLst/>
              <a:gdLst/>
              <a:ahLst/>
              <a:cxnLst/>
              <a:rect l="l" t="t" r="r" b="b"/>
              <a:pathLst>
                <a:path w="2075614" h="717022">
                  <a:moveTo>
                    <a:pt x="0" y="0"/>
                  </a:moveTo>
                  <a:lnTo>
                    <a:pt x="2075614" y="0"/>
                  </a:lnTo>
                  <a:lnTo>
                    <a:pt x="2075614" y="717022"/>
                  </a:lnTo>
                  <a:lnTo>
                    <a:pt x="0" y="717022"/>
                  </a:lnTo>
                  <a:close/>
                </a:path>
              </a:pathLst>
            </a:custGeom>
            <a:gradFill rotWithShape="1">
              <a:gsLst>
                <a:gs pos="0">
                  <a:srgbClr val="104994">
                    <a:alpha val="100000"/>
                  </a:srgbClr>
                </a:gs>
                <a:gs pos="100000">
                  <a:srgbClr val="558ACF">
                    <a:alpha val="100000"/>
                  </a:srgbClr>
                </a:gs>
              </a:gsLst>
              <a:lin ang="5400000"/>
            </a:gradFill>
          </p:spPr>
        </p:sp>
        <p:sp>
          <p:nvSpPr>
            <p:cNvPr id="7" name="TextBox 7"/>
            <p:cNvSpPr txBox="1"/>
            <p:nvPr/>
          </p:nvSpPr>
          <p:spPr>
            <a:xfrm>
              <a:off x="0" y="-9525"/>
              <a:ext cx="2075614" cy="726547"/>
            </a:xfrm>
            <a:prstGeom prst="rect">
              <a:avLst/>
            </a:prstGeom>
          </p:spPr>
          <p:txBody>
            <a:bodyPr lIns="50800" tIns="50800" rIns="50800" bIns="50800" rtlCol="0" anchor="ctr"/>
            <a:lstStyle/>
            <a:p>
              <a:pPr algn="ctr">
                <a:lnSpc>
                  <a:spcPts val="2811"/>
                </a:lnSpc>
              </a:pPr>
              <a:endParaRPr/>
            </a:p>
          </p:txBody>
        </p:sp>
      </p:grpSp>
      <p:grpSp>
        <p:nvGrpSpPr>
          <p:cNvPr id="8" name="Group 8"/>
          <p:cNvGrpSpPr/>
          <p:nvPr/>
        </p:nvGrpSpPr>
        <p:grpSpPr>
          <a:xfrm rot="-1926000">
            <a:off x="-2594044" y="-997334"/>
            <a:ext cx="7880848" cy="2844076"/>
            <a:chOff x="0" y="0"/>
            <a:chExt cx="2075614" cy="749057"/>
          </a:xfrm>
        </p:grpSpPr>
        <p:sp>
          <p:nvSpPr>
            <p:cNvPr id="9" name="Freeform 9"/>
            <p:cNvSpPr/>
            <p:nvPr/>
          </p:nvSpPr>
          <p:spPr>
            <a:xfrm>
              <a:off x="0" y="0"/>
              <a:ext cx="2075614" cy="749057"/>
            </a:xfrm>
            <a:custGeom>
              <a:avLst/>
              <a:gdLst/>
              <a:ahLst/>
              <a:cxnLst/>
              <a:rect l="l" t="t" r="r" b="b"/>
              <a:pathLst>
                <a:path w="2075614" h="749057">
                  <a:moveTo>
                    <a:pt x="0" y="0"/>
                  </a:moveTo>
                  <a:lnTo>
                    <a:pt x="2075614" y="0"/>
                  </a:lnTo>
                  <a:lnTo>
                    <a:pt x="2075614" y="749057"/>
                  </a:lnTo>
                  <a:lnTo>
                    <a:pt x="0" y="749057"/>
                  </a:lnTo>
                  <a:close/>
                </a:path>
              </a:pathLst>
            </a:custGeom>
            <a:gradFill rotWithShape="1">
              <a:gsLst>
                <a:gs pos="0">
                  <a:srgbClr val="104994">
                    <a:alpha val="100000"/>
                  </a:srgbClr>
                </a:gs>
                <a:gs pos="100000">
                  <a:srgbClr val="558ACF">
                    <a:alpha val="100000"/>
                  </a:srgbClr>
                </a:gs>
              </a:gsLst>
              <a:lin ang="5400000"/>
            </a:gradFill>
          </p:spPr>
        </p:sp>
        <p:sp>
          <p:nvSpPr>
            <p:cNvPr id="10" name="TextBox 10"/>
            <p:cNvSpPr txBox="1"/>
            <p:nvPr/>
          </p:nvSpPr>
          <p:spPr>
            <a:xfrm>
              <a:off x="0" y="-9525"/>
              <a:ext cx="2075614" cy="758582"/>
            </a:xfrm>
            <a:prstGeom prst="rect">
              <a:avLst/>
            </a:prstGeom>
          </p:spPr>
          <p:txBody>
            <a:bodyPr lIns="50800" tIns="50800" rIns="50800" bIns="50800" rtlCol="0" anchor="ctr"/>
            <a:lstStyle/>
            <a:p>
              <a:pPr algn="ctr">
                <a:lnSpc>
                  <a:spcPts val="2811"/>
                </a:lnSpc>
              </a:pPr>
              <a:endParaRPr/>
            </a:p>
          </p:txBody>
        </p:sp>
      </p:grpSp>
      <p:sp>
        <p:nvSpPr>
          <p:cNvPr id="11" name="Freeform 11"/>
          <p:cNvSpPr/>
          <p:nvPr/>
        </p:nvSpPr>
        <p:spPr>
          <a:xfrm>
            <a:off x="15190347" y="-108903"/>
            <a:ext cx="3502545" cy="2119040"/>
          </a:xfrm>
          <a:custGeom>
            <a:avLst/>
            <a:gdLst/>
            <a:ahLst/>
            <a:cxnLst/>
            <a:rect l="l" t="t" r="r" b="b"/>
            <a:pathLst>
              <a:path w="3502545" h="2119040">
                <a:moveTo>
                  <a:pt x="0" y="0"/>
                </a:moveTo>
                <a:lnTo>
                  <a:pt x="3502546" y="0"/>
                </a:lnTo>
                <a:lnTo>
                  <a:pt x="3502546" y="2119040"/>
                </a:lnTo>
                <a:lnTo>
                  <a:pt x="0" y="211904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2" name="Freeform 12"/>
          <p:cNvSpPr/>
          <p:nvPr/>
        </p:nvSpPr>
        <p:spPr>
          <a:xfrm flipH="1">
            <a:off x="-404893" y="-108903"/>
            <a:ext cx="3502545" cy="2119040"/>
          </a:xfrm>
          <a:custGeom>
            <a:avLst/>
            <a:gdLst/>
            <a:ahLst/>
            <a:cxnLst/>
            <a:rect l="l" t="t" r="r" b="b"/>
            <a:pathLst>
              <a:path w="3502545" h="2119040">
                <a:moveTo>
                  <a:pt x="3502546" y="0"/>
                </a:moveTo>
                <a:lnTo>
                  <a:pt x="0" y="0"/>
                </a:lnTo>
                <a:lnTo>
                  <a:pt x="0" y="2119040"/>
                </a:lnTo>
                <a:lnTo>
                  <a:pt x="3502546" y="2119040"/>
                </a:lnTo>
                <a:lnTo>
                  <a:pt x="3502546"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3" name="TextBox 13"/>
          <p:cNvSpPr txBox="1"/>
          <p:nvPr/>
        </p:nvSpPr>
        <p:spPr>
          <a:xfrm>
            <a:off x="1346380" y="2246410"/>
            <a:ext cx="16941620" cy="8040590"/>
          </a:xfrm>
          <a:prstGeom prst="rect">
            <a:avLst/>
          </a:prstGeom>
        </p:spPr>
        <p:txBody>
          <a:bodyPr lIns="0" tIns="0" rIns="0" bIns="0" rtlCol="0" anchor="t">
            <a:spAutoFit/>
          </a:bodyPr>
          <a:lstStyle/>
          <a:p>
            <a:pPr algn="l">
              <a:lnSpc>
                <a:spcPts val="3592"/>
              </a:lnSpc>
            </a:pPr>
            <a:r>
              <a:rPr lang="en-US" sz="2566">
                <a:solidFill>
                  <a:srgbClr val="000000"/>
                </a:solidFill>
                <a:latin typeface="Inter"/>
                <a:ea typeface="Inter"/>
                <a:cs typeface="Inter"/>
                <a:sym typeface="Inter"/>
              </a:rPr>
              <a:t>www.kickstarter.com   www.kiva.org www.crowdfunder.com www.kabbage.com www.onevest.com </a:t>
            </a:r>
          </a:p>
          <a:p>
            <a:pPr algn="l">
              <a:lnSpc>
                <a:spcPts val="3592"/>
              </a:lnSpc>
            </a:pPr>
            <a:endParaRPr lang="en-US" sz="2566">
              <a:solidFill>
                <a:srgbClr val="000000"/>
              </a:solidFill>
              <a:latin typeface="Inter"/>
              <a:ea typeface="Inter"/>
              <a:cs typeface="Inter"/>
              <a:sym typeface="Inter"/>
            </a:endParaRPr>
          </a:p>
          <a:p>
            <a:pPr algn="l">
              <a:lnSpc>
                <a:spcPts val="3592"/>
              </a:lnSpc>
            </a:pPr>
            <a:r>
              <a:rPr lang="en-US" sz="2566">
                <a:solidFill>
                  <a:srgbClr val="000000"/>
                </a:solidFill>
                <a:latin typeface="Inter"/>
                <a:ea typeface="Inter"/>
                <a:cs typeface="Inter"/>
                <a:sym typeface="Inter"/>
              </a:rPr>
              <a:t>Platforms between end-users</a:t>
            </a:r>
          </a:p>
          <a:p>
            <a:pPr algn="l">
              <a:lnSpc>
                <a:spcPts val="3592"/>
              </a:lnSpc>
            </a:pPr>
            <a:endParaRPr lang="en-US" sz="2566">
              <a:solidFill>
                <a:srgbClr val="000000"/>
              </a:solidFill>
              <a:latin typeface="Inter"/>
              <a:ea typeface="Inter"/>
              <a:cs typeface="Inter"/>
              <a:sym typeface="Inter"/>
            </a:endParaRPr>
          </a:p>
          <a:p>
            <a:pPr algn="l">
              <a:lnSpc>
                <a:spcPts val="3592"/>
              </a:lnSpc>
            </a:pPr>
            <a:r>
              <a:rPr lang="en-US" sz="2566">
                <a:solidFill>
                  <a:srgbClr val="000000"/>
                </a:solidFill>
                <a:latin typeface="Inter"/>
                <a:ea typeface="Inter"/>
                <a:cs typeface="Inter"/>
                <a:sym typeface="Inter"/>
              </a:rPr>
              <a:t>www.lendingclub.com </a:t>
            </a:r>
          </a:p>
          <a:p>
            <a:pPr algn="l">
              <a:lnSpc>
                <a:spcPts val="3592"/>
              </a:lnSpc>
            </a:pPr>
            <a:endParaRPr lang="en-US" sz="2566">
              <a:solidFill>
                <a:srgbClr val="000000"/>
              </a:solidFill>
              <a:latin typeface="Inter"/>
              <a:ea typeface="Inter"/>
              <a:cs typeface="Inter"/>
              <a:sym typeface="Inter"/>
            </a:endParaRPr>
          </a:p>
          <a:p>
            <a:pPr algn="l">
              <a:lnSpc>
                <a:spcPts val="3592"/>
              </a:lnSpc>
            </a:pPr>
            <a:r>
              <a:rPr lang="en-US" sz="2566">
                <a:solidFill>
                  <a:srgbClr val="000000"/>
                </a:solidFill>
                <a:latin typeface="Inter"/>
                <a:ea typeface="Inter"/>
                <a:cs typeface="Inter"/>
                <a:sym typeface="Inter"/>
              </a:rPr>
              <a:t>Horizontal Cooperative clusters:</a:t>
            </a:r>
          </a:p>
          <a:p>
            <a:pPr algn="l">
              <a:lnSpc>
                <a:spcPts val="3592"/>
              </a:lnSpc>
            </a:pPr>
            <a:r>
              <a:rPr lang="en-US" sz="2566">
                <a:solidFill>
                  <a:srgbClr val="000000"/>
                </a:solidFill>
                <a:latin typeface="Inter"/>
                <a:ea typeface="Inter"/>
                <a:cs typeface="Inter"/>
                <a:sym typeface="Inter"/>
              </a:rPr>
              <a:t>Financial circular systems that are popular in the United States and the United Kingdom.</a:t>
            </a:r>
          </a:p>
          <a:p>
            <a:pPr algn="l">
              <a:lnSpc>
                <a:spcPts val="3592"/>
              </a:lnSpc>
            </a:pPr>
            <a:r>
              <a:rPr lang="en-US" sz="2566">
                <a:solidFill>
                  <a:srgbClr val="000000"/>
                </a:solidFill>
                <a:latin typeface="Inter"/>
                <a:ea typeface="Inter"/>
                <a:cs typeface="Inter"/>
                <a:sym typeface="Inter"/>
              </a:rPr>
              <a:t>Innovative forms of capital accumulation only (without project financing): PayPal; FundBox, etc.</a:t>
            </a:r>
          </a:p>
          <a:p>
            <a:pPr algn="l">
              <a:lnSpc>
                <a:spcPts val="3592"/>
              </a:lnSpc>
            </a:pPr>
            <a:endParaRPr lang="en-US" sz="2566">
              <a:solidFill>
                <a:srgbClr val="000000"/>
              </a:solidFill>
              <a:latin typeface="Inter"/>
              <a:ea typeface="Inter"/>
              <a:cs typeface="Inter"/>
              <a:sym typeface="Inter"/>
            </a:endParaRPr>
          </a:p>
          <a:p>
            <a:pPr algn="l">
              <a:lnSpc>
                <a:spcPts val="3592"/>
              </a:lnSpc>
            </a:pPr>
            <a:r>
              <a:rPr lang="en-US" sz="2566">
                <a:solidFill>
                  <a:srgbClr val="000000"/>
                </a:solidFill>
                <a:latin typeface="Inter"/>
                <a:ea typeface="Inter"/>
                <a:cs typeface="Inter"/>
                <a:sym typeface="Inter"/>
              </a:rPr>
              <a:t>Peer-to-Peer platform (P2P). Especially popular in the US, Asia, and less in the EU. Unification of small investors and individual creditors to finance a P. at the suggestion of appraisers of the platform. An independent audit firm is often hired as appraisers. A number of formalities that exist in the above forms of funding are avoided.</a:t>
            </a:r>
          </a:p>
          <a:p>
            <a:pPr algn="l">
              <a:lnSpc>
                <a:spcPts val="3592"/>
              </a:lnSpc>
            </a:pPr>
            <a:r>
              <a:rPr lang="en-US" sz="2566">
                <a:solidFill>
                  <a:srgbClr val="000000"/>
                </a:solidFill>
                <a:latin typeface="Inter"/>
                <a:ea typeface="Inter"/>
                <a:cs typeface="Inter"/>
                <a:sym typeface="Inter"/>
              </a:rPr>
              <a:t>Negative elements: - lack of security and longevity of funding; - relatively high interest rate (almost twice as high as commercial banks).</a:t>
            </a:r>
          </a:p>
          <a:p>
            <a:pPr algn="l">
              <a:lnSpc>
                <a:spcPts val="3592"/>
              </a:lnSpc>
            </a:pPr>
            <a:r>
              <a:rPr lang="en-US" sz="2566">
                <a:solidFill>
                  <a:srgbClr val="000000"/>
                </a:solidFill>
                <a:latin typeface="Inter"/>
                <a:ea typeface="Inter"/>
                <a:cs typeface="Inter"/>
                <a:sym typeface="Inter"/>
              </a:rPr>
              <a:t>Mixed and configured forms.</a:t>
            </a:r>
          </a:p>
          <a:p>
            <a:pPr algn="l">
              <a:lnSpc>
                <a:spcPts val="3592"/>
              </a:lnSpc>
            </a:pPr>
            <a:endParaRPr lang="en-US" sz="2566">
              <a:solidFill>
                <a:srgbClr val="000000"/>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1258827" y="543519"/>
            <a:ext cx="16335475"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HUMAN RESOURCES (MANPOWER)</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1258827" y="2413695"/>
            <a:ext cx="14704607" cy="6564880"/>
          </a:xfrm>
          <a:prstGeom prst="rect">
            <a:avLst/>
          </a:prstGeom>
        </p:spPr>
        <p:txBody>
          <a:bodyPr lIns="0" tIns="0" rIns="0" bIns="0" rtlCol="0" anchor="t">
            <a:spAutoFit/>
          </a:bodyPr>
          <a:lstStyle/>
          <a:p>
            <a:pPr algn="just">
              <a:lnSpc>
                <a:spcPts val="3998"/>
              </a:lnSpc>
              <a:spcBef>
                <a:spcPct val="0"/>
              </a:spcBef>
            </a:pPr>
            <a:r>
              <a:rPr lang="en-US" sz="3417">
                <a:solidFill>
                  <a:srgbClr val="2012BF"/>
                </a:solidFill>
                <a:latin typeface="Canva Sans"/>
                <a:ea typeface="Canva Sans"/>
                <a:cs typeface="Canva Sans"/>
                <a:sym typeface="Canva Sans"/>
              </a:rPr>
              <a:t>Human resources include the core team, outsourced specialists, and project partners. The PM must build a team with complementary skills, ensure diversity of competencies, and deploy clustering or outsourcing for specialized tasks (IT, legal, research). </a:t>
            </a:r>
          </a:p>
          <a:p>
            <a:pPr algn="just">
              <a:lnSpc>
                <a:spcPts val="3998"/>
              </a:lnSpc>
              <a:spcBef>
                <a:spcPct val="0"/>
              </a:spcBef>
            </a:pPr>
            <a:endParaRPr lang="en-US" sz="3417">
              <a:solidFill>
                <a:srgbClr val="2012BF"/>
              </a:solidFill>
              <a:latin typeface="Canva Sans"/>
              <a:ea typeface="Canva Sans"/>
              <a:cs typeface="Canva Sans"/>
              <a:sym typeface="Canva Sans"/>
            </a:endParaRPr>
          </a:p>
          <a:p>
            <a:pPr algn="just">
              <a:lnSpc>
                <a:spcPts val="3998"/>
              </a:lnSpc>
              <a:spcBef>
                <a:spcPct val="0"/>
              </a:spcBef>
            </a:pPr>
            <a:r>
              <a:rPr lang="en-US" sz="3417">
                <a:solidFill>
                  <a:srgbClr val="2012BF"/>
                </a:solidFill>
                <a:latin typeface="Canva Sans"/>
                <a:ea typeface="Canva Sans"/>
                <a:cs typeface="Canva Sans"/>
                <a:sym typeface="Canva Sans"/>
              </a:rPr>
              <a:t>The documents stress realistic team planning: staff rotation to prevent burnout; motivating staff via clear assignments and small sanctions for counterproductive behaviour; and psychological awareness of team stress. The PM remains the only person with the holistic view required to combine technical expertise, local knowledge and managerial capacity.</a:t>
            </a:r>
          </a:p>
          <a:p>
            <a:pPr algn="just">
              <a:lnSpc>
                <a:spcPts val="3998"/>
              </a:lnSpc>
              <a:spcBef>
                <a:spcPct val="0"/>
              </a:spcBef>
            </a:pPr>
            <a:endParaRPr lang="en-US" sz="3417">
              <a:solidFill>
                <a:srgbClr val="2012BF"/>
              </a:solidFill>
              <a:latin typeface="Canva Sans"/>
              <a:ea typeface="Canva Sans"/>
              <a:cs typeface="Canva Sans"/>
              <a:sym typeface="Canva Sans"/>
            </a:endParaRPr>
          </a:p>
          <a:p>
            <a:pPr algn="just">
              <a:lnSpc>
                <a:spcPts val="3998"/>
              </a:lnSpc>
              <a:spcBef>
                <a:spcPct val="0"/>
              </a:spcBef>
            </a:pPr>
            <a:r>
              <a:rPr lang="en-US" sz="3417">
                <a:solidFill>
                  <a:srgbClr val="2012BF"/>
                </a:solidFill>
                <a:latin typeface="Canva Sans"/>
                <a:ea typeface="Canva Sans"/>
                <a:cs typeface="Canva Sans"/>
                <a:sym typeface="Canva Sans"/>
              </a:rPr>
              <a:t>Team structure example: PM / Technical Lead / Finance / Legal / Community Liaison / Outsourced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1258827" y="543519"/>
            <a:ext cx="16335475"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LEGAL RESOURCES</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1495413" y="2240191"/>
            <a:ext cx="15297174" cy="7310628"/>
          </a:xfrm>
          <a:prstGeom prst="rect">
            <a:avLst/>
          </a:prstGeom>
        </p:spPr>
        <p:txBody>
          <a:bodyPr lIns="0" tIns="0" rIns="0" bIns="0" rtlCol="0" anchor="t">
            <a:spAutoFit/>
          </a:bodyPr>
          <a:lstStyle/>
          <a:p>
            <a:pPr algn="just">
              <a:lnSpc>
                <a:spcPts val="4445"/>
              </a:lnSpc>
              <a:spcBef>
                <a:spcPct val="0"/>
              </a:spcBef>
            </a:pPr>
            <a:r>
              <a:rPr lang="en-US" sz="3799">
                <a:solidFill>
                  <a:srgbClr val="2012BF"/>
                </a:solidFill>
                <a:latin typeface="Canva Sans"/>
                <a:ea typeface="Canva Sans"/>
                <a:cs typeface="Canva Sans"/>
                <a:sym typeface="Canva Sans"/>
              </a:rPr>
              <a:t>Legal resources define the boundaries of action. Legal analysis is a BP mandatory section: it covers permits, ownership regimes, sector regulations, and national vs international legal constraints. In some fields (real estate, health), licensing and cadastre checks are essential. The materials also note that e-government and online tools can speed approvals, but reliance on technology does not replace the need for proper legal counsel. Early legal mapping reduces delays and prevents costly rework.</a:t>
            </a:r>
          </a:p>
          <a:p>
            <a:pPr algn="just">
              <a:lnSpc>
                <a:spcPts val="4445"/>
              </a:lnSpc>
              <a:spcBef>
                <a:spcPct val="0"/>
              </a:spcBef>
            </a:pPr>
            <a:endParaRPr lang="en-US" sz="3799">
              <a:solidFill>
                <a:srgbClr val="2012BF"/>
              </a:solidFill>
              <a:latin typeface="Canva Sans"/>
              <a:ea typeface="Canva Sans"/>
              <a:cs typeface="Canva Sans"/>
              <a:sym typeface="Canva Sans"/>
            </a:endParaRPr>
          </a:p>
          <a:p>
            <a:pPr algn="just">
              <a:lnSpc>
                <a:spcPts val="4445"/>
              </a:lnSpc>
              <a:spcBef>
                <a:spcPct val="0"/>
              </a:spcBef>
            </a:pPr>
            <a:r>
              <a:rPr lang="en-US" sz="3799">
                <a:solidFill>
                  <a:srgbClr val="2012BF"/>
                </a:solidFill>
                <a:latin typeface="Canva Sans"/>
                <a:ea typeface="Canva Sans"/>
                <a:cs typeface="Canva Sans"/>
                <a:sym typeface="Canva Sans"/>
              </a:rPr>
              <a:t>Example: Hospital project needs health ministry licensing, land title verification, environmental permit.</a:t>
            </a:r>
          </a:p>
          <a:p>
            <a:pPr algn="just">
              <a:lnSpc>
                <a:spcPts val="4445"/>
              </a:lnSpc>
              <a:spcBef>
                <a:spcPct val="0"/>
              </a:spcBef>
            </a:pPr>
            <a:endParaRPr lang="en-US" sz="3799">
              <a:solidFill>
                <a:srgbClr val="2012BF"/>
              </a:solidFill>
              <a:latin typeface="Canva Sans"/>
              <a:ea typeface="Canva Sans"/>
              <a:cs typeface="Canva Sans"/>
              <a:sym typeface="Canva Sans"/>
            </a:endParaRPr>
          </a:p>
          <a:p>
            <a:pPr algn="just">
              <a:lnSpc>
                <a:spcPts val="4445"/>
              </a:lnSpc>
              <a:spcBef>
                <a:spcPct val="0"/>
              </a:spcBef>
            </a:pPr>
            <a:endParaRPr lang="en-US" sz="3799">
              <a:solidFill>
                <a:srgbClr val="2012BF"/>
              </a:solidFill>
              <a:latin typeface="Canva Sans"/>
              <a:ea typeface="Canva Sans"/>
              <a:cs typeface="Canva Sans"/>
              <a:sym typeface="Canv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1258827" y="553044"/>
            <a:ext cx="17251877" cy="1062408"/>
          </a:xfrm>
          <a:prstGeom prst="rect">
            <a:avLst/>
          </a:prstGeom>
        </p:spPr>
        <p:txBody>
          <a:bodyPr lIns="0" tIns="0" rIns="0" bIns="0" rtlCol="0" anchor="t">
            <a:spAutoFit/>
          </a:bodyPr>
          <a:lstStyle/>
          <a:p>
            <a:pPr algn="l">
              <a:lnSpc>
                <a:spcPts val="7230"/>
              </a:lnSpc>
            </a:pPr>
            <a:r>
              <a:rPr lang="en-US" sz="6572" b="1">
                <a:solidFill>
                  <a:srgbClr val="2012BF"/>
                </a:solidFill>
                <a:latin typeface="Futura Ultra-Bold"/>
                <a:ea typeface="Futura Ultra-Bold"/>
                <a:cs typeface="Futura Ultra-Bold"/>
                <a:sym typeface="Futura Ultra-Bold"/>
              </a:rPr>
              <a:t>INSTITUTIONAL &amp; SOCIAL RESOURCES</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1495413" y="2240191"/>
            <a:ext cx="15763887" cy="6748653"/>
          </a:xfrm>
          <a:prstGeom prst="rect">
            <a:avLst/>
          </a:prstGeom>
        </p:spPr>
        <p:txBody>
          <a:bodyPr lIns="0" tIns="0" rIns="0" bIns="0" rtlCol="0" anchor="t">
            <a:spAutoFit/>
          </a:bodyPr>
          <a:lstStyle/>
          <a:p>
            <a:pPr algn="just">
              <a:lnSpc>
                <a:spcPts val="4445"/>
              </a:lnSpc>
              <a:spcBef>
                <a:spcPct val="0"/>
              </a:spcBef>
            </a:pPr>
            <a:r>
              <a:rPr lang="en-US" sz="3799">
                <a:solidFill>
                  <a:srgbClr val="2012BF"/>
                </a:solidFill>
                <a:latin typeface="Canva Sans"/>
                <a:ea typeface="Canva Sans"/>
                <a:cs typeface="Canva Sans"/>
                <a:sym typeface="Canva Sans"/>
              </a:rPr>
              <a:t>Institutional and social resources include relationships with government bodies, community leaders, media, NGOs and professional associations. The docs emphasize the role of traditions, religion and local psychology in permitting and acceptance. These soft factors affect permits, community buy-in, and the PS selection. Proper stakeholder mapping and engagement plans should be included in the preparation phase; failure to engage the right social groups is a common cause of project delays and conflicts.</a:t>
            </a:r>
          </a:p>
          <a:p>
            <a:pPr algn="just">
              <a:lnSpc>
                <a:spcPts val="4445"/>
              </a:lnSpc>
              <a:spcBef>
                <a:spcPct val="0"/>
              </a:spcBef>
            </a:pPr>
            <a:endParaRPr lang="en-US" sz="3799">
              <a:solidFill>
                <a:srgbClr val="2012BF"/>
              </a:solidFill>
              <a:latin typeface="Canva Sans"/>
              <a:ea typeface="Canva Sans"/>
              <a:cs typeface="Canva Sans"/>
              <a:sym typeface="Canva Sans"/>
            </a:endParaRPr>
          </a:p>
          <a:p>
            <a:pPr algn="just">
              <a:lnSpc>
                <a:spcPts val="4445"/>
              </a:lnSpc>
              <a:spcBef>
                <a:spcPct val="0"/>
              </a:spcBef>
            </a:pPr>
            <a:r>
              <a:rPr lang="en-US" sz="3799">
                <a:solidFill>
                  <a:srgbClr val="2012BF"/>
                </a:solidFill>
                <a:latin typeface="Canva Sans"/>
                <a:ea typeface="Canva Sans"/>
                <a:cs typeface="Canva Sans"/>
                <a:sym typeface="Canva Sans"/>
              </a:rPr>
              <a:t>Example: Water PPP requires early community consultations, local leader endorsements and clear communication of tariffs.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51" b="-12851"/>
            </a:stretch>
          </a:blipFill>
        </p:spPr>
      </p:sp>
      <p:grpSp>
        <p:nvGrpSpPr>
          <p:cNvPr id="3" name="Group 3"/>
          <p:cNvGrpSpPr/>
          <p:nvPr/>
        </p:nvGrpSpPr>
        <p:grpSpPr>
          <a:xfrm>
            <a:off x="-451993" y="-344814"/>
            <a:ext cx="8066300" cy="10976627"/>
            <a:chOff x="0" y="0"/>
            <a:chExt cx="2124458" cy="2890964"/>
          </a:xfrm>
        </p:grpSpPr>
        <p:sp>
          <p:nvSpPr>
            <p:cNvPr id="4" name="Freeform 4"/>
            <p:cNvSpPr/>
            <p:nvPr/>
          </p:nvSpPr>
          <p:spPr>
            <a:xfrm>
              <a:off x="0" y="0"/>
              <a:ext cx="2124458" cy="2890964"/>
            </a:xfrm>
            <a:custGeom>
              <a:avLst/>
              <a:gdLst/>
              <a:ahLst/>
              <a:cxnLst/>
              <a:rect l="l" t="t" r="r" b="b"/>
              <a:pathLst>
                <a:path w="2124458" h="2890964">
                  <a:moveTo>
                    <a:pt x="0" y="0"/>
                  </a:moveTo>
                  <a:lnTo>
                    <a:pt x="2124458" y="0"/>
                  </a:lnTo>
                  <a:lnTo>
                    <a:pt x="2124458" y="2890964"/>
                  </a:lnTo>
                  <a:lnTo>
                    <a:pt x="0" y="2890964"/>
                  </a:lnTo>
                  <a:close/>
                </a:path>
              </a:pathLst>
            </a:custGeom>
            <a:solidFill>
              <a:srgbClr val="2012BF"/>
            </a:solidFill>
          </p:spPr>
        </p:sp>
        <p:sp>
          <p:nvSpPr>
            <p:cNvPr id="5" name="TextBox 5"/>
            <p:cNvSpPr txBox="1"/>
            <p:nvPr/>
          </p:nvSpPr>
          <p:spPr>
            <a:xfrm>
              <a:off x="0" y="-38100"/>
              <a:ext cx="2124458" cy="292906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02317" y="152400"/>
            <a:ext cx="7614307" cy="2970518"/>
          </a:xfrm>
          <a:prstGeom prst="rect">
            <a:avLst/>
          </a:prstGeom>
        </p:spPr>
        <p:txBody>
          <a:bodyPr lIns="0" tIns="0" rIns="0" bIns="0" rtlCol="0" anchor="t">
            <a:spAutoFit/>
          </a:bodyPr>
          <a:lstStyle/>
          <a:p>
            <a:pPr algn="l">
              <a:lnSpc>
                <a:spcPts val="7744"/>
              </a:lnSpc>
            </a:pPr>
            <a:r>
              <a:rPr lang="en-US" sz="7744">
                <a:solidFill>
                  <a:srgbClr val="FFFFFF"/>
                </a:solidFill>
                <a:latin typeface="Staatliches"/>
                <a:ea typeface="Staatliches"/>
                <a:cs typeface="Staatliches"/>
                <a:sym typeface="Staatliches"/>
              </a:rPr>
              <a:t>PROJECT SUMMARY/VISIBILITY STUDY</a:t>
            </a:r>
          </a:p>
        </p:txBody>
      </p:sp>
      <p:sp>
        <p:nvSpPr>
          <p:cNvPr id="7" name="TextBox 7"/>
          <p:cNvSpPr txBox="1"/>
          <p:nvPr/>
        </p:nvSpPr>
        <p:spPr>
          <a:xfrm>
            <a:off x="202317" y="3382635"/>
            <a:ext cx="6980605" cy="2995975"/>
          </a:xfrm>
          <a:prstGeom prst="rect">
            <a:avLst/>
          </a:prstGeom>
        </p:spPr>
        <p:txBody>
          <a:bodyPr lIns="0" tIns="0" rIns="0" bIns="0" rtlCol="0" anchor="t">
            <a:spAutoFit/>
          </a:bodyPr>
          <a:lstStyle/>
          <a:p>
            <a:pPr marL="523178" lvl="1" indent="-261589" algn="just">
              <a:lnSpc>
                <a:spcPts val="3392"/>
              </a:lnSpc>
              <a:buFont typeface="Arial"/>
              <a:buChar char="•"/>
            </a:pPr>
            <a:r>
              <a:rPr lang="en-US" sz="2423">
                <a:solidFill>
                  <a:srgbClr val="F0F0F0"/>
                </a:solidFill>
                <a:latin typeface="Roboto"/>
                <a:ea typeface="Roboto"/>
                <a:cs typeface="Roboto"/>
                <a:sym typeface="Roboto"/>
              </a:rPr>
              <a:t>Name of the P. (including a website) with a precise description of the place and time of implementation. The P. should be presented with its duration as a whole and as separate phases/ or such developed as sub-phases of the P.</a:t>
            </a:r>
          </a:p>
          <a:p>
            <a:pPr algn="just">
              <a:lnSpc>
                <a:spcPts val="3392"/>
              </a:lnSpc>
            </a:pPr>
            <a:endParaRPr lang="en-US" sz="2423">
              <a:solidFill>
                <a:srgbClr val="F0F0F0"/>
              </a:solidFill>
              <a:latin typeface="Roboto"/>
              <a:ea typeface="Roboto"/>
              <a:cs typeface="Roboto"/>
              <a:sym typeface="Roboto"/>
            </a:endParaRPr>
          </a:p>
        </p:txBody>
      </p:sp>
      <p:sp>
        <p:nvSpPr>
          <p:cNvPr id="8" name="TextBox 8"/>
          <p:cNvSpPr txBox="1"/>
          <p:nvPr/>
        </p:nvSpPr>
        <p:spPr>
          <a:xfrm>
            <a:off x="202317" y="6321459"/>
            <a:ext cx="6980605" cy="1710100"/>
          </a:xfrm>
          <a:prstGeom prst="rect">
            <a:avLst/>
          </a:prstGeom>
        </p:spPr>
        <p:txBody>
          <a:bodyPr lIns="0" tIns="0" rIns="0" bIns="0" rtlCol="0" anchor="t">
            <a:spAutoFit/>
          </a:bodyPr>
          <a:lstStyle/>
          <a:p>
            <a:pPr marL="523178" lvl="1" indent="-261589" algn="just">
              <a:lnSpc>
                <a:spcPts val="3392"/>
              </a:lnSpc>
              <a:buFont typeface="Arial"/>
              <a:buChar char="•"/>
            </a:pPr>
            <a:r>
              <a:rPr lang="en-US" sz="2423">
                <a:solidFill>
                  <a:srgbClr val="F0F0F0"/>
                </a:solidFill>
                <a:latin typeface="Roboto"/>
                <a:ea typeface="Roboto"/>
                <a:cs typeface="Roboto"/>
                <a:sym typeface="Roboto"/>
              </a:rPr>
              <a:t>Specification of the resources identified above.</a:t>
            </a:r>
          </a:p>
          <a:p>
            <a:pPr algn="just">
              <a:lnSpc>
                <a:spcPts val="3392"/>
              </a:lnSpc>
            </a:pPr>
            <a:endParaRPr lang="en-US" sz="2423">
              <a:solidFill>
                <a:srgbClr val="F0F0F0"/>
              </a:solidFill>
              <a:latin typeface="Roboto"/>
              <a:ea typeface="Roboto"/>
              <a:cs typeface="Roboto"/>
              <a:sym typeface="Roboto"/>
            </a:endParaRPr>
          </a:p>
          <a:p>
            <a:pPr marL="523178" lvl="1" indent="-261589" algn="just">
              <a:lnSpc>
                <a:spcPts val="3392"/>
              </a:lnSpc>
              <a:buFont typeface="Arial"/>
              <a:buChar char="•"/>
            </a:pPr>
            <a:r>
              <a:rPr lang="en-US" sz="2423">
                <a:solidFill>
                  <a:srgbClr val="F0F0F0"/>
                </a:solidFill>
                <a:latin typeface="Roboto"/>
                <a:ea typeface="Roboto"/>
                <a:cs typeface="Roboto"/>
                <a:sym typeface="Roboto"/>
              </a:rPr>
              <a:t>Calculation of return.</a:t>
            </a:r>
          </a:p>
          <a:p>
            <a:pPr algn="just">
              <a:lnSpc>
                <a:spcPts val="3392"/>
              </a:lnSpc>
            </a:pPr>
            <a:endParaRPr lang="en-US" sz="2423">
              <a:solidFill>
                <a:srgbClr val="F0F0F0"/>
              </a:solidFill>
              <a:latin typeface="Roboto"/>
              <a:ea typeface="Roboto"/>
              <a:cs typeface="Roboto"/>
              <a:sym typeface="Roboto"/>
            </a:endParaRPr>
          </a:p>
        </p:txBody>
      </p:sp>
      <p:sp>
        <p:nvSpPr>
          <p:cNvPr id="9" name="TextBox 9"/>
          <p:cNvSpPr txBox="1"/>
          <p:nvPr/>
        </p:nvSpPr>
        <p:spPr>
          <a:xfrm>
            <a:off x="7816624" y="107893"/>
            <a:ext cx="10113546" cy="10354827"/>
          </a:xfrm>
          <a:prstGeom prst="rect">
            <a:avLst/>
          </a:prstGeom>
        </p:spPr>
        <p:txBody>
          <a:bodyPr lIns="0" tIns="0" rIns="0" bIns="0" rtlCol="0" anchor="t">
            <a:spAutoFit/>
          </a:bodyPr>
          <a:lstStyle/>
          <a:p>
            <a:pPr algn="just">
              <a:lnSpc>
                <a:spcPts val="5326"/>
              </a:lnSpc>
            </a:pPr>
            <a:r>
              <a:rPr lang="en-US" sz="3804">
                <a:solidFill>
                  <a:srgbClr val="000000"/>
                </a:solidFill>
                <a:latin typeface="Roboto"/>
                <a:ea typeface="Roboto"/>
                <a:cs typeface="Roboto"/>
                <a:sym typeface="Roboto"/>
              </a:rPr>
              <a:t>Method of calculating the rate of return: </a:t>
            </a:r>
          </a:p>
          <a:p>
            <a:pPr algn="just">
              <a:lnSpc>
                <a:spcPts val="5326"/>
              </a:lnSpc>
            </a:pPr>
            <a:endParaRPr lang="en-US" sz="3804">
              <a:solidFill>
                <a:srgbClr val="000000"/>
              </a:solidFill>
              <a:latin typeface="Roboto"/>
              <a:ea typeface="Roboto"/>
              <a:cs typeface="Roboto"/>
              <a:sym typeface="Roboto"/>
            </a:endParaRPr>
          </a:p>
          <a:p>
            <a:pPr algn="just">
              <a:lnSpc>
                <a:spcPts val="4766"/>
              </a:lnSpc>
            </a:pPr>
            <a:r>
              <a:rPr lang="en-US" sz="3404">
                <a:solidFill>
                  <a:srgbClr val="000000"/>
                </a:solidFill>
                <a:latin typeface="Roboto"/>
                <a:ea typeface="Roboto"/>
                <a:cs typeface="Roboto"/>
                <a:sym typeface="Roboto"/>
              </a:rPr>
              <a:t>Net project value</a:t>
            </a:r>
          </a:p>
          <a:p>
            <a:pPr algn="just">
              <a:lnSpc>
                <a:spcPts val="2946"/>
              </a:lnSpc>
            </a:pPr>
            <a:r>
              <a:rPr lang="en-US" sz="2104">
                <a:solidFill>
                  <a:srgbClr val="000000"/>
                </a:solidFill>
                <a:latin typeface="Roboto"/>
                <a:ea typeface="Roboto"/>
                <a:cs typeface="Roboto"/>
                <a:sym typeface="Roboto"/>
              </a:rPr>
              <a:t>RoI = (Current Value-Original Value/Original Value) x100</a:t>
            </a:r>
          </a:p>
          <a:p>
            <a:pPr algn="just">
              <a:lnSpc>
                <a:spcPts val="2946"/>
              </a:lnSpc>
            </a:pPr>
            <a:r>
              <a:rPr lang="en-US" sz="2104">
                <a:solidFill>
                  <a:srgbClr val="000000"/>
                </a:solidFill>
                <a:latin typeface="Roboto"/>
                <a:ea typeface="Roboto"/>
                <a:cs typeface="Roboto"/>
                <a:sym typeface="Roboto"/>
              </a:rPr>
              <a:t>ROI is usually expressed as a percentage, as it is intuitively easier to understand (as opposed to expressed as a ratio). Second, the calculation of the Return on Investment includes the net return in the numerator, as the return on investment can be either positive or negative.</a:t>
            </a:r>
          </a:p>
          <a:p>
            <a:pPr algn="just">
              <a:lnSpc>
                <a:spcPts val="2946"/>
              </a:lnSpc>
            </a:pPr>
            <a:r>
              <a:rPr lang="en-US" sz="2104">
                <a:solidFill>
                  <a:srgbClr val="000000"/>
                </a:solidFill>
                <a:latin typeface="Roboto"/>
                <a:ea typeface="Roboto"/>
                <a:cs typeface="Roboto"/>
                <a:sym typeface="Roboto"/>
              </a:rPr>
              <a:t>When the calculations of the return on investment give a positive figure, it means that the net return is in black (because the total return exceeds the total costs). In addition, when the calculations of the return on investment give a negative figure, it means that the net return is in red, as the total costs exceed the total return. (In other words, this investment leads to a loss.) Finally, in order to calculate the return on investment with the highest degree of accuracy, the total return and total costs must be taken into account. </a:t>
            </a:r>
          </a:p>
          <a:p>
            <a:pPr algn="just">
              <a:lnSpc>
                <a:spcPts val="2946"/>
              </a:lnSpc>
            </a:pPr>
            <a:endParaRPr lang="en-US" sz="2104">
              <a:solidFill>
                <a:srgbClr val="000000"/>
              </a:solidFill>
              <a:latin typeface="Roboto"/>
              <a:ea typeface="Roboto"/>
              <a:cs typeface="Roboto"/>
              <a:sym typeface="Roboto"/>
            </a:endParaRPr>
          </a:p>
          <a:p>
            <a:pPr algn="just">
              <a:lnSpc>
                <a:spcPts val="4766"/>
              </a:lnSpc>
            </a:pPr>
            <a:r>
              <a:rPr lang="en-US" sz="3404">
                <a:solidFill>
                  <a:srgbClr val="000000"/>
                </a:solidFill>
                <a:latin typeface="Roboto"/>
                <a:ea typeface="Roboto"/>
                <a:cs typeface="Roboto"/>
                <a:sym typeface="Roboto"/>
              </a:rPr>
              <a:t>Cumulative (complex) formula.</a:t>
            </a:r>
          </a:p>
          <a:p>
            <a:pPr algn="just">
              <a:lnSpc>
                <a:spcPts val="2946"/>
              </a:lnSpc>
            </a:pPr>
            <a:r>
              <a:rPr lang="en-US" sz="2104">
                <a:solidFill>
                  <a:srgbClr val="000000"/>
                </a:solidFill>
                <a:latin typeface="Roboto"/>
                <a:ea typeface="Roboto"/>
                <a:cs typeface="Roboto"/>
                <a:sym typeface="Roboto"/>
              </a:rPr>
              <a:t>The regular rate of return shows the profit or loss of an investment over a certain period of time. It is expressed as a percentage. The annual return rate, also known as the Compound Annual Growth Rate (CAGR) shows the return on investment every year. The formula for the annual rate of return is equal to the current value increasing the initial value to the final value divided by the number of years, then the whole component is subtracted from 1.</a:t>
            </a:r>
          </a:p>
          <a:p>
            <a:pPr algn="just">
              <a:lnSpc>
                <a:spcPts val="2946"/>
              </a:lnSpc>
            </a:pPr>
            <a:endParaRPr lang="en-US" sz="2104">
              <a:solidFill>
                <a:srgbClr val="000000"/>
              </a:solidFill>
              <a:latin typeface="Roboto"/>
              <a:ea typeface="Roboto"/>
              <a:cs typeface="Roboto"/>
              <a:sym typeface="Roboto"/>
            </a:endParaRPr>
          </a:p>
          <a:p>
            <a:pPr algn="just">
              <a:lnSpc>
                <a:spcPts val="2946"/>
              </a:lnSpc>
            </a:pPr>
            <a:endParaRPr lang="en-US" sz="2104">
              <a:solidFill>
                <a:srgbClr val="0000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4177492" y="543519"/>
            <a:ext cx="9287968"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EXECUTION PHASE</a:t>
            </a:r>
          </a:p>
        </p:txBody>
      </p:sp>
      <p:sp>
        <p:nvSpPr>
          <p:cNvPr id="4" name="TextBox 4"/>
          <p:cNvSpPr txBox="1"/>
          <p:nvPr/>
        </p:nvSpPr>
        <p:spPr>
          <a:xfrm>
            <a:off x="2394086" y="2495137"/>
            <a:ext cx="1447951" cy="766073"/>
          </a:xfrm>
          <a:prstGeom prst="rect">
            <a:avLst/>
          </a:prstGeom>
        </p:spPr>
        <p:txBody>
          <a:bodyPr lIns="0" tIns="0" rIns="0" bIns="0" rtlCol="0" anchor="t">
            <a:spAutoFit/>
          </a:bodyPr>
          <a:lstStyle/>
          <a:p>
            <a:pPr algn="l">
              <a:lnSpc>
                <a:spcPts val="5637"/>
              </a:lnSpc>
            </a:pPr>
            <a:r>
              <a:rPr lang="en-US" sz="4026" b="1">
                <a:solidFill>
                  <a:srgbClr val="2012BF"/>
                </a:solidFill>
                <a:latin typeface="Futura Ultra-Bold"/>
                <a:ea typeface="Futura Ultra-Bold"/>
                <a:cs typeface="Futura Ultra-Bold"/>
                <a:sym typeface="Futura Ultra-Bold"/>
              </a:rPr>
              <a:t>01.</a:t>
            </a:r>
          </a:p>
        </p:txBody>
      </p:sp>
      <p:sp>
        <p:nvSpPr>
          <p:cNvPr id="5" name="TextBox 5"/>
          <p:cNvSpPr txBox="1"/>
          <p:nvPr/>
        </p:nvSpPr>
        <p:spPr>
          <a:xfrm>
            <a:off x="4799204" y="2514226"/>
            <a:ext cx="10299440" cy="1765811"/>
          </a:xfrm>
          <a:prstGeom prst="rect">
            <a:avLst/>
          </a:prstGeom>
        </p:spPr>
        <p:txBody>
          <a:bodyPr lIns="0" tIns="0" rIns="0" bIns="0" rtlCol="0" anchor="t">
            <a:spAutoFit/>
          </a:bodyPr>
          <a:lstStyle/>
          <a:p>
            <a:pPr algn="l">
              <a:lnSpc>
                <a:spcPts val="4521"/>
              </a:lnSpc>
            </a:pPr>
            <a:r>
              <a:rPr lang="en-US" sz="3229" b="1">
                <a:solidFill>
                  <a:srgbClr val="000000"/>
                </a:solidFill>
                <a:latin typeface="Futura Ultra-Bold"/>
                <a:ea typeface="Futura Ultra-Bold"/>
                <a:cs typeface="Futura Ultra-Bold"/>
                <a:sym typeface="Futura Ultra-Bold"/>
              </a:rPr>
              <a:t>EXECUTION BEGINS WITH THE APPROVAL OF THE BUSINESS PLAN.</a:t>
            </a:r>
          </a:p>
          <a:p>
            <a:pPr algn="l">
              <a:lnSpc>
                <a:spcPts val="4521"/>
              </a:lnSpc>
            </a:pPr>
            <a:endParaRPr lang="en-US" sz="3229" b="1">
              <a:solidFill>
                <a:srgbClr val="000000"/>
              </a:solidFill>
              <a:latin typeface="Futura Ultra-Bold"/>
              <a:ea typeface="Futura Ultra-Bold"/>
              <a:cs typeface="Futura Ultra-Bold"/>
              <a:sym typeface="Futura Ultra-Bold"/>
            </a:endParaRPr>
          </a:p>
        </p:txBody>
      </p:sp>
      <p:sp>
        <p:nvSpPr>
          <p:cNvPr id="6" name="TextBox 6"/>
          <p:cNvSpPr txBox="1"/>
          <p:nvPr/>
        </p:nvSpPr>
        <p:spPr>
          <a:xfrm>
            <a:off x="2394086" y="4327666"/>
            <a:ext cx="1447951" cy="766073"/>
          </a:xfrm>
          <a:prstGeom prst="rect">
            <a:avLst/>
          </a:prstGeom>
        </p:spPr>
        <p:txBody>
          <a:bodyPr lIns="0" tIns="0" rIns="0" bIns="0" rtlCol="0" anchor="t">
            <a:spAutoFit/>
          </a:bodyPr>
          <a:lstStyle/>
          <a:p>
            <a:pPr algn="l">
              <a:lnSpc>
                <a:spcPts val="5637"/>
              </a:lnSpc>
            </a:pPr>
            <a:r>
              <a:rPr lang="en-US" sz="4026" b="1">
                <a:solidFill>
                  <a:srgbClr val="2012BF"/>
                </a:solidFill>
                <a:latin typeface="Futura Ultra-Bold"/>
                <a:ea typeface="Futura Ultra-Bold"/>
                <a:cs typeface="Futura Ultra-Bold"/>
                <a:sym typeface="Futura Ultra-Bold"/>
              </a:rPr>
              <a:t>02.</a:t>
            </a:r>
          </a:p>
        </p:txBody>
      </p:sp>
      <p:sp>
        <p:nvSpPr>
          <p:cNvPr id="7" name="TextBox 7"/>
          <p:cNvSpPr txBox="1"/>
          <p:nvPr/>
        </p:nvSpPr>
        <p:spPr>
          <a:xfrm>
            <a:off x="2394086" y="6160538"/>
            <a:ext cx="1447951" cy="766073"/>
          </a:xfrm>
          <a:prstGeom prst="rect">
            <a:avLst/>
          </a:prstGeom>
        </p:spPr>
        <p:txBody>
          <a:bodyPr lIns="0" tIns="0" rIns="0" bIns="0" rtlCol="0" anchor="t">
            <a:spAutoFit/>
          </a:bodyPr>
          <a:lstStyle/>
          <a:p>
            <a:pPr algn="l">
              <a:lnSpc>
                <a:spcPts val="5637"/>
              </a:lnSpc>
            </a:pPr>
            <a:r>
              <a:rPr lang="en-US" sz="4026" b="1">
                <a:solidFill>
                  <a:srgbClr val="2012BF"/>
                </a:solidFill>
                <a:latin typeface="Futura Ultra-Bold"/>
                <a:ea typeface="Futura Ultra-Bold"/>
                <a:cs typeface="Futura Ultra-Bold"/>
                <a:sym typeface="Futura Ultra-Bold"/>
              </a:rPr>
              <a:t>03.</a:t>
            </a:r>
          </a:p>
        </p:txBody>
      </p:sp>
      <p:grpSp>
        <p:nvGrpSpPr>
          <p:cNvPr id="8" name="Group 8"/>
          <p:cNvGrpSpPr/>
          <p:nvPr/>
        </p:nvGrpSpPr>
        <p:grpSpPr>
          <a:xfrm>
            <a:off x="0" y="0"/>
            <a:ext cx="1028700" cy="3737571"/>
            <a:chOff x="0" y="0"/>
            <a:chExt cx="270933" cy="984381"/>
          </a:xfrm>
        </p:grpSpPr>
        <p:sp>
          <p:nvSpPr>
            <p:cNvPr id="9" name="Freeform 9"/>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10" name="TextBox 10"/>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11" name="TextBox 11"/>
          <p:cNvSpPr txBox="1"/>
          <p:nvPr/>
        </p:nvSpPr>
        <p:spPr>
          <a:xfrm>
            <a:off x="4799204" y="4144157"/>
            <a:ext cx="10299440" cy="1194311"/>
          </a:xfrm>
          <a:prstGeom prst="rect">
            <a:avLst/>
          </a:prstGeom>
        </p:spPr>
        <p:txBody>
          <a:bodyPr lIns="0" tIns="0" rIns="0" bIns="0" rtlCol="0" anchor="t">
            <a:spAutoFit/>
          </a:bodyPr>
          <a:lstStyle/>
          <a:p>
            <a:pPr algn="l">
              <a:lnSpc>
                <a:spcPts val="4521"/>
              </a:lnSpc>
            </a:pPr>
            <a:r>
              <a:rPr lang="en-US" sz="3229" b="1">
                <a:solidFill>
                  <a:srgbClr val="000000"/>
                </a:solidFill>
                <a:latin typeface="Futura Ultra-Bold"/>
                <a:ea typeface="Futura Ultra-Bold"/>
                <a:cs typeface="Futura Ultra-Bold"/>
                <a:sym typeface="Futura Ultra-Bold"/>
              </a:rPr>
              <a:t>THE PM MANAGES DAILY TASKS AND ENSURES TEAM PROGRESS</a:t>
            </a:r>
          </a:p>
        </p:txBody>
      </p:sp>
      <p:sp>
        <p:nvSpPr>
          <p:cNvPr id="12" name="TextBox 12"/>
          <p:cNvSpPr txBox="1"/>
          <p:nvPr/>
        </p:nvSpPr>
        <p:spPr>
          <a:xfrm>
            <a:off x="4799204" y="5977030"/>
            <a:ext cx="10299440" cy="1194311"/>
          </a:xfrm>
          <a:prstGeom prst="rect">
            <a:avLst/>
          </a:prstGeom>
        </p:spPr>
        <p:txBody>
          <a:bodyPr lIns="0" tIns="0" rIns="0" bIns="0" rtlCol="0" anchor="t">
            <a:spAutoFit/>
          </a:bodyPr>
          <a:lstStyle/>
          <a:p>
            <a:pPr algn="l">
              <a:lnSpc>
                <a:spcPts val="4521"/>
              </a:lnSpc>
            </a:pPr>
            <a:r>
              <a:rPr lang="en-US" sz="3229" b="1">
                <a:solidFill>
                  <a:srgbClr val="000000"/>
                </a:solidFill>
                <a:latin typeface="Futura Ultra-Bold"/>
                <a:ea typeface="Futura Ultra-Bold"/>
                <a:cs typeface="Futura Ultra-Bold"/>
                <a:sym typeface="Futura Ultra-Bold"/>
              </a:rPr>
              <a:t>TEAMS CAN BE FUNCTIONAL, PROJECT-BASED, OR MIXED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2119872" y="529703"/>
            <a:ext cx="16873701" cy="1570993"/>
          </a:xfrm>
          <a:prstGeom prst="rect">
            <a:avLst/>
          </a:prstGeom>
        </p:spPr>
        <p:txBody>
          <a:bodyPr lIns="0" tIns="0" rIns="0" bIns="0" rtlCol="0" anchor="t">
            <a:spAutoFit/>
          </a:bodyPr>
          <a:lstStyle/>
          <a:p>
            <a:pPr algn="l">
              <a:lnSpc>
                <a:spcPts val="5720"/>
              </a:lnSpc>
            </a:pPr>
            <a:r>
              <a:rPr lang="en-US" sz="5200" b="1">
                <a:solidFill>
                  <a:srgbClr val="2012BF"/>
                </a:solidFill>
                <a:latin typeface="Futura Ultra-Bold"/>
                <a:ea typeface="Futura Ultra-Bold"/>
                <a:cs typeface="Futura Ultra-Bold"/>
                <a:sym typeface="Futura Ultra-Bold"/>
              </a:rPr>
              <a:t>EXECUTION BEGINS WITH THE APPROVAL OF THE BUSINESS PLAN.</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2119872" y="2402185"/>
            <a:ext cx="15139428" cy="6068950"/>
          </a:xfrm>
          <a:prstGeom prst="rect">
            <a:avLst/>
          </a:prstGeom>
        </p:spPr>
        <p:txBody>
          <a:bodyPr lIns="0" tIns="0" rIns="0" bIns="0" rtlCol="0" anchor="t">
            <a:spAutoFit/>
          </a:bodyPr>
          <a:lstStyle/>
          <a:p>
            <a:pPr algn="ctr">
              <a:lnSpc>
                <a:spcPts val="5342"/>
              </a:lnSpc>
            </a:pPr>
            <a:endParaRPr/>
          </a:p>
          <a:p>
            <a:pPr algn="just">
              <a:lnSpc>
                <a:spcPts val="5342"/>
              </a:lnSpc>
            </a:pPr>
            <a:r>
              <a:rPr lang="en-US" sz="3899">
                <a:solidFill>
                  <a:srgbClr val="2012BF"/>
                </a:solidFill>
                <a:latin typeface="Canva Sans"/>
                <a:ea typeface="Canva Sans"/>
                <a:cs typeface="Canva Sans"/>
                <a:sym typeface="Canva Sans"/>
              </a:rPr>
              <a:t>Execution, or Phase B, officially starts only after the Business Plan has been approved and the necessary resources are secured. The Business Plan is not just a formality; it is the contract that defines the goals, tasks, deadlines, and responsibilities. Without this approval, the project has no legitimacy. Once approved, the BP becomes the guiding document for every action during execution. It is the foundation against which progress will be measured.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2119872" y="529703"/>
            <a:ext cx="15493319" cy="1570993"/>
          </a:xfrm>
          <a:prstGeom prst="rect">
            <a:avLst/>
          </a:prstGeom>
        </p:spPr>
        <p:txBody>
          <a:bodyPr lIns="0" tIns="0" rIns="0" bIns="0" rtlCol="0" anchor="t">
            <a:spAutoFit/>
          </a:bodyPr>
          <a:lstStyle/>
          <a:p>
            <a:pPr algn="l">
              <a:lnSpc>
                <a:spcPts val="5720"/>
              </a:lnSpc>
            </a:pPr>
            <a:r>
              <a:rPr lang="en-US" sz="5200" b="1">
                <a:solidFill>
                  <a:srgbClr val="2012BF"/>
                </a:solidFill>
                <a:latin typeface="Futura Ultra-Bold"/>
                <a:ea typeface="Futura Ultra-Bold"/>
                <a:cs typeface="Futura Ultra-Bold"/>
                <a:sym typeface="Futura Ultra-Bold"/>
              </a:rPr>
              <a:t>THE PM MANAGES DAILY TASKS AND ENSURES TEAM PROGRESS</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2119872" y="2730847"/>
            <a:ext cx="15139428" cy="6068950"/>
          </a:xfrm>
          <a:prstGeom prst="rect">
            <a:avLst/>
          </a:prstGeom>
        </p:spPr>
        <p:txBody>
          <a:bodyPr lIns="0" tIns="0" rIns="0" bIns="0" rtlCol="0" anchor="t">
            <a:spAutoFit/>
          </a:bodyPr>
          <a:lstStyle/>
          <a:p>
            <a:pPr algn="just">
              <a:lnSpc>
                <a:spcPts val="5342"/>
              </a:lnSpc>
            </a:pPr>
            <a:r>
              <a:rPr lang="en-US" sz="3899">
                <a:solidFill>
                  <a:srgbClr val="2012BF"/>
                </a:solidFill>
                <a:latin typeface="Canva Sans"/>
                <a:ea typeface="Canva Sans"/>
                <a:cs typeface="Canva Sans"/>
                <a:sym typeface="Canva Sans"/>
              </a:rPr>
              <a:t>In execution, the Project Manager is the central figure of daily operations. The PM distributes tasks, sets schedules, and ensures that intermediate results match the targets defined in the plan. This requires constant monitoring and adjustment, because unexpected challenges always arise in practice. The PM must also keep the team motivated, solve conflicts, and rotate staff when necessary. In short, the PM is both manager and leader, balancing discipline with flexibility to guarantee continuous progress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2119872" y="529703"/>
            <a:ext cx="15493319" cy="1570993"/>
          </a:xfrm>
          <a:prstGeom prst="rect">
            <a:avLst/>
          </a:prstGeom>
        </p:spPr>
        <p:txBody>
          <a:bodyPr lIns="0" tIns="0" rIns="0" bIns="0" rtlCol="0" anchor="t">
            <a:spAutoFit/>
          </a:bodyPr>
          <a:lstStyle/>
          <a:p>
            <a:pPr algn="l">
              <a:lnSpc>
                <a:spcPts val="5720"/>
              </a:lnSpc>
            </a:pPr>
            <a:r>
              <a:rPr lang="en-US" sz="5200" b="1">
                <a:solidFill>
                  <a:srgbClr val="2012BF"/>
                </a:solidFill>
                <a:latin typeface="Futura Ultra-Bold"/>
                <a:ea typeface="Futura Ultra-Bold"/>
                <a:cs typeface="Futura Ultra-Bold"/>
                <a:sym typeface="Futura Ultra-Bold"/>
              </a:rPr>
              <a:t>TEAMS CAN BE FUNCTIONAL, PROJECT-BASED, OR MIXED</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2119872" y="2378844"/>
            <a:ext cx="15139428" cy="7415403"/>
          </a:xfrm>
          <a:prstGeom prst="rect">
            <a:avLst/>
          </a:prstGeom>
        </p:spPr>
        <p:txBody>
          <a:bodyPr lIns="0" tIns="0" rIns="0" bIns="0" rtlCol="0" anchor="t">
            <a:spAutoFit/>
          </a:bodyPr>
          <a:lstStyle/>
          <a:p>
            <a:pPr algn="just">
              <a:lnSpc>
                <a:spcPts val="4520"/>
              </a:lnSpc>
            </a:pPr>
            <a:r>
              <a:rPr lang="en-US" sz="3299">
                <a:solidFill>
                  <a:srgbClr val="2012BF"/>
                </a:solidFill>
                <a:latin typeface="Canva Sans"/>
                <a:ea typeface="Canva Sans"/>
                <a:cs typeface="Canva Sans"/>
                <a:sym typeface="Canva Sans"/>
              </a:rPr>
              <a:t>The organization of teams during execution can take three main forms. A functional team is organized by professional roles — for example, finance, legal, and technical experts each working within their domain. </a:t>
            </a:r>
          </a:p>
          <a:p>
            <a:pPr algn="just">
              <a:lnSpc>
                <a:spcPts val="4520"/>
              </a:lnSpc>
            </a:pPr>
            <a:endParaRPr lang="en-US" sz="3299">
              <a:solidFill>
                <a:srgbClr val="2012BF"/>
              </a:solidFill>
              <a:latin typeface="Canva Sans"/>
              <a:ea typeface="Canva Sans"/>
              <a:cs typeface="Canva Sans"/>
              <a:sym typeface="Canva Sans"/>
            </a:endParaRPr>
          </a:p>
          <a:p>
            <a:pPr algn="just">
              <a:lnSpc>
                <a:spcPts val="4520"/>
              </a:lnSpc>
            </a:pPr>
            <a:r>
              <a:rPr lang="en-US" sz="3299">
                <a:solidFill>
                  <a:srgbClr val="2012BF"/>
                </a:solidFill>
                <a:latin typeface="Canva Sans"/>
                <a:ea typeface="Canva Sans"/>
                <a:cs typeface="Canva Sans"/>
                <a:sym typeface="Canva Sans"/>
              </a:rPr>
              <a:t>A project-based team is organized around sub-projects or specific deliverables, with each group responsible for a particular output. A mixed team combines both structures, creating flexibility by using functional expertise while also assigning staff to project units. </a:t>
            </a:r>
          </a:p>
          <a:p>
            <a:pPr algn="just">
              <a:lnSpc>
                <a:spcPts val="4520"/>
              </a:lnSpc>
            </a:pPr>
            <a:endParaRPr lang="en-US" sz="3299">
              <a:solidFill>
                <a:srgbClr val="2012BF"/>
              </a:solidFill>
              <a:latin typeface="Canva Sans"/>
              <a:ea typeface="Canva Sans"/>
              <a:cs typeface="Canva Sans"/>
              <a:sym typeface="Canva Sans"/>
            </a:endParaRPr>
          </a:p>
          <a:p>
            <a:pPr algn="just">
              <a:lnSpc>
                <a:spcPts val="4520"/>
              </a:lnSpc>
            </a:pPr>
            <a:r>
              <a:rPr lang="en-US" sz="3299">
                <a:solidFill>
                  <a:srgbClr val="2012BF"/>
                </a:solidFill>
                <a:latin typeface="Canva Sans"/>
                <a:ea typeface="Canva Sans"/>
                <a:cs typeface="Canva Sans"/>
                <a:sym typeface="Canva Sans"/>
              </a:rPr>
              <a:t>The lecture materials suggest that functional structures are often the most effective, because they allow flexible allocation of staff across multiple projects. But in practice, the PM chooses the model that best fits the project’s needs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826457" y="1802111"/>
            <a:ext cx="15139428" cy="7214109"/>
          </a:xfrm>
          <a:prstGeom prst="rect">
            <a:avLst/>
          </a:prstGeom>
        </p:spPr>
        <p:txBody>
          <a:bodyPr lIns="0" tIns="0" rIns="0" bIns="0" rtlCol="0" anchor="t">
            <a:spAutoFit/>
          </a:bodyPr>
          <a:lstStyle/>
          <a:p>
            <a:pPr marL="820412" lvl="1" indent="-410206" algn="just">
              <a:lnSpc>
                <a:spcPts val="5205"/>
              </a:lnSpc>
              <a:buFont typeface="Arial"/>
              <a:buChar char="•"/>
            </a:pPr>
            <a:r>
              <a:rPr lang="en-US" sz="3799">
                <a:solidFill>
                  <a:srgbClr val="2012BF"/>
                </a:solidFill>
                <a:latin typeface="Canva Sans"/>
                <a:ea typeface="Canva Sans"/>
                <a:cs typeface="Canva Sans"/>
                <a:sym typeface="Canva Sans"/>
              </a:rPr>
              <a:t>Example functional team: Finance officer handles all budgeting, legal expert manages contracts, technical engineer leads design.</a:t>
            </a:r>
          </a:p>
          <a:p>
            <a:pPr algn="just">
              <a:lnSpc>
                <a:spcPts val="5205"/>
              </a:lnSpc>
            </a:pPr>
            <a:endParaRPr lang="en-US" sz="3799">
              <a:solidFill>
                <a:srgbClr val="2012BF"/>
              </a:solidFill>
              <a:latin typeface="Canva Sans"/>
              <a:ea typeface="Canva Sans"/>
              <a:cs typeface="Canva Sans"/>
              <a:sym typeface="Canva Sans"/>
            </a:endParaRPr>
          </a:p>
          <a:p>
            <a:pPr marL="820412" lvl="1" indent="-410206" algn="just">
              <a:lnSpc>
                <a:spcPts val="5205"/>
              </a:lnSpc>
              <a:buFont typeface="Arial"/>
              <a:buChar char="•"/>
            </a:pPr>
            <a:r>
              <a:rPr lang="en-US" sz="3799">
                <a:solidFill>
                  <a:srgbClr val="2012BF"/>
                </a:solidFill>
                <a:latin typeface="Canva Sans"/>
                <a:ea typeface="Canva Sans"/>
                <a:cs typeface="Canva Sans"/>
                <a:sym typeface="Canva Sans"/>
              </a:rPr>
              <a:t>Example project-based team: One group builds infrastructure, another develops training program, another manages community engagement.</a:t>
            </a:r>
          </a:p>
          <a:p>
            <a:pPr algn="just">
              <a:lnSpc>
                <a:spcPts val="5205"/>
              </a:lnSpc>
            </a:pPr>
            <a:endParaRPr lang="en-US" sz="3799">
              <a:solidFill>
                <a:srgbClr val="2012BF"/>
              </a:solidFill>
              <a:latin typeface="Canva Sans"/>
              <a:ea typeface="Canva Sans"/>
              <a:cs typeface="Canva Sans"/>
              <a:sym typeface="Canva Sans"/>
            </a:endParaRPr>
          </a:p>
          <a:p>
            <a:pPr marL="820412" lvl="1" indent="-410206" algn="just">
              <a:lnSpc>
                <a:spcPts val="5205"/>
              </a:lnSpc>
              <a:buFont typeface="Arial"/>
              <a:buChar char="•"/>
            </a:pPr>
            <a:r>
              <a:rPr lang="en-US" sz="3799">
                <a:solidFill>
                  <a:srgbClr val="2012BF"/>
                </a:solidFill>
                <a:latin typeface="Canva Sans"/>
                <a:ea typeface="Canva Sans"/>
                <a:cs typeface="Canva Sans"/>
                <a:sym typeface="Canva Sans"/>
              </a:rPr>
              <a:t>Mixed team: Core functional departments exist, but some staff are temporarily seconded into sub-projects.</a:t>
            </a:r>
          </a:p>
          <a:p>
            <a:pPr algn="just">
              <a:lnSpc>
                <a:spcPts val="5205"/>
              </a:lnSpc>
            </a:pPr>
            <a:endParaRPr lang="en-US" sz="3799">
              <a:solidFill>
                <a:srgbClr val="2012BF"/>
              </a:solidFill>
              <a:latin typeface="Canva Sans"/>
              <a:ea typeface="Canva Sans"/>
              <a:cs typeface="Canva Sans"/>
              <a:sym typeface="Canv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4500016" y="557510"/>
            <a:ext cx="9287968" cy="1311275"/>
          </a:xfrm>
          <a:prstGeom prst="rect">
            <a:avLst/>
          </a:prstGeom>
        </p:spPr>
        <p:txBody>
          <a:bodyPr lIns="0" tIns="0" rIns="0" bIns="0" rtlCol="0" anchor="t">
            <a:spAutoFit/>
          </a:bodyPr>
          <a:lstStyle/>
          <a:p>
            <a:pPr algn="l">
              <a:lnSpc>
                <a:spcPts val="8800"/>
              </a:lnSpc>
            </a:pPr>
            <a:r>
              <a:rPr lang="en-US" sz="8000" b="1">
                <a:solidFill>
                  <a:srgbClr val="2012BF"/>
                </a:solidFill>
                <a:latin typeface="Futura Ultra-Bold"/>
                <a:ea typeface="Futura Ultra-Bold"/>
                <a:cs typeface="Futura Ultra-Bold"/>
                <a:sym typeface="Futura Ultra-Bold"/>
              </a:rPr>
              <a:t>PM AS A LEADER</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Freeform 7"/>
          <p:cNvSpPr/>
          <p:nvPr/>
        </p:nvSpPr>
        <p:spPr>
          <a:xfrm>
            <a:off x="3819415" y="2438281"/>
            <a:ext cx="10649171" cy="1777455"/>
          </a:xfrm>
          <a:custGeom>
            <a:avLst/>
            <a:gdLst/>
            <a:ahLst/>
            <a:cxnLst/>
            <a:rect l="l" t="t" r="r" b="b"/>
            <a:pathLst>
              <a:path w="10649171" h="1777455">
                <a:moveTo>
                  <a:pt x="0" y="0"/>
                </a:moveTo>
                <a:lnTo>
                  <a:pt x="10649170" y="0"/>
                </a:lnTo>
                <a:lnTo>
                  <a:pt x="10649170" y="1777455"/>
                </a:lnTo>
                <a:lnTo>
                  <a:pt x="0" y="1777455"/>
                </a:lnTo>
                <a:lnTo>
                  <a:pt x="0" y="0"/>
                </a:lnTo>
                <a:close/>
              </a:path>
            </a:pathLst>
          </a:custGeom>
          <a:blipFill>
            <a:blip r:embed="rId4"/>
            <a:stretch>
              <a:fillRect t="-8341" b="-10734"/>
            </a:stretch>
          </a:blipFill>
        </p:spPr>
      </p:sp>
      <p:sp>
        <p:nvSpPr>
          <p:cNvPr id="8" name="TextBox 8"/>
          <p:cNvSpPr txBox="1"/>
          <p:nvPr/>
        </p:nvSpPr>
        <p:spPr>
          <a:xfrm>
            <a:off x="4213239" y="2738364"/>
            <a:ext cx="9861522" cy="118681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The PM makes decisions and motivates the team</a:t>
            </a:r>
          </a:p>
        </p:txBody>
      </p:sp>
      <p:sp>
        <p:nvSpPr>
          <p:cNvPr id="9" name="Freeform 9"/>
          <p:cNvSpPr/>
          <p:nvPr/>
        </p:nvSpPr>
        <p:spPr>
          <a:xfrm>
            <a:off x="3819415" y="4815811"/>
            <a:ext cx="10649171" cy="1777455"/>
          </a:xfrm>
          <a:custGeom>
            <a:avLst/>
            <a:gdLst/>
            <a:ahLst/>
            <a:cxnLst/>
            <a:rect l="l" t="t" r="r" b="b"/>
            <a:pathLst>
              <a:path w="10649171" h="1777455">
                <a:moveTo>
                  <a:pt x="0" y="0"/>
                </a:moveTo>
                <a:lnTo>
                  <a:pt x="10649170" y="0"/>
                </a:lnTo>
                <a:lnTo>
                  <a:pt x="10649170" y="1777455"/>
                </a:lnTo>
                <a:lnTo>
                  <a:pt x="0" y="1777455"/>
                </a:lnTo>
                <a:lnTo>
                  <a:pt x="0" y="0"/>
                </a:lnTo>
                <a:close/>
              </a:path>
            </a:pathLst>
          </a:custGeom>
          <a:blipFill>
            <a:blip r:embed="rId4"/>
            <a:stretch>
              <a:fillRect t="-8341" b="-10734"/>
            </a:stretch>
          </a:blipFill>
        </p:spPr>
      </p:sp>
      <p:sp>
        <p:nvSpPr>
          <p:cNvPr id="10" name="TextBox 10"/>
          <p:cNvSpPr txBox="1"/>
          <p:nvPr/>
        </p:nvSpPr>
        <p:spPr>
          <a:xfrm>
            <a:off x="4213239" y="5115894"/>
            <a:ext cx="9861522" cy="177736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Rotation prevents burnout and keeps creativity high.</a:t>
            </a:r>
          </a:p>
          <a:p>
            <a:pPr algn="ctr">
              <a:lnSpc>
                <a:spcPts val="4679"/>
              </a:lnSpc>
              <a:spcBef>
                <a:spcPct val="0"/>
              </a:spcBef>
            </a:pPr>
            <a:endParaRPr lang="en-US" sz="3999" b="1">
              <a:solidFill>
                <a:srgbClr val="FFFFFF"/>
              </a:solidFill>
              <a:latin typeface="Canva Sans Bold"/>
              <a:ea typeface="Canva Sans Bold"/>
              <a:cs typeface="Canva Sans Bold"/>
              <a:sym typeface="Canva Sans Bold"/>
            </a:endParaRPr>
          </a:p>
        </p:txBody>
      </p:sp>
      <p:sp>
        <p:nvSpPr>
          <p:cNvPr id="11" name="Freeform 11"/>
          <p:cNvSpPr/>
          <p:nvPr/>
        </p:nvSpPr>
        <p:spPr>
          <a:xfrm>
            <a:off x="3819415" y="7193341"/>
            <a:ext cx="10649171" cy="1777455"/>
          </a:xfrm>
          <a:custGeom>
            <a:avLst/>
            <a:gdLst/>
            <a:ahLst/>
            <a:cxnLst/>
            <a:rect l="l" t="t" r="r" b="b"/>
            <a:pathLst>
              <a:path w="10649171" h="1777455">
                <a:moveTo>
                  <a:pt x="0" y="0"/>
                </a:moveTo>
                <a:lnTo>
                  <a:pt x="10649170" y="0"/>
                </a:lnTo>
                <a:lnTo>
                  <a:pt x="10649170" y="1777456"/>
                </a:lnTo>
                <a:lnTo>
                  <a:pt x="0" y="1777456"/>
                </a:lnTo>
                <a:lnTo>
                  <a:pt x="0" y="0"/>
                </a:lnTo>
                <a:close/>
              </a:path>
            </a:pathLst>
          </a:custGeom>
          <a:blipFill>
            <a:blip r:embed="rId4"/>
            <a:stretch>
              <a:fillRect t="-8341" b="-10734"/>
            </a:stretch>
          </a:blipFill>
        </p:spPr>
      </p:sp>
      <p:sp>
        <p:nvSpPr>
          <p:cNvPr id="12" name="TextBox 12"/>
          <p:cNvSpPr txBox="1"/>
          <p:nvPr/>
        </p:nvSpPr>
        <p:spPr>
          <a:xfrm>
            <a:off x="4213239" y="7493424"/>
            <a:ext cx="9861522" cy="1186815"/>
          </a:xfrm>
          <a:prstGeom prst="rect">
            <a:avLst/>
          </a:prstGeom>
        </p:spPr>
        <p:txBody>
          <a:bodyPr lIns="0" tIns="0" rIns="0" bIns="0" rtlCol="0" anchor="t">
            <a:spAutoFit/>
          </a:bodyPr>
          <a:lstStyle/>
          <a:p>
            <a:pPr algn="ctr">
              <a:lnSpc>
                <a:spcPts val="4679"/>
              </a:lnSpc>
              <a:spcBef>
                <a:spcPct val="0"/>
              </a:spcBef>
            </a:pPr>
            <a:r>
              <a:rPr lang="en-US" sz="3999" b="1">
                <a:solidFill>
                  <a:srgbClr val="FFFFFF"/>
                </a:solidFill>
                <a:latin typeface="Canva Sans Bold"/>
                <a:ea typeface="Canva Sans Bold"/>
                <a:cs typeface="Canva Sans Bold"/>
                <a:sym typeface="Canva Sans Bold"/>
              </a:rPr>
              <a:t>A good PM guides but also allows initiative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4500016" y="557510"/>
            <a:ext cx="9287968" cy="1311275"/>
          </a:xfrm>
          <a:prstGeom prst="rect">
            <a:avLst/>
          </a:prstGeom>
        </p:spPr>
        <p:txBody>
          <a:bodyPr lIns="0" tIns="0" rIns="0" bIns="0" rtlCol="0" anchor="t">
            <a:spAutoFit/>
          </a:bodyPr>
          <a:lstStyle/>
          <a:p>
            <a:pPr algn="l">
              <a:lnSpc>
                <a:spcPts val="8800"/>
              </a:lnSpc>
            </a:pPr>
            <a:r>
              <a:rPr lang="en-US" sz="8000" b="1">
                <a:solidFill>
                  <a:srgbClr val="2012BF"/>
                </a:solidFill>
                <a:latin typeface="Futura Ultra-Bold"/>
                <a:ea typeface="Futura Ultra-Bold"/>
                <a:cs typeface="Futura Ultra-Bold"/>
                <a:sym typeface="Futura Ultra-Bold"/>
              </a:rPr>
              <a:t>PM AS A LEADER</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1429681" y="2451967"/>
            <a:ext cx="15428638" cy="5976747"/>
          </a:xfrm>
          <a:prstGeom prst="rect">
            <a:avLst/>
          </a:prstGeom>
        </p:spPr>
        <p:txBody>
          <a:bodyPr lIns="0" tIns="0" rIns="0" bIns="0" rtlCol="0" anchor="t">
            <a:spAutoFit/>
          </a:bodyPr>
          <a:lstStyle/>
          <a:p>
            <a:pPr algn="just">
              <a:lnSpc>
                <a:spcPts val="4328"/>
              </a:lnSpc>
              <a:spcBef>
                <a:spcPct val="0"/>
              </a:spcBef>
            </a:pPr>
            <a:r>
              <a:rPr lang="en-US" sz="3699">
                <a:solidFill>
                  <a:srgbClr val="2012BF"/>
                </a:solidFill>
                <a:latin typeface="Canva Sans"/>
                <a:ea typeface="Canva Sans"/>
                <a:cs typeface="Canva Sans"/>
                <a:sym typeface="Canva Sans"/>
              </a:rPr>
              <a:t>The PM is the project’s leading actor: making decisions, motivating staff, rotating people as needed, and monitoring performance. Leadership in the documents is practical not ideological. </a:t>
            </a:r>
          </a:p>
          <a:p>
            <a:pPr algn="just">
              <a:lnSpc>
                <a:spcPts val="4328"/>
              </a:lnSpc>
              <a:spcBef>
                <a:spcPct val="0"/>
              </a:spcBef>
            </a:pPr>
            <a:endParaRPr lang="en-US" sz="3699">
              <a:solidFill>
                <a:srgbClr val="2012BF"/>
              </a:solidFill>
              <a:latin typeface="Canva Sans"/>
              <a:ea typeface="Canva Sans"/>
              <a:cs typeface="Canva Sans"/>
              <a:sym typeface="Canva Sans"/>
            </a:endParaRPr>
          </a:p>
          <a:p>
            <a:pPr algn="just">
              <a:lnSpc>
                <a:spcPts val="4328"/>
              </a:lnSpc>
              <a:spcBef>
                <a:spcPct val="0"/>
              </a:spcBef>
            </a:pPr>
            <a:r>
              <a:rPr lang="en-US" sz="3699">
                <a:solidFill>
                  <a:srgbClr val="2012BF"/>
                </a:solidFill>
                <a:latin typeface="Canva Sans"/>
                <a:ea typeface="Canva Sans"/>
                <a:cs typeface="Canva Sans"/>
                <a:sym typeface="Canva Sans"/>
              </a:rPr>
              <a:t>PMs should promote moderate initiative but maintain accountability; apply sanctions if necessary to contain counterproductive behaviour; and help team members move to roles where they are more effective. PM reputation and presentation are also part of the execution strategy: the PM’s public positioning helps secure support, attract partners and reduce friction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sp>
        <p:nvSpPr>
          <p:cNvPr id="3" name="TextBox 3"/>
          <p:cNvSpPr txBox="1"/>
          <p:nvPr/>
        </p:nvSpPr>
        <p:spPr>
          <a:xfrm>
            <a:off x="4500016" y="557510"/>
            <a:ext cx="9287968" cy="1311275"/>
          </a:xfrm>
          <a:prstGeom prst="rect">
            <a:avLst/>
          </a:prstGeom>
        </p:spPr>
        <p:txBody>
          <a:bodyPr lIns="0" tIns="0" rIns="0" bIns="0" rtlCol="0" anchor="t">
            <a:spAutoFit/>
          </a:bodyPr>
          <a:lstStyle/>
          <a:p>
            <a:pPr algn="l">
              <a:lnSpc>
                <a:spcPts val="8800"/>
              </a:lnSpc>
            </a:pPr>
            <a:r>
              <a:rPr lang="en-US" sz="8000" b="1">
                <a:solidFill>
                  <a:srgbClr val="2012BF"/>
                </a:solidFill>
                <a:latin typeface="Futura Ultra-Bold"/>
                <a:ea typeface="Futura Ultra-Bold"/>
                <a:cs typeface="Futura Ultra-Bold"/>
                <a:sym typeface="Futura Ultra-Bold"/>
              </a:rPr>
              <a:t>PM AS A LEADER</a:t>
            </a:r>
          </a:p>
        </p:txBody>
      </p:sp>
      <p:grpSp>
        <p:nvGrpSpPr>
          <p:cNvPr id="4" name="Group 4"/>
          <p:cNvGrpSpPr/>
          <p:nvPr/>
        </p:nvGrpSpPr>
        <p:grpSpPr>
          <a:xfrm>
            <a:off x="0" y="0"/>
            <a:ext cx="1028700" cy="3737571"/>
            <a:chOff x="0" y="0"/>
            <a:chExt cx="270933" cy="984381"/>
          </a:xfrm>
        </p:grpSpPr>
        <p:sp>
          <p:nvSpPr>
            <p:cNvPr id="5" name="Freeform 5"/>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6" name="TextBox 6"/>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7" name="TextBox 7"/>
          <p:cNvSpPr txBox="1"/>
          <p:nvPr/>
        </p:nvSpPr>
        <p:spPr>
          <a:xfrm>
            <a:off x="1429681" y="2419101"/>
            <a:ext cx="15428638" cy="6519672"/>
          </a:xfrm>
          <a:prstGeom prst="rect">
            <a:avLst/>
          </a:prstGeom>
        </p:spPr>
        <p:txBody>
          <a:bodyPr lIns="0" tIns="0" rIns="0" bIns="0" rtlCol="0" anchor="t">
            <a:spAutoFit/>
          </a:bodyPr>
          <a:lstStyle/>
          <a:p>
            <a:pPr algn="just">
              <a:lnSpc>
                <a:spcPts val="4328"/>
              </a:lnSpc>
              <a:spcBef>
                <a:spcPct val="0"/>
              </a:spcBef>
            </a:pPr>
            <a:r>
              <a:rPr lang="en-US" sz="3699">
                <a:solidFill>
                  <a:srgbClr val="2012BF"/>
                </a:solidFill>
                <a:latin typeface="Canva Sans"/>
                <a:ea typeface="Canva Sans"/>
                <a:cs typeface="Canva Sans"/>
                <a:sym typeface="Canva Sans"/>
              </a:rPr>
              <a:t>The Project Manager is more than an administrator; he or she is a leader. Leadership means making daily decisions, but also motivating the team, solving conflicts, and giving people responsibility. </a:t>
            </a:r>
          </a:p>
          <a:p>
            <a:pPr algn="just">
              <a:lnSpc>
                <a:spcPts val="4328"/>
              </a:lnSpc>
              <a:spcBef>
                <a:spcPct val="0"/>
              </a:spcBef>
            </a:pPr>
            <a:endParaRPr lang="en-US" sz="3699">
              <a:solidFill>
                <a:srgbClr val="2012BF"/>
              </a:solidFill>
              <a:latin typeface="Canva Sans"/>
              <a:ea typeface="Canva Sans"/>
              <a:cs typeface="Canva Sans"/>
              <a:sym typeface="Canva Sans"/>
            </a:endParaRPr>
          </a:p>
          <a:p>
            <a:pPr algn="just">
              <a:lnSpc>
                <a:spcPts val="4328"/>
              </a:lnSpc>
              <a:spcBef>
                <a:spcPct val="0"/>
              </a:spcBef>
            </a:pPr>
            <a:r>
              <a:rPr lang="en-US" sz="3699">
                <a:solidFill>
                  <a:srgbClr val="2012BF"/>
                </a:solidFill>
                <a:latin typeface="Canva Sans"/>
                <a:ea typeface="Canva Sans"/>
                <a:cs typeface="Canva Sans"/>
                <a:sym typeface="Canva Sans"/>
              </a:rPr>
              <a:t>The PM must balance authority with flexibility: sanctioning errors, when necessary, but also supporting initiative. The documents remind us that a PM should rotate staff according to performance, not only rank, and must help every member find their best place in the project. A good leader builds a team that functions as one body, capable of achieving extraordinary results</a:t>
            </a:r>
          </a:p>
          <a:p>
            <a:pPr algn="just">
              <a:lnSpc>
                <a:spcPts val="4328"/>
              </a:lnSpc>
              <a:spcBef>
                <a:spcPct val="0"/>
              </a:spcBef>
            </a:pPr>
            <a:endParaRPr lang="en-US" sz="3699">
              <a:solidFill>
                <a:srgbClr val="2012BF"/>
              </a:solidFill>
              <a:latin typeface="Canva Sans"/>
              <a:ea typeface="Canva Sans"/>
              <a:cs typeface="Canva Sans"/>
              <a:sym typeface="Canva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11249101" y="3906713"/>
            <a:ext cx="4461701" cy="2504130"/>
          </a:xfrm>
          <a:custGeom>
            <a:avLst/>
            <a:gdLst/>
            <a:ahLst/>
            <a:cxnLst/>
            <a:rect l="l" t="t" r="r" b="b"/>
            <a:pathLst>
              <a:path w="4461701" h="2504130">
                <a:moveTo>
                  <a:pt x="0" y="0"/>
                </a:moveTo>
                <a:lnTo>
                  <a:pt x="4461701" y="0"/>
                </a:lnTo>
                <a:lnTo>
                  <a:pt x="4461701" y="2504130"/>
                </a:lnTo>
                <a:lnTo>
                  <a:pt x="0" y="2504130"/>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a:ln cap="sq">
            <a:noFill/>
            <a:prstDash val="solid"/>
            <a:miter/>
          </a:ln>
        </p:spPr>
      </p:sp>
      <p:sp>
        <p:nvSpPr>
          <p:cNvPr id="7" name="Freeform 7"/>
          <p:cNvSpPr/>
          <p:nvPr/>
        </p:nvSpPr>
        <p:spPr>
          <a:xfrm>
            <a:off x="7461423" y="7782870"/>
            <a:ext cx="4461701" cy="2504130"/>
          </a:xfrm>
          <a:custGeom>
            <a:avLst/>
            <a:gdLst/>
            <a:ahLst/>
            <a:cxnLst/>
            <a:rect l="l" t="t" r="r" b="b"/>
            <a:pathLst>
              <a:path w="4461701" h="2504130">
                <a:moveTo>
                  <a:pt x="0" y="0"/>
                </a:moveTo>
                <a:lnTo>
                  <a:pt x="4461701" y="0"/>
                </a:lnTo>
                <a:lnTo>
                  <a:pt x="4461701" y="2504130"/>
                </a:lnTo>
                <a:lnTo>
                  <a:pt x="0" y="2504130"/>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a:ln cap="sq">
            <a:noFill/>
            <a:prstDash val="solid"/>
            <a:miter/>
          </a:ln>
        </p:spPr>
      </p:sp>
      <p:grpSp>
        <p:nvGrpSpPr>
          <p:cNvPr id="8" name="Group 8"/>
          <p:cNvGrpSpPr/>
          <p:nvPr/>
        </p:nvGrpSpPr>
        <p:grpSpPr>
          <a:xfrm>
            <a:off x="3086911" y="3193481"/>
            <a:ext cx="5041420" cy="2297646"/>
            <a:chOff x="0" y="0"/>
            <a:chExt cx="1701060" cy="775264"/>
          </a:xfrm>
        </p:grpSpPr>
        <p:sp>
          <p:nvSpPr>
            <p:cNvPr id="9" name="Freeform 9"/>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F72585"/>
              </a:solidFill>
              <a:prstDash val="solid"/>
              <a:round/>
            </a:ln>
          </p:spPr>
        </p:sp>
        <p:sp>
          <p:nvSpPr>
            <p:cNvPr id="10" name="TextBox 10"/>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rot="-10800000">
            <a:off x="7171564" y="7069638"/>
            <a:ext cx="5041420" cy="2297646"/>
            <a:chOff x="0" y="0"/>
            <a:chExt cx="1701060" cy="775264"/>
          </a:xfrm>
        </p:grpSpPr>
        <p:sp>
          <p:nvSpPr>
            <p:cNvPr id="12" name="Freeform 12"/>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4361EE"/>
              </a:solidFill>
              <a:prstDash val="solid"/>
              <a:round/>
            </a:ln>
          </p:spPr>
        </p:sp>
        <p:sp>
          <p:nvSpPr>
            <p:cNvPr id="13" name="TextBox 13"/>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rot="-10800000">
            <a:off x="10959241" y="3193481"/>
            <a:ext cx="5041420" cy="2297646"/>
            <a:chOff x="0" y="0"/>
            <a:chExt cx="1701060" cy="775264"/>
          </a:xfrm>
        </p:grpSpPr>
        <p:sp>
          <p:nvSpPr>
            <p:cNvPr id="15" name="Freeform 15"/>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3A0CA3"/>
              </a:solidFill>
              <a:prstDash val="solid"/>
              <a:round/>
            </a:ln>
          </p:spPr>
        </p:sp>
        <p:sp>
          <p:nvSpPr>
            <p:cNvPr id="16" name="TextBox 16"/>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rot="3618839">
            <a:off x="5190236" y="6058272"/>
            <a:ext cx="2178041" cy="705141"/>
          </a:xfrm>
          <a:custGeom>
            <a:avLst/>
            <a:gdLst/>
            <a:ahLst/>
            <a:cxnLst/>
            <a:rect l="l" t="t" r="r" b="b"/>
            <a:pathLst>
              <a:path w="2178041" h="705141">
                <a:moveTo>
                  <a:pt x="0" y="0"/>
                </a:moveTo>
                <a:lnTo>
                  <a:pt x="2178042" y="0"/>
                </a:lnTo>
                <a:lnTo>
                  <a:pt x="2178042" y="705141"/>
                </a:lnTo>
                <a:lnTo>
                  <a:pt x="0" y="705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Freeform 18"/>
          <p:cNvSpPr/>
          <p:nvPr/>
        </p:nvSpPr>
        <p:spPr>
          <a:xfrm rot="5610655">
            <a:off x="12072383" y="5946512"/>
            <a:ext cx="1913639" cy="1064462"/>
          </a:xfrm>
          <a:custGeom>
            <a:avLst/>
            <a:gdLst/>
            <a:ahLst/>
            <a:cxnLst/>
            <a:rect l="l" t="t" r="r" b="b"/>
            <a:pathLst>
              <a:path w="1913639" h="1064462">
                <a:moveTo>
                  <a:pt x="0" y="0"/>
                </a:moveTo>
                <a:lnTo>
                  <a:pt x="1913639" y="0"/>
                </a:lnTo>
                <a:lnTo>
                  <a:pt x="1913639" y="1064462"/>
                </a:lnTo>
                <a:lnTo>
                  <a:pt x="0" y="1064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TextBox 19"/>
          <p:cNvSpPr txBox="1"/>
          <p:nvPr/>
        </p:nvSpPr>
        <p:spPr>
          <a:xfrm>
            <a:off x="1154868" y="833080"/>
            <a:ext cx="16777836"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DYNAMIC (D) &amp; STATIC (S) ELEMENTS</a:t>
            </a:r>
          </a:p>
        </p:txBody>
      </p:sp>
      <p:sp>
        <p:nvSpPr>
          <p:cNvPr id="20" name="TextBox 20"/>
          <p:cNvSpPr txBox="1"/>
          <p:nvPr/>
        </p:nvSpPr>
        <p:spPr>
          <a:xfrm>
            <a:off x="3359870" y="3868613"/>
            <a:ext cx="4147513" cy="934941"/>
          </a:xfrm>
          <a:prstGeom prst="rect">
            <a:avLst/>
          </a:prstGeom>
        </p:spPr>
        <p:txBody>
          <a:bodyPr lIns="0" tIns="0" rIns="0" bIns="0" rtlCol="0" anchor="t">
            <a:spAutoFit/>
          </a:bodyPr>
          <a:lstStyle/>
          <a:p>
            <a:pPr algn="ctr">
              <a:lnSpc>
                <a:spcPts val="3747"/>
              </a:lnSpc>
            </a:pPr>
            <a:r>
              <a:rPr lang="en-US" sz="2882" b="1">
                <a:solidFill>
                  <a:srgbClr val="000000"/>
                </a:solidFill>
                <a:latin typeface="Roboto Bold"/>
                <a:ea typeface="Roboto Bold"/>
                <a:cs typeface="Roboto Bold"/>
                <a:sym typeface="Roboto Bold"/>
              </a:rPr>
              <a:t>Dynamic (D) = human factor and relationships</a:t>
            </a:r>
          </a:p>
        </p:txBody>
      </p:sp>
      <p:sp>
        <p:nvSpPr>
          <p:cNvPr id="21" name="TextBox 21"/>
          <p:cNvSpPr txBox="1"/>
          <p:nvPr/>
        </p:nvSpPr>
        <p:spPr>
          <a:xfrm>
            <a:off x="11561869" y="3659061"/>
            <a:ext cx="4148932" cy="1328385"/>
          </a:xfrm>
          <a:prstGeom prst="rect">
            <a:avLst/>
          </a:prstGeom>
        </p:spPr>
        <p:txBody>
          <a:bodyPr lIns="0" tIns="0" rIns="0" bIns="0" rtlCol="0" anchor="t">
            <a:spAutoFit/>
          </a:bodyPr>
          <a:lstStyle/>
          <a:p>
            <a:pPr algn="ctr">
              <a:lnSpc>
                <a:spcPts val="3487"/>
              </a:lnSpc>
            </a:pPr>
            <a:r>
              <a:rPr lang="en-US" sz="2682" b="1">
                <a:solidFill>
                  <a:srgbClr val="000000"/>
                </a:solidFill>
                <a:latin typeface="Roboto Bold"/>
                <a:ea typeface="Roboto Bold"/>
                <a:cs typeface="Roboto Bold"/>
                <a:sym typeface="Roboto Bold"/>
              </a:rPr>
              <a:t>Static (S) = infrastructure, legal, and policy framework</a:t>
            </a:r>
          </a:p>
        </p:txBody>
      </p:sp>
      <p:sp>
        <p:nvSpPr>
          <p:cNvPr id="22" name="TextBox 22"/>
          <p:cNvSpPr txBox="1"/>
          <p:nvPr/>
        </p:nvSpPr>
        <p:spPr>
          <a:xfrm>
            <a:off x="7824432" y="7535218"/>
            <a:ext cx="3905320" cy="1100042"/>
          </a:xfrm>
          <a:prstGeom prst="rect">
            <a:avLst/>
          </a:prstGeom>
        </p:spPr>
        <p:txBody>
          <a:bodyPr lIns="0" tIns="0" rIns="0" bIns="0" rtlCol="0" anchor="t">
            <a:spAutoFit/>
          </a:bodyPr>
          <a:lstStyle/>
          <a:p>
            <a:pPr algn="ctr">
              <a:lnSpc>
                <a:spcPts val="4397"/>
              </a:lnSpc>
            </a:pPr>
            <a:r>
              <a:rPr lang="en-US" sz="3382" b="1">
                <a:solidFill>
                  <a:srgbClr val="000000"/>
                </a:solidFill>
                <a:latin typeface="Roboto Bold"/>
                <a:ea typeface="Roboto Bold"/>
                <a:cs typeface="Roboto Bold"/>
                <a:sym typeface="Roboto Bold"/>
              </a:rPr>
              <a:t>Both are necessary for project success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154868" y="833080"/>
            <a:ext cx="16777836"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DYNAMIC (D) &amp; STATIC (S) ELEMENTS</a:t>
            </a:r>
          </a:p>
        </p:txBody>
      </p:sp>
      <p:sp>
        <p:nvSpPr>
          <p:cNvPr id="7" name="TextBox 7"/>
          <p:cNvSpPr txBox="1"/>
          <p:nvPr/>
        </p:nvSpPr>
        <p:spPr>
          <a:xfrm>
            <a:off x="1543550" y="2638697"/>
            <a:ext cx="16000473" cy="5637658"/>
          </a:xfrm>
          <a:prstGeom prst="rect">
            <a:avLst/>
          </a:prstGeom>
        </p:spPr>
        <p:txBody>
          <a:bodyPr lIns="0" tIns="0" rIns="0" bIns="0" rtlCol="0" anchor="t">
            <a:spAutoFit/>
          </a:bodyPr>
          <a:lstStyle/>
          <a:p>
            <a:pPr algn="just">
              <a:lnSpc>
                <a:spcPts val="5003"/>
              </a:lnSpc>
            </a:pPr>
            <a:r>
              <a:rPr lang="en-US" sz="3599">
                <a:solidFill>
                  <a:srgbClr val="2012BF"/>
                </a:solidFill>
                <a:latin typeface="Canva Sans"/>
                <a:ea typeface="Canva Sans"/>
                <a:cs typeface="Canva Sans"/>
                <a:sym typeface="Canva Sans"/>
              </a:rPr>
              <a:t>In every project we find two categories of factors: Dynamic and Static. Dynamic elements are the human factors the leadership, the relationships, the Project Supporter, and the team itself. Static elements are the environment infrastructure, laws, financial systems, and institutions. A project cannot succeed without a balance between these two. Too much reliance on dynamic elements creates instability. Too much reliance on static elements creates rigidity. The Project Manager must know how to combine them in the right proportion for efficiency and sustainability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154868" y="833080"/>
            <a:ext cx="16777836"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DYNAMIC (D) &amp; STATIC (S) ELEMENTS</a:t>
            </a:r>
          </a:p>
        </p:txBody>
      </p:sp>
      <p:sp>
        <p:nvSpPr>
          <p:cNvPr id="7" name="TextBox 7"/>
          <p:cNvSpPr txBox="1"/>
          <p:nvPr/>
        </p:nvSpPr>
        <p:spPr>
          <a:xfrm>
            <a:off x="1543550" y="2363342"/>
            <a:ext cx="16000473" cy="6894958"/>
          </a:xfrm>
          <a:prstGeom prst="rect">
            <a:avLst/>
          </a:prstGeom>
        </p:spPr>
        <p:txBody>
          <a:bodyPr lIns="0" tIns="0" rIns="0" bIns="0" rtlCol="0" anchor="t">
            <a:spAutoFit/>
          </a:bodyPr>
          <a:lstStyle/>
          <a:p>
            <a:pPr algn="just">
              <a:lnSpc>
                <a:spcPts val="5003"/>
              </a:lnSpc>
            </a:pPr>
            <a:r>
              <a:rPr lang="en-US" sz="3599">
                <a:solidFill>
                  <a:srgbClr val="2012BF"/>
                </a:solidFill>
                <a:latin typeface="Canva Sans"/>
                <a:ea typeface="Canva Sans"/>
                <a:cs typeface="Canva Sans"/>
                <a:sym typeface="Canva Sans"/>
              </a:rPr>
              <a:t>Dynamic factors (D) are human and relational: leadership, team psychology, networking. </a:t>
            </a:r>
          </a:p>
          <a:p>
            <a:pPr algn="just">
              <a:lnSpc>
                <a:spcPts val="5003"/>
              </a:lnSpc>
            </a:pPr>
            <a:endParaRPr lang="en-US" sz="3599">
              <a:solidFill>
                <a:srgbClr val="2012BF"/>
              </a:solidFill>
              <a:latin typeface="Canva Sans"/>
              <a:ea typeface="Canva Sans"/>
              <a:cs typeface="Canva Sans"/>
              <a:sym typeface="Canva Sans"/>
            </a:endParaRPr>
          </a:p>
          <a:p>
            <a:pPr algn="just">
              <a:lnSpc>
                <a:spcPts val="5003"/>
              </a:lnSpc>
            </a:pPr>
            <a:r>
              <a:rPr lang="en-US" sz="3599">
                <a:solidFill>
                  <a:srgbClr val="2012BF"/>
                </a:solidFill>
                <a:latin typeface="Canva Sans"/>
                <a:ea typeface="Canva Sans"/>
                <a:cs typeface="Canva Sans"/>
                <a:sym typeface="Canva Sans"/>
              </a:rPr>
              <a:t>Static factors (S) are physical and structural: infrastructure, legal frameworks, financial tools. The lecture stresses that both are essential and must be modeled: D often changes quickly and is less predictable; S is slower but can create systemic constraints. </a:t>
            </a:r>
          </a:p>
          <a:p>
            <a:pPr algn="just">
              <a:lnSpc>
                <a:spcPts val="5003"/>
              </a:lnSpc>
            </a:pPr>
            <a:endParaRPr lang="en-US" sz="3599">
              <a:solidFill>
                <a:srgbClr val="2012BF"/>
              </a:solidFill>
              <a:latin typeface="Canva Sans"/>
              <a:ea typeface="Canva Sans"/>
              <a:cs typeface="Canva Sans"/>
              <a:sym typeface="Canva Sans"/>
            </a:endParaRPr>
          </a:p>
          <a:p>
            <a:pPr algn="just">
              <a:lnSpc>
                <a:spcPts val="5003"/>
              </a:lnSpc>
            </a:pPr>
            <a:r>
              <a:rPr lang="en-US" sz="3599">
                <a:solidFill>
                  <a:srgbClr val="2012BF"/>
                </a:solidFill>
                <a:latin typeface="Canva Sans"/>
                <a:ea typeface="Canva Sans"/>
                <a:cs typeface="Canva Sans"/>
                <a:sym typeface="Canva Sans"/>
              </a:rPr>
              <a:t>The PM must assess where the project sits on the D/S scale and plan interventions accordingly: invest in capacity building if D is weak, or in policy work if S is the bottleneck</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11249101" y="3906713"/>
            <a:ext cx="4461701" cy="2504130"/>
          </a:xfrm>
          <a:custGeom>
            <a:avLst/>
            <a:gdLst/>
            <a:ahLst/>
            <a:cxnLst/>
            <a:rect l="l" t="t" r="r" b="b"/>
            <a:pathLst>
              <a:path w="4461701" h="2504130">
                <a:moveTo>
                  <a:pt x="0" y="0"/>
                </a:moveTo>
                <a:lnTo>
                  <a:pt x="4461701" y="0"/>
                </a:lnTo>
                <a:lnTo>
                  <a:pt x="4461701" y="2504130"/>
                </a:lnTo>
                <a:lnTo>
                  <a:pt x="0" y="2504130"/>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a:ln cap="sq">
            <a:noFill/>
            <a:prstDash val="solid"/>
            <a:miter/>
          </a:ln>
        </p:spPr>
      </p:sp>
      <p:sp>
        <p:nvSpPr>
          <p:cNvPr id="7" name="Freeform 7"/>
          <p:cNvSpPr/>
          <p:nvPr/>
        </p:nvSpPr>
        <p:spPr>
          <a:xfrm>
            <a:off x="7461423" y="7782870"/>
            <a:ext cx="4461701" cy="2504130"/>
          </a:xfrm>
          <a:custGeom>
            <a:avLst/>
            <a:gdLst/>
            <a:ahLst/>
            <a:cxnLst/>
            <a:rect l="l" t="t" r="r" b="b"/>
            <a:pathLst>
              <a:path w="4461701" h="2504130">
                <a:moveTo>
                  <a:pt x="0" y="0"/>
                </a:moveTo>
                <a:lnTo>
                  <a:pt x="4461701" y="0"/>
                </a:lnTo>
                <a:lnTo>
                  <a:pt x="4461701" y="2504130"/>
                </a:lnTo>
                <a:lnTo>
                  <a:pt x="0" y="2504130"/>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a:ln cap="sq">
            <a:noFill/>
            <a:prstDash val="solid"/>
            <a:miter/>
          </a:ln>
        </p:spPr>
      </p:sp>
      <p:grpSp>
        <p:nvGrpSpPr>
          <p:cNvPr id="8" name="Group 8"/>
          <p:cNvGrpSpPr/>
          <p:nvPr/>
        </p:nvGrpSpPr>
        <p:grpSpPr>
          <a:xfrm>
            <a:off x="3086911" y="3193481"/>
            <a:ext cx="5041420" cy="2297646"/>
            <a:chOff x="0" y="0"/>
            <a:chExt cx="1701060" cy="775264"/>
          </a:xfrm>
        </p:grpSpPr>
        <p:sp>
          <p:nvSpPr>
            <p:cNvPr id="9" name="Freeform 9"/>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F72585"/>
              </a:solidFill>
              <a:prstDash val="solid"/>
              <a:round/>
            </a:ln>
          </p:spPr>
        </p:sp>
        <p:sp>
          <p:nvSpPr>
            <p:cNvPr id="10" name="TextBox 10"/>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rot="-10800000">
            <a:off x="7171564" y="7069638"/>
            <a:ext cx="5041420" cy="2297646"/>
            <a:chOff x="0" y="0"/>
            <a:chExt cx="1701060" cy="775264"/>
          </a:xfrm>
        </p:grpSpPr>
        <p:sp>
          <p:nvSpPr>
            <p:cNvPr id="12" name="Freeform 12"/>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4361EE"/>
              </a:solidFill>
              <a:prstDash val="solid"/>
              <a:round/>
            </a:ln>
          </p:spPr>
        </p:sp>
        <p:sp>
          <p:nvSpPr>
            <p:cNvPr id="13" name="TextBox 13"/>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rot="-10800000">
            <a:off x="10959241" y="3193481"/>
            <a:ext cx="5041420" cy="2297646"/>
            <a:chOff x="0" y="0"/>
            <a:chExt cx="1701060" cy="775264"/>
          </a:xfrm>
        </p:grpSpPr>
        <p:sp>
          <p:nvSpPr>
            <p:cNvPr id="15" name="Freeform 15"/>
            <p:cNvSpPr/>
            <p:nvPr/>
          </p:nvSpPr>
          <p:spPr>
            <a:xfrm>
              <a:off x="0" y="0"/>
              <a:ext cx="1701060" cy="775264"/>
            </a:xfrm>
            <a:custGeom>
              <a:avLst/>
              <a:gdLst/>
              <a:ahLst/>
              <a:cxnLst/>
              <a:rect l="l" t="t" r="r" b="b"/>
              <a:pathLst>
                <a:path w="1701060" h="775264">
                  <a:moveTo>
                    <a:pt x="62962" y="0"/>
                  </a:moveTo>
                  <a:lnTo>
                    <a:pt x="1638097" y="0"/>
                  </a:lnTo>
                  <a:cubicBezTo>
                    <a:pt x="1654796" y="0"/>
                    <a:pt x="1670811" y="6633"/>
                    <a:pt x="1682619" y="18441"/>
                  </a:cubicBezTo>
                  <a:cubicBezTo>
                    <a:pt x="1694426" y="30249"/>
                    <a:pt x="1701060" y="46264"/>
                    <a:pt x="1701060" y="62962"/>
                  </a:cubicBezTo>
                  <a:lnTo>
                    <a:pt x="1701060" y="712302"/>
                  </a:lnTo>
                  <a:cubicBezTo>
                    <a:pt x="1701060" y="747075"/>
                    <a:pt x="1672871" y="775264"/>
                    <a:pt x="1638097" y="775264"/>
                  </a:cubicBezTo>
                  <a:lnTo>
                    <a:pt x="62962" y="775264"/>
                  </a:lnTo>
                  <a:cubicBezTo>
                    <a:pt x="46264" y="775264"/>
                    <a:pt x="30249" y="768631"/>
                    <a:pt x="18441" y="756823"/>
                  </a:cubicBezTo>
                  <a:cubicBezTo>
                    <a:pt x="6633" y="745015"/>
                    <a:pt x="0" y="729001"/>
                    <a:pt x="0" y="712302"/>
                  </a:cubicBezTo>
                  <a:lnTo>
                    <a:pt x="0" y="62962"/>
                  </a:lnTo>
                  <a:cubicBezTo>
                    <a:pt x="0" y="46264"/>
                    <a:pt x="6633" y="30249"/>
                    <a:pt x="18441" y="18441"/>
                  </a:cubicBezTo>
                  <a:cubicBezTo>
                    <a:pt x="30249" y="6633"/>
                    <a:pt x="46264" y="0"/>
                    <a:pt x="62962" y="0"/>
                  </a:cubicBezTo>
                  <a:close/>
                </a:path>
              </a:pathLst>
            </a:custGeom>
            <a:solidFill>
              <a:srgbClr val="FFFFFF"/>
            </a:solidFill>
            <a:ln w="38100" cap="rnd">
              <a:solidFill>
                <a:srgbClr val="3A0CA3"/>
              </a:solidFill>
              <a:prstDash val="solid"/>
              <a:round/>
            </a:ln>
          </p:spPr>
        </p:sp>
        <p:sp>
          <p:nvSpPr>
            <p:cNvPr id="16" name="TextBox 16"/>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rot="3618839">
            <a:off x="5190236" y="6058272"/>
            <a:ext cx="2178041" cy="705141"/>
          </a:xfrm>
          <a:custGeom>
            <a:avLst/>
            <a:gdLst/>
            <a:ahLst/>
            <a:cxnLst/>
            <a:rect l="l" t="t" r="r" b="b"/>
            <a:pathLst>
              <a:path w="2178041" h="705141">
                <a:moveTo>
                  <a:pt x="0" y="0"/>
                </a:moveTo>
                <a:lnTo>
                  <a:pt x="2178042" y="0"/>
                </a:lnTo>
                <a:lnTo>
                  <a:pt x="2178042" y="705141"/>
                </a:lnTo>
                <a:lnTo>
                  <a:pt x="0" y="705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Freeform 18"/>
          <p:cNvSpPr/>
          <p:nvPr/>
        </p:nvSpPr>
        <p:spPr>
          <a:xfrm rot="5610655">
            <a:off x="12072383" y="5946512"/>
            <a:ext cx="1913639" cy="1064462"/>
          </a:xfrm>
          <a:custGeom>
            <a:avLst/>
            <a:gdLst/>
            <a:ahLst/>
            <a:cxnLst/>
            <a:rect l="l" t="t" r="r" b="b"/>
            <a:pathLst>
              <a:path w="1913639" h="1064462">
                <a:moveTo>
                  <a:pt x="0" y="0"/>
                </a:moveTo>
                <a:lnTo>
                  <a:pt x="1913639" y="0"/>
                </a:lnTo>
                <a:lnTo>
                  <a:pt x="1913639" y="1064462"/>
                </a:lnTo>
                <a:lnTo>
                  <a:pt x="0" y="1064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TextBox 19"/>
          <p:cNvSpPr txBox="1"/>
          <p:nvPr/>
        </p:nvSpPr>
        <p:spPr>
          <a:xfrm>
            <a:off x="1510164" y="427671"/>
            <a:ext cx="10702819" cy="121920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BALANCING D &amp; S</a:t>
            </a:r>
          </a:p>
        </p:txBody>
      </p:sp>
      <p:sp>
        <p:nvSpPr>
          <p:cNvPr id="20" name="TextBox 20"/>
          <p:cNvSpPr txBox="1"/>
          <p:nvPr/>
        </p:nvSpPr>
        <p:spPr>
          <a:xfrm>
            <a:off x="3359870" y="3868613"/>
            <a:ext cx="4147513" cy="934941"/>
          </a:xfrm>
          <a:prstGeom prst="rect">
            <a:avLst/>
          </a:prstGeom>
        </p:spPr>
        <p:txBody>
          <a:bodyPr lIns="0" tIns="0" rIns="0" bIns="0" rtlCol="0" anchor="t">
            <a:spAutoFit/>
          </a:bodyPr>
          <a:lstStyle/>
          <a:p>
            <a:pPr algn="ctr">
              <a:lnSpc>
                <a:spcPts val="3747"/>
              </a:lnSpc>
            </a:pPr>
            <a:r>
              <a:rPr lang="en-US" sz="2882" b="1">
                <a:solidFill>
                  <a:srgbClr val="000000"/>
                </a:solidFill>
                <a:latin typeface="Roboto Bold"/>
                <a:ea typeface="Roboto Bold"/>
                <a:cs typeface="Roboto Bold"/>
                <a:sym typeface="Roboto Bold"/>
              </a:rPr>
              <a:t>Too much D = unstable reliance on people</a:t>
            </a:r>
          </a:p>
        </p:txBody>
      </p:sp>
      <p:sp>
        <p:nvSpPr>
          <p:cNvPr id="21" name="TextBox 21"/>
          <p:cNvSpPr txBox="1"/>
          <p:nvPr/>
        </p:nvSpPr>
        <p:spPr>
          <a:xfrm>
            <a:off x="11561869" y="3659061"/>
            <a:ext cx="4148932" cy="1769836"/>
          </a:xfrm>
          <a:prstGeom prst="rect">
            <a:avLst/>
          </a:prstGeom>
        </p:spPr>
        <p:txBody>
          <a:bodyPr lIns="0" tIns="0" rIns="0" bIns="0" rtlCol="0" anchor="t">
            <a:spAutoFit/>
          </a:bodyPr>
          <a:lstStyle/>
          <a:p>
            <a:pPr algn="ctr">
              <a:lnSpc>
                <a:spcPts val="3487"/>
              </a:lnSpc>
            </a:pPr>
            <a:r>
              <a:rPr lang="en-US" sz="2682" b="1">
                <a:solidFill>
                  <a:srgbClr val="000000"/>
                </a:solidFill>
                <a:latin typeface="Roboto Bold"/>
                <a:ea typeface="Roboto Bold"/>
                <a:cs typeface="Roboto Bold"/>
                <a:sym typeface="Roboto Bold"/>
              </a:rPr>
              <a:t>Too much S = rigid bureaucracy and slow progress.</a:t>
            </a:r>
          </a:p>
          <a:p>
            <a:pPr algn="ctr">
              <a:lnSpc>
                <a:spcPts val="3487"/>
              </a:lnSpc>
            </a:pPr>
            <a:endParaRPr lang="en-US" sz="2682" b="1">
              <a:solidFill>
                <a:srgbClr val="000000"/>
              </a:solidFill>
              <a:latin typeface="Roboto Bold"/>
              <a:ea typeface="Roboto Bold"/>
              <a:cs typeface="Roboto Bold"/>
              <a:sym typeface="Roboto Bold"/>
            </a:endParaRPr>
          </a:p>
        </p:txBody>
      </p:sp>
      <p:sp>
        <p:nvSpPr>
          <p:cNvPr id="22" name="TextBox 22"/>
          <p:cNvSpPr txBox="1"/>
          <p:nvPr/>
        </p:nvSpPr>
        <p:spPr>
          <a:xfrm>
            <a:off x="7824432" y="7535218"/>
            <a:ext cx="3905320" cy="1652492"/>
          </a:xfrm>
          <a:prstGeom prst="rect">
            <a:avLst/>
          </a:prstGeom>
        </p:spPr>
        <p:txBody>
          <a:bodyPr lIns="0" tIns="0" rIns="0" bIns="0" rtlCol="0" anchor="t">
            <a:spAutoFit/>
          </a:bodyPr>
          <a:lstStyle/>
          <a:p>
            <a:pPr algn="ctr">
              <a:lnSpc>
                <a:spcPts val="4397"/>
              </a:lnSpc>
            </a:pPr>
            <a:r>
              <a:rPr lang="en-US" sz="3382" b="1">
                <a:solidFill>
                  <a:srgbClr val="000000"/>
                </a:solidFill>
                <a:latin typeface="Roboto Bold"/>
                <a:ea typeface="Roboto Bold"/>
                <a:cs typeface="Roboto Bold"/>
                <a:sym typeface="Roboto Bold"/>
              </a:rPr>
              <a:t>Balance creates efficiency and innovation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510164" y="427671"/>
            <a:ext cx="10702819" cy="121920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BALANCING D &amp; S</a:t>
            </a:r>
          </a:p>
        </p:txBody>
      </p:sp>
      <p:sp>
        <p:nvSpPr>
          <p:cNvPr id="7" name="TextBox 7"/>
          <p:cNvSpPr txBox="1"/>
          <p:nvPr/>
        </p:nvSpPr>
        <p:spPr>
          <a:xfrm>
            <a:off x="1510164" y="1811636"/>
            <a:ext cx="14569549" cy="7273387"/>
          </a:xfrm>
          <a:prstGeom prst="rect">
            <a:avLst/>
          </a:prstGeom>
        </p:spPr>
        <p:txBody>
          <a:bodyPr lIns="0" tIns="0" rIns="0" bIns="0" rtlCol="0" anchor="t">
            <a:spAutoFit/>
          </a:bodyPr>
          <a:lstStyle/>
          <a:p>
            <a:pPr algn="just">
              <a:lnSpc>
                <a:spcPts val="4124"/>
              </a:lnSpc>
            </a:pPr>
            <a:r>
              <a:rPr lang="en-US" sz="2967" b="1">
                <a:solidFill>
                  <a:srgbClr val="2012BF"/>
                </a:solidFill>
                <a:latin typeface="Canva Sans Bold"/>
                <a:ea typeface="Canva Sans Bold"/>
                <a:cs typeface="Canva Sans Bold"/>
                <a:sym typeface="Canva Sans Bold"/>
              </a:rPr>
              <a:t>The text identifies four combinations and their strategic implications: </a:t>
            </a:r>
          </a:p>
          <a:p>
            <a:pPr algn="just">
              <a:lnSpc>
                <a:spcPts val="4124"/>
              </a:lnSpc>
            </a:pPr>
            <a:endParaRPr lang="en-US" sz="2967" b="1">
              <a:solidFill>
                <a:srgbClr val="2012BF"/>
              </a:solidFill>
              <a:latin typeface="Canva Sans Bold"/>
              <a:ea typeface="Canva Sans Bold"/>
              <a:cs typeface="Canva Sans Bold"/>
              <a:sym typeface="Canva Sans Bold"/>
            </a:endParaRPr>
          </a:p>
          <a:p>
            <a:pPr algn="just">
              <a:lnSpc>
                <a:spcPts val="4124"/>
              </a:lnSpc>
            </a:pPr>
            <a:r>
              <a:rPr lang="en-US" sz="2967" b="1">
                <a:solidFill>
                  <a:srgbClr val="2012BF"/>
                </a:solidFill>
                <a:latin typeface="Canva Sans Bold"/>
                <a:ea typeface="Canva Sans Bold"/>
                <a:cs typeface="Canva Sans Bold"/>
                <a:sym typeface="Canva Sans Bold"/>
              </a:rPr>
              <a:t>(1) Unknown D &amp; Unknown S — highest uncertainty; PM must perform deep reconnaissance and small pilot fragments. </a:t>
            </a:r>
          </a:p>
          <a:p>
            <a:pPr algn="just">
              <a:lnSpc>
                <a:spcPts val="4124"/>
              </a:lnSpc>
            </a:pPr>
            <a:endParaRPr lang="en-US" sz="2967" b="1">
              <a:solidFill>
                <a:srgbClr val="2012BF"/>
              </a:solidFill>
              <a:latin typeface="Canva Sans Bold"/>
              <a:ea typeface="Canva Sans Bold"/>
              <a:cs typeface="Canva Sans Bold"/>
              <a:sym typeface="Canva Sans Bold"/>
            </a:endParaRPr>
          </a:p>
          <a:p>
            <a:pPr algn="just">
              <a:lnSpc>
                <a:spcPts val="4124"/>
              </a:lnSpc>
            </a:pPr>
            <a:r>
              <a:rPr lang="en-US" sz="2967" b="1">
                <a:solidFill>
                  <a:srgbClr val="2012BF"/>
                </a:solidFill>
                <a:latin typeface="Canva Sans Bold"/>
                <a:ea typeface="Canva Sans Bold"/>
                <a:cs typeface="Canva Sans Bold"/>
                <a:sym typeface="Canva Sans Bold"/>
              </a:rPr>
              <a:t>(2) Known D / Unknown S — the team is proven but infrastructure/regulation is new; focus on infrastructure mapping and contingency. </a:t>
            </a:r>
          </a:p>
          <a:p>
            <a:pPr algn="just">
              <a:lnSpc>
                <a:spcPts val="4124"/>
              </a:lnSpc>
            </a:pPr>
            <a:endParaRPr lang="en-US" sz="2967" b="1">
              <a:solidFill>
                <a:srgbClr val="2012BF"/>
              </a:solidFill>
              <a:latin typeface="Canva Sans Bold"/>
              <a:ea typeface="Canva Sans Bold"/>
              <a:cs typeface="Canva Sans Bold"/>
              <a:sym typeface="Canva Sans Bold"/>
            </a:endParaRPr>
          </a:p>
          <a:p>
            <a:pPr algn="just">
              <a:lnSpc>
                <a:spcPts val="4124"/>
              </a:lnSpc>
            </a:pPr>
            <a:r>
              <a:rPr lang="en-US" sz="2967" b="1">
                <a:solidFill>
                  <a:srgbClr val="2012BF"/>
                </a:solidFill>
                <a:latin typeface="Canva Sans Bold"/>
                <a:ea typeface="Canva Sans Bold"/>
                <a:cs typeface="Canva Sans Bold"/>
                <a:sym typeface="Canva Sans Bold"/>
              </a:rPr>
              <a:t>(3) Unknown D / Known S — the environment is stable but the team must be assembled and social capital built. </a:t>
            </a:r>
          </a:p>
          <a:p>
            <a:pPr algn="just">
              <a:lnSpc>
                <a:spcPts val="4124"/>
              </a:lnSpc>
            </a:pPr>
            <a:endParaRPr lang="en-US" sz="2967" b="1">
              <a:solidFill>
                <a:srgbClr val="2012BF"/>
              </a:solidFill>
              <a:latin typeface="Canva Sans Bold"/>
              <a:ea typeface="Canva Sans Bold"/>
              <a:cs typeface="Canva Sans Bold"/>
              <a:sym typeface="Canva Sans Bold"/>
            </a:endParaRPr>
          </a:p>
          <a:p>
            <a:pPr algn="just">
              <a:lnSpc>
                <a:spcPts val="4124"/>
              </a:lnSpc>
            </a:pPr>
            <a:r>
              <a:rPr lang="en-US" sz="2967" b="1">
                <a:solidFill>
                  <a:srgbClr val="2012BF"/>
                </a:solidFill>
                <a:latin typeface="Canva Sans Bold"/>
                <a:ea typeface="Canva Sans Bold"/>
                <a:cs typeface="Canva Sans Bold"/>
                <a:sym typeface="Canva Sans Bold"/>
              </a:rPr>
              <a:t>(4) Known D &amp; Known S — the lowest risk environment; innovate on product/service rather than structure. Each combination requires a distinct sequencing of tasks and risk mitigation in the BP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510164" y="427671"/>
            <a:ext cx="10702819" cy="121920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BALANCING D &amp; S</a:t>
            </a:r>
          </a:p>
        </p:txBody>
      </p:sp>
      <p:sp>
        <p:nvSpPr>
          <p:cNvPr id="7" name="TextBox 7"/>
          <p:cNvSpPr txBox="1"/>
          <p:nvPr/>
        </p:nvSpPr>
        <p:spPr>
          <a:xfrm>
            <a:off x="1510164" y="2345624"/>
            <a:ext cx="15072222" cy="5108798"/>
          </a:xfrm>
          <a:prstGeom prst="rect">
            <a:avLst/>
          </a:prstGeom>
        </p:spPr>
        <p:txBody>
          <a:bodyPr lIns="0" tIns="0" rIns="0" bIns="0" rtlCol="0" anchor="t">
            <a:spAutoFit/>
          </a:bodyPr>
          <a:lstStyle/>
          <a:p>
            <a:pPr algn="just">
              <a:lnSpc>
                <a:spcPts val="5839"/>
              </a:lnSpc>
            </a:pPr>
            <a:r>
              <a:rPr lang="en-US" sz="4201">
                <a:solidFill>
                  <a:srgbClr val="2012BF"/>
                </a:solidFill>
                <a:latin typeface="Canva Sans"/>
                <a:ea typeface="Canva Sans"/>
                <a:cs typeface="Canva Sans"/>
                <a:sym typeface="Canva Sans"/>
              </a:rPr>
              <a:t>Each situation requires different strategies. The Project Manager must adapt to these conditions and choose the right path for success.</a:t>
            </a:r>
          </a:p>
          <a:p>
            <a:pPr algn="just">
              <a:lnSpc>
                <a:spcPts val="5839"/>
              </a:lnSpc>
            </a:pPr>
            <a:endParaRPr lang="en-US" sz="4201">
              <a:solidFill>
                <a:srgbClr val="2012BF"/>
              </a:solidFill>
              <a:latin typeface="Canva Sans"/>
              <a:ea typeface="Canva Sans"/>
              <a:cs typeface="Canva Sans"/>
              <a:sym typeface="Canva Sans"/>
            </a:endParaRPr>
          </a:p>
          <a:p>
            <a:pPr algn="just">
              <a:lnSpc>
                <a:spcPts val="5839"/>
              </a:lnSpc>
            </a:pPr>
            <a:r>
              <a:rPr lang="en-US" sz="4201">
                <a:solidFill>
                  <a:srgbClr val="2012BF"/>
                </a:solidFill>
                <a:latin typeface="Canva Sans"/>
                <a:ea typeface="Canva Sans"/>
                <a:cs typeface="Canva Sans"/>
                <a:sym typeface="Canva Sans"/>
              </a:rPr>
              <a:t>Example matrix showing typical sectors: </a:t>
            </a:r>
          </a:p>
          <a:p>
            <a:pPr algn="just">
              <a:lnSpc>
                <a:spcPts val="5839"/>
              </a:lnSpc>
            </a:pPr>
            <a:r>
              <a:rPr lang="en-US" sz="4201">
                <a:solidFill>
                  <a:srgbClr val="2012BF"/>
                </a:solidFill>
                <a:latin typeface="Canva Sans"/>
                <a:ea typeface="Canva Sans"/>
                <a:cs typeface="Canva Sans"/>
                <a:sym typeface="Canva Sans"/>
              </a:rPr>
              <a:t>New market entry = Unknown/Unknown; </a:t>
            </a:r>
          </a:p>
          <a:p>
            <a:pPr algn="just">
              <a:lnSpc>
                <a:spcPts val="5839"/>
              </a:lnSpc>
            </a:pPr>
            <a:r>
              <a:rPr lang="en-US" sz="4201">
                <a:solidFill>
                  <a:srgbClr val="2012BF"/>
                </a:solidFill>
                <a:latin typeface="Canva Sans"/>
                <a:ea typeface="Canva Sans"/>
                <a:cs typeface="Canva Sans"/>
                <a:sym typeface="Canva Sans"/>
              </a:rPr>
              <a:t>urban upgrades = Known S but Unknown 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510164" y="427671"/>
            <a:ext cx="13799451" cy="226695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TYPES OF D/S COMBINATIONS</a:t>
            </a:r>
          </a:p>
        </p:txBody>
      </p:sp>
      <p:grpSp>
        <p:nvGrpSpPr>
          <p:cNvPr id="7" name="Group 7"/>
          <p:cNvGrpSpPr/>
          <p:nvPr/>
        </p:nvGrpSpPr>
        <p:grpSpPr>
          <a:xfrm>
            <a:off x="1028700" y="4565063"/>
            <a:ext cx="4811055" cy="3694226"/>
            <a:chOff x="0" y="0"/>
            <a:chExt cx="875341" cy="672141"/>
          </a:xfrm>
        </p:grpSpPr>
        <p:sp>
          <p:nvSpPr>
            <p:cNvPr id="8" name="Freeform 8"/>
            <p:cNvSpPr/>
            <p:nvPr/>
          </p:nvSpPr>
          <p:spPr>
            <a:xfrm>
              <a:off x="12113" y="0"/>
              <a:ext cx="851115" cy="672141"/>
            </a:xfrm>
            <a:custGeom>
              <a:avLst/>
              <a:gdLst/>
              <a:ahLst/>
              <a:cxnLst/>
              <a:rect l="l" t="t" r="r" b="b"/>
              <a:pathLst>
                <a:path w="851115" h="672141">
                  <a:moveTo>
                    <a:pt x="245800" y="0"/>
                  </a:moveTo>
                  <a:lnTo>
                    <a:pt x="605315" y="0"/>
                  </a:lnTo>
                  <a:cubicBezTo>
                    <a:pt x="637803" y="0"/>
                    <a:pt x="666459" y="21274"/>
                    <a:pt x="675861" y="52372"/>
                  </a:cubicBezTo>
                  <a:lnTo>
                    <a:pt x="847395" y="619769"/>
                  </a:lnTo>
                  <a:cubicBezTo>
                    <a:pt x="851115" y="632074"/>
                    <a:pt x="848791" y="645413"/>
                    <a:pt x="841128" y="655734"/>
                  </a:cubicBezTo>
                  <a:cubicBezTo>
                    <a:pt x="833466" y="666056"/>
                    <a:pt x="821370" y="672141"/>
                    <a:pt x="808515" y="672141"/>
                  </a:cubicBezTo>
                  <a:lnTo>
                    <a:pt x="42600" y="672141"/>
                  </a:lnTo>
                  <a:cubicBezTo>
                    <a:pt x="29745" y="672141"/>
                    <a:pt x="17649" y="666056"/>
                    <a:pt x="9987" y="655734"/>
                  </a:cubicBezTo>
                  <a:cubicBezTo>
                    <a:pt x="2324" y="645413"/>
                    <a:pt x="0" y="632074"/>
                    <a:pt x="3720" y="619769"/>
                  </a:cubicBezTo>
                  <a:lnTo>
                    <a:pt x="175254" y="52372"/>
                  </a:lnTo>
                  <a:cubicBezTo>
                    <a:pt x="184656" y="21274"/>
                    <a:pt x="213312" y="0"/>
                    <a:pt x="245800" y="0"/>
                  </a:cubicBezTo>
                  <a:close/>
                </a:path>
              </a:pathLst>
            </a:custGeom>
            <a:solidFill>
              <a:srgbClr val="000000">
                <a:alpha val="0"/>
              </a:srgbClr>
            </a:solidFill>
            <a:ln w="38100" cap="rnd">
              <a:solidFill>
                <a:srgbClr val="F72585"/>
              </a:solidFill>
              <a:prstDash val="solid"/>
              <a:round/>
            </a:ln>
          </p:spPr>
        </p:sp>
        <p:sp>
          <p:nvSpPr>
            <p:cNvPr id="9" name="TextBox 9"/>
            <p:cNvSpPr txBox="1"/>
            <p:nvPr/>
          </p:nvSpPr>
          <p:spPr>
            <a:xfrm>
              <a:off x="127000" y="-47625"/>
              <a:ext cx="621341" cy="719766"/>
            </a:xfrm>
            <a:prstGeom prst="rect">
              <a:avLst/>
            </a:prstGeom>
          </p:spPr>
          <p:txBody>
            <a:bodyPr lIns="50800" tIns="50800" rIns="50800" bIns="50800" rtlCol="0" anchor="ctr"/>
            <a:lstStyle/>
            <a:p>
              <a:pPr algn="ctr">
                <a:lnSpc>
                  <a:spcPts val="2239"/>
                </a:lnSpc>
              </a:pPr>
              <a:endParaRPr/>
            </a:p>
          </p:txBody>
        </p:sp>
      </p:grpSp>
      <p:grpSp>
        <p:nvGrpSpPr>
          <p:cNvPr id="10" name="Group 10"/>
          <p:cNvGrpSpPr/>
          <p:nvPr/>
        </p:nvGrpSpPr>
        <p:grpSpPr>
          <a:xfrm>
            <a:off x="8805517" y="4565063"/>
            <a:ext cx="4811055" cy="3694226"/>
            <a:chOff x="0" y="0"/>
            <a:chExt cx="875341" cy="672141"/>
          </a:xfrm>
        </p:grpSpPr>
        <p:sp>
          <p:nvSpPr>
            <p:cNvPr id="11" name="Freeform 11"/>
            <p:cNvSpPr/>
            <p:nvPr/>
          </p:nvSpPr>
          <p:spPr>
            <a:xfrm>
              <a:off x="12113" y="0"/>
              <a:ext cx="851115" cy="672141"/>
            </a:xfrm>
            <a:custGeom>
              <a:avLst/>
              <a:gdLst/>
              <a:ahLst/>
              <a:cxnLst/>
              <a:rect l="l" t="t" r="r" b="b"/>
              <a:pathLst>
                <a:path w="851115" h="672141">
                  <a:moveTo>
                    <a:pt x="245800" y="0"/>
                  </a:moveTo>
                  <a:lnTo>
                    <a:pt x="605315" y="0"/>
                  </a:lnTo>
                  <a:cubicBezTo>
                    <a:pt x="637803" y="0"/>
                    <a:pt x="666459" y="21274"/>
                    <a:pt x="675861" y="52372"/>
                  </a:cubicBezTo>
                  <a:lnTo>
                    <a:pt x="847395" y="619769"/>
                  </a:lnTo>
                  <a:cubicBezTo>
                    <a:pt x="851115" y="632074"/>
                    <a:pt x="848791" y="645413"/>
                    <a:pt x="841128" y="655734"/>
                  </a:cubicBezTo>
                  <a:cubicBezTo>
                    <a:pt x="833466" y="666056"/>
                    <a:pt x="821370" y="672141"/>
                    <a:pt x="808515" y="672141"/>
                  </a:cubicBezTo>
                  <a:lnTo>
                    <a:pt x="42600" y="672141"/>
                  </a:lnTo>
                  <a:cubicBezTo>
                    <a:pt x="29745" y="672141"/>
                    <a:pt x="17649" y="666056"/>
                    <a:pt x="9987" y="655734"/>
                  </a:cubicBezTo>
                  <a:cubicBezTo>
                    <a:pt x="2324" y="645413"/>
                    <a:pt x="0" y="632074"/>
                    <a:pt x="3720" y="619769"/>
                  </a:cubicBezTo>
                  <a:lnTo>
                    <a:pt x="175254" y="52372"/>
                  </a:lnTo>
                  <a:cubicBezTo>
                    <a:pt x="184656" y="21274"/>
                    <a:pt x="213312" y="0"/>
                    <a:pt x="245800" y="0"/>
                  </a:cubicBezTo>
                  <a:close/>
                </a:path>
              </a:pathLst>
            </a:custGeom>
            <a:solidFill>
              <a:srgbClr val="000000">
                <a:alpha val="0"/>
              </a:srgbClr>
            </a:solidFill>
            <a:ln w="38100" cap="rnd">
              <a:solidFill>
                <a:srgbClr val="3A0CA3"/>
              </a:solidFill>
              <a:prstDash val="solid"/>
              <a:round/>
            </a:ln>
          </p:spPr>
        </p:sp>
        <p:sp>
          <p:nvSpPr>
            <p:cNvPr id="12" name="TextBox 12"/>
            <p:cNvSpPr txBox="1"/>
            <p:nvPr/>
          </p:nvSpPr>
          <p:spPr>
            <a:xfrm>
              <a:off x="127000" y="-47625"/>
              <a:ext cx="621341" cy="719766"/>
            </a:xfrm>
            <a:prstGeom prst="rect">
              <a:avLst/>
            </a:prstGeom>
          </p:spPr>
          <p:txBody>
            <a:bodyPr lIns="50800" tIns="50800" rIns="50800" bIns="50800" rtlCol="0" anchor="ctr"/>
            <a:lstStyle/>
            <a:p>
              <a:pPr algn="ctr">
                <a:lnSpc>
                  <a:spcPts val="2239"/>
                </a:lnSpc>
              </a:pPr>
              <a:endParaRPr/>
            </a:p>
          </p:txBody>
        </p:sp>
      </p:grpSp>
      <p:grpSp>
        <p:nvGrpSpPr>
          <p:cNvPr id="13" name="Group 13"/>
          <p:cNvGrpSpPr/>
          <p:nvPr/>
        </p:nvGrpSpPr>
        <p:grpSpPr>
          <a:xfrm rot="-10800000">
            <a:off x="4916142" y="4611771"/>
            <a:ext cx="4811055" cy="3694226"/>
            <a:chOff x="0" y="0"/>
            <a:chExt cx="875341" cy="672141"/>
          </a:xfrm>
        </p:grpSpPr>
        <p:sp>
          <p:nvSpPr>
            <p:cNvPr id="14" name="Freeform 14"/>
            <p:cNvSpPr/>
            <p:nvPr/>
          </p:nvSpPr>
          <p:spPr>
            <a:xfrm>
              <a:off x="12113" y="0"/>
              <a:ext cx="851115" cy="672141"/>
            </a:xfrm>
            <a:custGeom>
              <a:avLst/>
              <a:gdLst/>
              <a:ahLst/>
              <a:cxnLst/>
              <a:rect l="l" t="t" r="r" b="b"/>
              <a:pathLst>
                <a:path w="851115" h="672141">
                  <a:moveTo>
                    <a:pt x="245800" y="0"/>
                  </a:moveTo>
                  <a:lnTo>
                    <a:pt x="605315" y="0"/>
                  </a:lnTo>
                  <a:cubicBezTo>
                    <a:pt x="637803" y="0"/>
                    <a:pt x="666459" y="21274"/>
                    <a:pt x="675861" y="52372"/>
                  </a:cubicBezTo>
                  <a:lnTo>
                    <a:pt x="847395" y="619769"/>
                  </a:lnTo>
                  <a:cubicBezTo>
                    <a:pt x="851115" y="632074"/>
                    <a:pt x="848791" y="645413"/>
                    <a:pt x="841128" y="655734"/>
                  </a:cubicBezTo>
                  <a:cubicBezTo>
                    <a:pt x="833466" y="666056"/>
                    <a:pt x="821370" y="672141"/>
                    <a:pt x="808515" y="672141"/>
                  </a:cubicBezTo>
                  <a:lnTo>
                    <a:pt x="42600" y="672141"/>
                  </a:lnTo>
                  <a:cubicBezTo>
                    <a:pt x="29745" y="672141"/>
                    <a:pt x="17649" y="666056"/>
                    <a:pt x="9987" y="655734"/>
                  </a:cubicBezTo>
                  <a:cubicBezTo>
                    <a:pt x="2324" y="645413"/>
                    <a:pt x="0" y="632074"/>
                    <a:pt x="3720" y="619769"/>
                  </a:cubicBezTo>
                  <a:lnTo>
                    <a:pt x="175254" y="52372"/>
                  </a:lnTo>
                  <a:cubicBezTo>
                    <a:pt x="184656" y="21274"/>
                    <a:pt x="213312" y="0"/>
                    <a:pt x="245800" y="0"/>
                  </a:cubicBezTo>
                  <a:close/>
                </a:path>
              </a:pathLst>
            </a:custGeom>
            <a:solidFill>
              <a:srgbClr val="000000">
                <a:alpha val="0"/>
              </a:srgbClr>
            </a:solidFill>
            <a:ln w="38100" cap="rnd">
              <a:solidFill>
                <a:srgbClr val="7209B7"/>
              </a:solidFill>
              <a:prstDash val="solid"/>
              <a:round/>
            </a:ln>
          </p:spPr>
        </p:sp>
        <p:sp>
          <p:nvSpPr>
            <p:cNvPr id="15" name="TextBox 15"/>
            <p:cNvSpPr txBox="1"/>
            <p:nvPr/>
          </p:nvSpPr>
          <p:spPr>
            <a:xfrm>
              <a:off x="127000" y="-47625"/>
              <a:ext cx="621341" cy="719766"/>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rot="-10800000">
            <a:off x="12692959" y="4611771"/>
            <a:ext cx="4811055" cy="3694226"/>
            <a:chOff x="0" y="0"/>
            <a:chExt cx="875341" cy="672141"/>
          </a:xfrm>
        </p:grpSpPr>
        <p:sp>
          <p:nvSpPr>
            <p:cNvPr id="17" name="Freeform 17"/>
            <p:cNvSpPr/>
            <p:nvPr/>
          </p:nvSpPr>
          <p:spPr>
            <a:xfrm>
              <a:off x="12113" y="0"/>
              <a:ext cx="851115" cy="672141"/>
            </a:xfrm>
            <a:custGeom>
              <a:avLst/>
              <a:gdLst/>
              <a:ahLst/>
              <a:cxnLst/>
              <a:rect l="l" t="t" r="r" b="b"/>
              <a:pathLst>
                <a:path w="851115" h="672141">
                  <a:moveTo>
                    <a:pt x="245800" y="0"/>
                  </a:moveTo>
                  <a:lnTo>
                    <a:pt x="605315" y="0"/>
                  </a:lnTo>
                  <a:cubicBezTo>
                    <a:pt x="637803" y="0"/>
                    <a:pt x="666459" y="21274"/>
                    <a:pt x="675861" y="52372"/>
                  </a:cubicBezTo>
                  <a:lnTo>
                    <a:pt x="847395" y="619769"/>
                  </a:lnTo>
                  <a:cubicBezTo>
                    <a:pt x="851115" y="632074"/>
                    <a:pt x="848791" y="645413"/>
                    <a:pt x="841128" y="655734"/>
                  </a:cubicBezTo>
                  <a:cubicBezTo>
                    <a:pt x="833466" y="666056"/>
                    <a:pt x="821370" y="672141"/>
                    <a:pt x="808515" y="672141"/>
                  </a:cubicBezTo>
                  <a:lnTo>
                    <a:pt x="42600" y="672141"/>
                  </a:lnTo>
                  <a:cubicBezTo>
                    <a:pt x="29745" y="672141"/>
                    <a:pt x="17649" y="666056"/>
                    <a:pt x="9987" y="655734"/>
                  </a:cubicBezTo>
                  <a:cubicBezTo>
                    <a:pt x="2324" y="645413"/>
                    <a:pt x="0" y="632074"/>
                    <a:pt x="3720" y="619769"/>
                  </a:cubicBezTo>
                  <a:lnTo>
                    <a:pt x="175254" y="52372"/>
                  </a:lnTo>
                  <a:cubicBezTo>
                    <a:pt x="184656" y="21274"/>
                    <a:pt x="213312" y="0"/>
                    <a:pt x="245800" y="0"/>
                  </a:cubicBezTo>
                  <a:close/>
                </a:path>
              </a:pathLst>
            </a:custGeom>
            <a:solidFill>
              <a:srgbClr val="000000">
                <a:alpha val="0"/>
              </a:srgbClr>
            </a:solidFill>
            <a:ln w="38100" cap="rnd">
              <a:solidFill>
                <a:srgbClr val="4361EE"/>
              </a:solidFill>
              <a:prstDash val="solid"/>
              <a:round/>
            </a:ln>
          </p:spPr>
        </p:sp>
        <p:sp>
          <p:nvSpPr>
            <p:cNvPr id="18" name="TextBox 18"/>
            <p:cNvSpPr txBox="1"/>
            <p:nvPr/>
          </p:nvSpPr>
          <p:spPr>
            <a:xfrm>
              <a:off x="127000" y="-47625"/>
              <a:ext cx="621341" cy="719766"/>
            </a:xfrm>
            <a:prstGeom prst="rect">
              <a:avLst/>
            </a:prstGeom>
          </p:spPr>
          <p:txBody>
            <a:bodyPr lIns="50800" tIns="50800" rIns="50800" bIns="50800" rtlCol="0" anchor="ctr"/>
            <a:lstStyle/>
            <a:p>
              <a:pPr algn="ctr">
                <a:lnSpc>
                  <a:spcPts val="2239"/>
                </a:lnSpc>
              </a:pPr>
              <a:endParaRPr/>
            </a:p>
          </p:txBody>
        </p:sp>
      </p:grpSp>
      <p:grpSp>
        <p:nvGrpSpPr>
          <p:cNvPr id="19" name="Group 19"/>
          <p:cNvGrpSpPr/>
          <p:nvPr/>
        </p:nvGrpSpPr>
        <p:grpSpPr>
          <a:xfrm>
            <a:off x="2606736" y="3737571"/>
            <a:ext cx="1654983" cy="165498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2585"/>
            </a:solidFill>
            <a:ln w="95250" cap="sq">
              <a:solidFill>
                <a:srgbClr val="FFFFFF"/>
              </a:solidFill>
              <a:prstDash val="solid"/>
              <a:miter/>
            </a:ln>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10383553" y="3737571"/>
            <a:ext cx="2026577" cy="2026577"/>
          </a:xfrm>
          <a:custGeom>
            <a:avLst/>
            <a:gdLst/>
            <a:ahLst/>
            <a:cxnLst/>
            <a:rect l="l" t="t" r="r" b="b"/>
            <a:pathLst>
              <a:path w="2026577" h="2026577">
                <a:moveTo>
                  <a:pt x="0" y="0"/>
                </a:moveTo>
                <a:lnTo>
                  <a:pt x="2026577" y="0"/>
                </a:lnTo>
                <a:lnTo>
                  <a:pt x="2026577" y="2026577"/>
                </a:lnTo>
                <a:lnTo>
                  <a:pt x="0" y="2026577"/>
                </a:lnTo>
                <a:lnTo>
                  <a:pt x="0" y="0"/>
                </a:lnTo>
                <a:close/>
              </a:path>
            </a:pathLst>
          </a:custGeom>
          <a:blipFill>
            <a:blip r:embed="rId4">
              <a:alphaModFix amt="35000"/>
              <a:extLst>
                <a:ext uri="{96DAC541-7B7A-43D3-8B79-37D633B846F1}">
                  <asvg:svgBlip xmlns:asvg="http://schemas.microsoft.com/office/drawing/2016/SVG/main" r:embed="rId5"/>
                </a:ext>
              </a:extLst>
            </a:blip>
            <a:stretch>
              <a:fillRect/>
            </a:stretch>
          </a:blipFill>
          <a:ln cap="sq">
            <a:noFill/>
            <a:prstDash val="solid"/>
            <a:miter/>
          </a:ln>
        </p:spPr>
      </p:sp>
      <p:grpSp>
        <p:nvGrpSpPr>
          <p:cNvPr id="23" name="Group 23"/>
          <p:cNvGrpSpPr/>
          <p:nvPr/>
        </p:nvGrpSpPr>
        <p:grpSpPr>
          <a:xfrm>
            <a:off x="10383553" y="3737571"/>
            <a:ext cx="1654983" cy="165498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CA3"/>
            </a:solidFill>
            <a:ln w="95250" cap="sq">
              <a:solidFill>
                <a:srgbClr val="FFFFFF"/>
              </a:soli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6494178" y="7478506"/>
            <a:ext cx="2026577" cy="2026577"/>
          </a:xfrm>
          <a:custGeom>
            <a:avLst/>
            <a:gdLst/>
            <a:ahLst/>
            <a:cxnLst/>
            <a:rect l="l" t="t" r="r" b="b"/>
            <a:pathLst>
              <a:path w="2026577" h="2026577">
                <a:moveTo>
                  <a:pt x="0" y="0"/>
                </a:moveTo>
                <a:lnTo>
                  <a:pt x="2026577" y="0"/>
                </a:lnTo>
                <a:lnTo>
                  <a:pt x="2026577" y="2026576"/>
                </a:lnTo>
                <a:lnTo>
                  <a:pt x="0" y="2026576"/>
                </a:lnTo>
                <a:lnTo>
                  <a:pt x="0" y="0"/>
                </a:lnTo>
                <a:close/>
              </a:path>
            </a:pathLst>
          </a:custGeom>
          <a:blipFill>
            <a:blip r:embed="rId4">
              <a:alphaModFix amt="35000"/>
              <a:extLst>
                <a:ext uri="{96DAC541-7B7A-43D3-8B79-37D633B846F1}">
                  <asvg:svgBlip xmlns:asvg="http://schemas.microsoft.com/office/drawing/2016/SVG/main" r:embed="rId6"/>
                </a:ext>
              </a:extLst>
            </a:blip>
            <a:stretch>
              <a:fillRect/>
            </a:stretch>
          </a:blipFill>
          <a:ln cap="sq">
            <a:noFill/>
            <a:prstDash val="solid"/>
            <a:miter/>
          </a:ln>
        </p:spPr>
      </p:sp>
      <p:grpSp>
        <p:nvGrpSpPr>
          <p:cNvPr id="27" name="Group 27"/>
          <p:cNvGrpSpPr/>
          <p:nvPr/>
        </p:nvGrpSpPr>
        <p:grpSpPr>
          <a:xfrm rot="-10800000">
            <a:off x="6494178" y="7478506"/>
            <a:ext cx="1654983" cy="165498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09B7"/>
            </a:solidFill>
            <a:ln w="95250" cap="sq">
              <a:solidFill>
                <a:srgbClr val="FFFFFF"/>
              </a:solidFill>
              <a:prstDash val="solid"/>
              <a:miter/>
            </a:ln>
          </p:spPr>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0" name="Freeform 30"/>
          <p:cNvSpPr/>
          <p:nvPr/>
        </p:nvSpPr>
        <p:spPr>
          <a:xfrm>
            <a:off x="14270995" y="7478506"/>
            <a:ext cx="2026577" cy="2026577"/>
          </a:xfrm>
          <a:custGeom>
            <a:avLst/>
            <a:gdLst/>
            <a:ahLst/>
            <a:cxnLst/>
            <a:rect l="l" t="t" r="r" b="b"/>
            <a:pathLst>
              <a:path w="2026577" h="2026577">
                <a:moveTo>
                  <a:pt x="0" y="0"/>
                </a:moveTo>
                <a:lnTo>
                  <a:pt x="2026577" y="0"/>
                </a:lnTo>
                <a:lnTo>
                  <a:pt x="2026577" y="2026576"/>
                </a:lnTo>
                <a:lnTo>
                  <a:pt x="0" y="2026576"/>
                </a:lnTo>
                <a:lnTo>
                  <a:pt x="0" y="0"/>
                </a:lnTo>
                <a:close/>
              </a:path>
            </a:pathLst>
          </a:custGeom>
          <a:blipFill>
            <a:blip r:embed="rId4">
              <a:alphaModFix amt="35000"/>
              <a:extLst>
                <a:ext uri="{96DAC541-7B7A-43D3-8B79-37D633B846F1}">
                  <asvg:svgBlip xmlns:asvg="http://schemas.microsoft.com/office/drawing/2016/SVG/main" r:embed="rId7"/>
                </a:ext>
              </a:extLst>
            </a:blip>
            <a:stretch>
              <a:fillRect/>
            </a:stretch>
          </a:blipFill>
          <a:ln cap="sq">
            <a:noFill/>
            <a:prstDash val="solid"/>
            <a:miter/>
          </a:ln>
        </p:spPr>
      </p:sp>
      <p:grpSp>
        <p:nvGrpSpPr>
          <p:cNvPr id="31" name="Group 31"/>
          <p:cNvGrpSpPr/>
          <p:nvPr/>
        </p:nvGrpSpPr>
        <p:grpSpPr>
          <a:xfrm rot="-10800000">
            <a:off x="14270995" y="7478506"/>
            <a:ext cx="1654983" cy="1654983"/>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61EE"/>
            </a:solidFill>
            <a:ln w="95250" cap="sq">
              <a:solidFill>
                <a:srgbClr val="FFFFFF"/>
              </a:solidFill>
              <a:prstDash val="solid"/>
              <a:miter/>
            </a:ln>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2142256" y="5977638"/>
            <a:ext cx="2583943" cy="1113790"/>
          </a:xfrm>
          <a:prstGeom prst="rect">
            <a:avLst/>
          </a:prstGeom>
        </p:spPr>
        <p:txBody>
          <a:bodyPr lIns="0" tIns="0" rIns="0" bIns="0" rtlCol="0" anchor="t">
            <a:spAutoFit/>
          </a:bodyPr>
          <a:lstStyle/>
          <a:p>
            <a:pPr algn="ctr">
              <a:lnSpc>
                <a:spcPts val="2990"/>
              </a:lnSpc>
            </a:pPr>
            <a:r>
              <a:rPr lang="en-US" sz="2300" b="1">
                <a:solidFill>
                  <a:srgbClr val="000000"/>
                </a:solidFill>
                <a:latin typeface="Roboto Bold"/>
                <a:ea typeface="Roboto Bold"/>
                <a:cs typeface="Roboto Bold"/>
                <a:sym typeface="Roboto Bold"/>
              </a:rPr>
              <a:t>Unknown D &amp; S: most difficult situation</a:t>
            </a:r>
          </a:p>
        </p:txBody>
      </p:sp>
      <p:sp>
        <p:nvSpPr>
          <p:cNvPr id="35" name="TextBox 35"/>
          <p:cNvSpPr txBox="1"/>
          <p:nvPr/>
        </p:nvSpPr>
        <p:spPr>
          <a:xfrm>
            <a:off x="9618726" y="6024001"/>
            <a:ext cx="3184637" cy="1176911"/>
          </a:xfrm>
          <a:prstGeom prst="rect">
            <a:avLst/>
          </a:prstGeom>
        </p:spPr>
        <p:txBody>
          <a:bodyPr lIns="0" tIns="0" rIns="0" bIns="0" rtlCol="0" anchor="t">
            <a:spAutoFit/>
          </a:bodyPr>
          <a:lstStyle/>
          <a:p>
            <a:pPr algn="ctr">
              <a:lnSpc>
                <a:spcPts val="3102"/>
              </a:lnSpc>
            </a:pPr>
            <a:r>
              <a:rPr lang="en-US" sz="2386" b="1">
                <a:solidFill>
                  <a:srgbClr val="000000"/>
                </a:solidFill>
                <a:latin typeface="Roboto Bold"/>
                <a:ea typeface="Roboto Bold"/>
                <a:cs typeface="Roboto Bold"/>
                <a:sym typeface="Roboto Bold"/>
              </a:rPr>
              <a:t>Unknown D / Known S: new team, familiar environment</a:t>
            </a:r>
          </a:p>
        </p:txBody>
      </p:sp>
      <p:sp>
        <p:nvSpPr>
          <p:cNvPr id="36" name="TextBox 36"/>
          <p:cNvSpPr txBox="1"/>
          <p:nvPr/>
        </p:nvSpPr>
        <p:spPr>
          <a:xfrm>
            <a:off x="5703340" y="5836297"/>
            <a:ext cx="3236659" cy="1113790"/>
          </a:xfrm>
          <a:prstGeom prst="rect">
            <a:avLst/>
          </a:prstGeom>
        </p:spPr>
        <p:txBody>
          <a:bodyPr lIns="0" tIns="0" rIns="0" bIns="0" rtlCol="0" anchor="t">
            <a:spAutoFit/>
          </a:bodyPr>
          <a:lstStyle/>
          <a:p>
            <a:pPr algn="ctr">
              <a:lnSpc>
                <a:spcPts val="2990"/>
              </a:lnSpc>
            </a:pPr>
            <a:r>
              <a:rPr lang="en-US" sz="2300" b="1">
                <a:solidFill>
                  <a:srgbClr val="000000"/>
                </a:solidFill>
                <a:latin typeface="Roboto Bold"/>
                <a:ea typeface="Roboto Bold"/>
                <a:cs typeface="Roboto Bold"/>
                <a:sym typeface="Roboto Bold"/>
              </a:rPr>
              <a:t>Known D / Unknown S: trusted team, new infrastructure</a:t>
            </a:r>
          </a:p>
        </p:txBody>
      </p:sp>
      <p:sp>
        <p:nvSpPr>
          <p:cNvPr id="37" name="TextBox 37"/>
          <p:cNvSpPr txBox="1"/>
          <p:nvPr/>
        </p:nvSpPr>
        <p:spPr>
          <a:xfrm>
            <a:off x="13616573" y="5715581"/>
            <a:ext cx="3082251" cy="1113790"/>
          </a:xfrm>
          <a:prstGeom prst="rect">
            <a:avLst/>
          </a:prstGeom>
        </p:spPr>
        <p:txBody>
          <a:bodyPr lIns="0" tIns="0" rIns="0" bIns="0" rtlCol="0" anchor="t">
            <a:spAutoFit/>
          </a:bodyPr>
          <a:lstStyle/>
          <a:p>
            <a:pPr algn="ctr">
              <a:lnSpc>
                <a:spcPts val="2990"/>
              </a:lnSpc>
            </a:pPr>
            <a:r>
              <a:rPr lang="en-US" sz="2300" b="1">
                <a:solidFill>
                  <a:srgbClr val="000000"/>
                </a:solidFill>
                <a:latin typeface="Roboto Bold"/>
                <a:ea typeface="Roboto Bold"/>
                <a:cs typeface="Roboto Bold"/>
                <a:sym typeface="Roboto Bold"/>
              </a:rPr>
              <a:t>Known D &amp; S: easiest but still requires creativity</a:t>
            </a:r>
          </a:p>
        </p:txBody>
      </p:sp>
      <p:sp>
        <p:nvSpPr>
          <p:cNvPr id="38" name="TextBox 38"/>
          <p:cNvSpPr txBox="1"/>
          <p:nvPr/>
        </p:nvSpPr>
        <p:spPr>
          <a:xfrm>
            <a:off x="2539718" y="8591606"/>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510164" y="427671"/>
            <a:ext cx="13799451" cy="2266952"/>
          </a:xfrm>
          <a:prstGeom prst="rect">
            <a:avLst/>
          </a:prstGeom>
        </p:spPr>
        <p:txBody>
          <a:bodyPr lIns="0" tIns="0" rIns="0" bIns="0" rtlCol="0" anchor="t">
            <a:spAutoFit/>
          </a:bodyPr>
          <a:lstStyle/>
          <a:p>
            <a:pPr algn="l">
              <a:lnSpc>
                <a:spcPts val="8250"/>
              </a:lnSpc>
            </a:pPr>
            <a:r>
              <a:rPr lang="en-US" sz="7500" b="1">
                <a:solidFill>
                  <a:srgbClr val="2012BF"/>
                </a:solidFill>
                <a:latin typeface="Futura Ultra-Bold"/>
                <a:ea typeface="Futura Ultra-Bold"/>
                <a:cs typeface="Futura Ultra-Bold"/>
                <a:sym typeface="Futura Ultra-Bold"/>
              </a:rPr>
              <a:t>TYPES OF D/S COMBINATIONS</a:t>
            </a:r>
          </a:p>
        </p:txBody>
      </p:sp>
      <p:sp>
        <p:nvSpPr>
          <p:cNvPr id="7" name="TextBox 7"/>
          <p:cNvSpPr txBox="1"/>
          <p:nvPr/>
        </p:nvSpPr>
        <p:spPr>
          <a:xfrm>
            <a:off x="2539718" y="8591606"/>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sp>
        <p:nvSpPr>
          <p:cNvPr id="8" name="TextBox 8"/>
          <p:cNvSpPr txBox="1"/>
          <p:nvPr/>
        </p:nvSpPr>
        <p:spPr>
          <a:xfrm>
            <a:off x="1258827" y="2847527"/>
            <a:ext cx="15671874" cy="5524501"/>
          </a:xfrm>
          <a:prstGeom prst="rect">
            <a:avLst/>
          </a:prstGeom>
        </p:spPr>
        <p:txBody>
          <a:bodyPr lIns="0" tIns="0" rIns="0" bIns="0" rtlCol="0" anchor="t">
            <a:spAutoFit/>
          </a:bodyPr>
          <a:lstStyle/>
          <a:p>
            <a:pPr marL="647697" lvl="1" indent="-323848" algn="just">
              <a:lnSpc>
                <a:spcPts val="4949"/>
              </a:lnSpc>
              <a:buFont typeface="Arial"/>
              <a:buChar char="•"/>
            </a:pPr>
            <a:r>
              <a:rPr lang="en-US" sz="2999" b="1">
                <a:solidFill>
                  <a:srgbClr val="000000"/>
                </a:solidFill>
                <a:latin typeface="Canva Sans Bold"/>
                <a:ea typeface="Canva Sans Bold"/>
                <a:cs typeface="Canva Sans Bold"/>
                <a:sym typeface="Canva Sans Bold"/>
              </a:rPr>
              <a:t>Unknown D and Unknown S the most difficult situation, where the team and the environment are both unfamiliar. </a:t>
            </a:r>
          </a:p>
          <a:p>
            <a:pPr marL="647697" lvl="1" indent="-323848" algn="just">
              <a:lnSpc>
                <a:spcPts val="4949"/>
              </a:lnSpc>
              <a:buFont typeface="Arial"/>
              <a:buChar char="•"/>
            </a:pPr>
            <a:r>
              <a:rPr lang="en-US" sz="2999" b="1">
                <a:solidFill>
                  <a:srgbClr val="000000"/>
                </a:solidFill>
                <a:latin typeface="Canva Sans Bold"/>
                <a:ea typeface="Canva Sans Bold"/>
                <a:cs typeface="Canva Sans Bold"/>
                <a:sym typeface="Canva Sans Bold"/>
              </a:rPr>
              <a:t>Unknown D with Known S, where the environment is clear but the human resources are uncertain. </a:t>
            </a:r>
          </a:p>
          <a:p>
            <a:pPr marL="647697" lvl="1" indent="-323848" algn="just">
              <a:lnSpc>
                <a:spcPts val="4949"/>
              </a:lnSpc>
              <a:buFont typeface="Arial"/>
              <a:buChar char="•"/>
            </a:pPr>
            <a:r>
              <a:rPr lang="en-US" sz="2999" b="1">
                <a:solidFill>
                  <a:srgbClr val="000000"/>
                </a:solidFill>
                <a:latin typeface="Canva Sans Bold"/>
                <a:ea typeface="Canva Sans Bold"/>
                <a:cs typeface="Canva Sans Bold"/>
                <a:sym typeface="Canva Sans Bold"/>
              </a:rPr>
              <a:t>Known D with Unknown S, when we trust our team but face new conditions. </a:t>
            </a:r>
          </a:p>
          <a:p>
            <a:pPr marL="647697" lvl="1" indent="-323848" algn="just">
              <a:lnSpc>
                <a:spcPts val="4949"/>
              </a:lnSpc>
              <a:buFont typeface="Arial"/>
              <a:buChar char="•"/>
            </a:pPr>
            <a:r>
              <a:rPr lang="en-US" sz="2999" b="1">
                <a:solidFill>
                  <a:srgbClr val="000000"/>
                </a:solidFill>
                <a:latin typeface="Canva Sans Bold"/>
                <a:ea typeface="Canva Sans Bold"/>
                <a:cs typeface="Canva Sans Bold"/>
                <a:sym typeface="Canva Sans Bold"/>
              </a:rPr>
              <a:t>Known D and Known S, the safest combination, but one that can limit innovation.</a:t>
            </a:r>
          </a:p>
          <a:p>
            <a:pPr algn="just">
              <a:lnSpc>
                <a:spcPts val="4949"/>
              </a:lnSpc>
            </a:pPr>
            <a:r>
              <a:rPr lang="en-US" sz="2999" b="1">
                <a:solidFill>
                  <a:srgbClr val="000000"/>
                </a:solidFill>
                <a:latin typeface="Canva Sans Bold"/>
                <a:ea typeface="Canva Sans Bold"/>
                <a:cs typeface="Canva Sans Bold"/>
                <a:sym typeface="Canva Sans Bold"/>
              </a:rPr>
              <a:t> </a:t>
            </a:r>
          </a:p>
          <a:p>
            <a:pPr algn="just">
              <a:lnSpc>
                <a:spcPts val="4949"/>
              </a:lnSpc>
            </a:pPr>
            <a:r>
              <a:rPr lang="en-US" sz="2999" b="1">
                <a:solidFill>
                  <a:srgbClr val="000000"/>
                </a:solidFill>
                <a:latin typeface="Canva Sans Bold"/>
                <a:ea typeface="Canva Sans Bold"/>
                <a:cs typeface="Canva Sans Bold"/>
                <a:sym typeface="Canva Sans Bold"/>
              </a:rPr>
              <a:t>Each situation requires different strategies. The Project Manager must adapt to these conditions and choose the right path for success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469463" y="962025"/>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BUILDING NETWORKS &amp; CONTACTS</a:t>
            </a:r>
          </a:p>
        </p:txBody>
      </p:sp>
      <p:sp>
        <p:nvSpPr>
          <p:cNvPr id="7" name="TextBox 7"/>
          <p:cNvSpPr txBox="1"/>
          <p:nvPr/>
        </p:nvSpPr>
        <p:spPr>
          <a:xfrm>
            <a:off x="2539718" y="8591606"/>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grpSp>
        <p:nvGrpSpPr>
          <p:cNvPr id="8" name="Group 8"/>
          <p:cNvGrpSpPr/>
          <p:nvPr/>
        </p:nvGrpSpPr>
        <p:grpSpPr>
          <a:xfrm>
            <a:off x="1576495" y="3781425"/>
            <a:ext cx="4155358" cy="4155358"/>
            <a:chOff x="0" y="0"/>
            <a:chExt cx="1094415" cy="1094415"/>
          </a:xfrm>
        </p:grpSpPr>
        <p:sp>
          <p:nvSpPr>
            <p:cNvPr id="9" name="Freeform 9"/>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10" name="TextBox 10"/>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11" name="Group 11"/>
          <p:cNvGrpSpPr/>
          <p:nvPr/>
        </p:nvGrpSpPr>
        <p:grpSpPr>
          <a:xfrm>
            <a:off x="1424095" y="3600450"/>
            <a:ext cx="4155358" cy="4155358"/>
            <a:chOff x="0" y="0"/>
            <a:chExt cx="1094415" cy="1094415"/>
          </a:xfrm>
        </p:grpSpPr>
        <p:sp>
          <p:nvSpPr>
            <p:cNvPr id="12" name="Freeform 12"/>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13" name="TextBox 13"/>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sp>
        <p:nvSpPr>
          <p:cNvPr id="14" name="TextBox 14"/>
          <p:cNvSpPr txBox="1"/>
          <p:nvPr/>
        </p:nvSpPr>
        <p:spPr>
          <a:xfrm>
            <a:off x="1641674" y="4821755"/>
            <a:ext cx="3671882" cy="1626235"/>
          </a:xfrm>
          <a:prstGeom prst="rect">
            <a:avLst/>
          </a:prstGeom>
        </p:spPr>
        <p:txBody>
          <a:bodyPr lIns="0" tIns="0" rIns="0" bIns="0" rtlCol="0" anchor="t">
            <a:spAutoFit/>
          </a:bodyPr>
          <a:lstStyle/>
          <a:p>
            <a:pPr marL="0" lvl="0" indent="0" algn="ctr">
              <a:lnSpc>
                <a:spcPts val="4339"/>
              </a:lnSpc>
            </a:pPr>
            <a:r>
              <a:rPr lang="en-US" sz="3099">
                <a:solidFill>
                  <a:srgbClr val="000000"/>
                </a:solidFill>
                <a:latin typeface="Roboto"/>
                <a:ea typeface="Roboto"/>
                <a:cs typeface="Roboto"/>
                <a:sym typeface="Roboto"/>
              </a:rPr>
              <a:t>Study history of similar projects in the target area</a:t>
            </a:r>
          </a:p>
        </p:txBody>
      </p:sp>
      <p:grpSp>
        <p:nvGrpSpPr>
          <p:cNvPr id="15" name="Group 15"/>
          <p:cNvGrpSpPr/>
          <p:nvPr/>
        </p:nvGrpSpPr>
        <p:grpSpPr>
          <a:xfrm>
            <a:off x="1641674" y="3326984"/>
            <a:ext cx="546933" cy="546933"/>
            <a:chOff x="0" y="0"/>
            <a:chExt cx="144048" cy="144048"/>
          </a:xfrm>
        </p:grpSpPr>
        <p:sp>
          <p:nvSpPr>
            <p:cNvPr id="16" name="Freeform 16"/>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17" name="TextBox 17"/>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grpSp>
        <p:nvGrpSpPr>
          <p:cNvPr id="18" name="Group 18"/>
          <p:cNvGrpSpPr/>
          <p:nvPr/>
        </p:nvGrpSpPr>
        <p:grpSpPr>
          <a:xfrm>
            <a:off x="7142521" y="3781425"/>
            <a:ext cx="4155358" cy="4155358"/>
            <a:chOff x="0" y="0"/>
            <a:chExt cx="1094415" cy="1094415"/>
          </a:xfrm>
        </p:grpSpPr>
        <p:sp>
          <p:nvSpPr>
            <p:cNvPr id="19" name="Freeform 19"/>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20" name="TextBox 20"/>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1" name="Group 21"/>
          <p:cNvGrpSpPr/>
          <p:nvPr/>
        </p:nvGrpSpPr>
        <p:grpSpPr>
          <a:xfrm>
            <a:off x="6990121" y="3600450"/>
            <a:ext cx="4155358" cy="4155358"/>
            <a:chOff x="0" y="0"/>
            <a:chExt cx="1094415" cy="1094415"/>
          </a:xfrm>
        </p:grpSpPr>
        <p:sp>
          <p:nvSpPr>
            <p:cNvPr id="22" name="Freeform 22"/>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23" name="TextBox 23"/>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24" name="Group 24"/>
          <p:cNvGrpSpPr/>
          <p:nvPr/>
        </p:nvGrpSpPr>
        <p:grpSpPr>
          <a:xfrm>
            <a:off x="7207700" y="3326984"/>
            <a:ext cx="546933" cy="546933"/>
            <a:chOff x="0" y="0"/>
            <a:chExt cx="144048" cy="144048"/>
          </a:xfrm>
        </p:grpSpPr>
        <p:sp>
          <p:nvSpPr>
            <p:cNvPr id="25" name="Freeform 25"/>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26" name="TextBox 26"/>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grpSp>
        <p:nvGrpSpPr>
          <p:cNvPr id="27" name="Group 27"/>
          <p:cNvGrpSpPr/>
          <p:nvPr/>
        </p:nvGrpSpPr>
        <p:grpSpPr>
          <a:xfrm>
            <a:off x="12708547" y="3781425"/>
            <a:ext cx="4155358" cy="4155358"/>
            <a:chOff x="0" y="0"/>
            <a:chExt cx="1094415" cy="1094415"/>
          </a:xfrm>
        </p:grpSpPr>
        <p:sp>
          <p:nvSpPr>
            <p:cNvPr id="28" name="Freeform 28"/>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2012BF"/>
            </a:solidFill>
            <a:ln cap="sq">
              <a:noFill/>
              <a:prstDash val="solid"/>
              <a:miter/>
            </a:ln>
          </p:spPr>
        </p:sp>
        <p:sp>
          <p:nvSpPr>
            <p:cNvPr id="29" name="TextBox 29"/>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30" name="Group 30"/>
          <p:cNvGrpSpPr/>
          <p:nvPr/>
        </p:nvGrpSpPr>
        <p:grpSpPr>
          <a:xfrm>
            <a:off x="12556147" y="3600450"/>
            <a:ext cx="4155358" cy="4155358"/>
            <a:chOff x="0" y="0"/>
            <a:chExt cx="1094415" cy="1094415"/>
          </a:xfrm>
        </p:grpSpPr>
        <p:sp>
          <p:nvSpPr>
            <p:cNvPr id="31" name="Freeform 31"/>
            <p:cNvSpPr/>
            <p:nvPr/>
          </p:nvSpPr>
          <p:spPr>
            <a:xfrm>
              <a:off x="0" y="0"/>
              <a:ext cx="1094415" cy="1094415"/>
            </a:xfrm>
            <a:custGeom>
              <a:avLst/>
              <a:gdLst/>
              <a:ahLst/>
              <a:cxnLst/>
              <a:rect l="l" t="t" r="r" b="b"/>
              <a:pathLst>
                <a:path w="1094415" h="1094415">
                  <a:moveTo>
                    <a:pt x="0" y="0"/>
                  </a:moveTo>
                  <a:lnTo>
                    <a:pt x="1094415" y="0"/>
                  </a:lnTo>
                  <a:lnTo>
                    <a:pt x="1094415" y="1094415"/>
                  </a:lnTo>
                  <a:lnTo>
                    <a:pt x="0" y="1094415"/>
                  </a:lnTo>
                  <a:close/>
                </a:path>
              </a:pathLst>
            </a:custGeom>
            <a:solidFill>
              <a:srgbClr val="FFFFFF"/>
            </a:solidFill>
            <a:ln w="19050" cap="sq">
              <a:solidFill>
                <a:srgbClr val="000000"/>
              </a:solidFill>
              <a:prstDash val="solid"/>
              <a:miter/>
            </a:ln>
          </p:spPr>
        </p:sp>
        <p:sp>
          <p:nvSpPr>
            <p:cNvPr id="32" name="TextBox 32"/>
            <p:cNvSpPr txBox="1"/>
            <p:nvPr/>
          </p:nvSpPr>
          <p:spPr>
            <a:xfrm>
              <a:off x="0" y="0"/>
              <a:ext cx="1094415" cy="1094415"/>
            </a:xfrm>
            <a:prstGeom prst="rect">
              <a:avLst/>
            </a:prstGeom>
          </p:spPr>
          <p:txBody>
            <a:bodyPr lIns="50800" tIns="50800" rIns="50800" bIns="50800" rtlCol="0" anchor="ctr"/>
            <a:lstStyle/>
            <a:p>
              <a:pPr algn="ctr">
                <a:lnSpc>
                  <a:spcPts val="2924"/>
                </a:lnSpc>
              </a:pPr>
              <a:endParaRPr/>
            </a:p>
          </p:txBody>
        </p:sp>
      </p:grpSp>
      <p:grpSp>
        <p:nvGrpSpPr>
          <p:cNvPr id="33" name="Group 33"/>
          <p:cNvGrpSpPr/>
          <p:nvPr/>
        </p:nvGrpSpPr>
        <p:grpSpPr>
          <a:xfrm>
            <a:off x="12773727" y="3326984"/>
            <a:ext cx="546933" cy="546933"/>
            <a:chOff x="0" y="0"/>
            <a:chExt cx="144048" cy="144048"/>
          </a:xfrm>
        </p:grpSpPr>
        <p:sp>
          <p:nvSpPr>
            <p:cNvPr id="34" name="Freeform 34"/>
            <p:cNvSpPr/>
            <p:nvPr/>
          </p:nvSpPr>
          <p:spPr>
            <a:xfrm>
              <a:off x="0" y="0"/>
              <a:ext cx="144048" cy="144048"/>
            </a:xfrm>
            <a:custGeom>
              <a:avLst/>
              <a:gdLst/>
              <a:ahLst/>
              <a:cxnLst/>
              <a:rect l="l" t="t" r="r" b="b"/>
              <a:pathLst>
                <a:path w="144048" h="144048">
                  <a:moveTo>
                    <a:pt x="0" y="0"/>
                  </a:moveTo>
                  <a:lnTo>
                    <a:pt x="144048" y="0"/>
                  </a:lnTo>
                  <a:lnTo>
                    <a:pt x="144048" y="144048"/>
                  </a:lnTo>
                  <a:lnTo>
                    <a:pt x="0" y="144048"/>
                  </a:lnTo>
                  <a:close/>
                </a:path>
              </a:pathLst>
            </a:custGeom>
            <a:solidFill>
              <a:srgbClr val="2012BF"/>
            </a:solidFill>
            <a:ln cap="sq">
              <a:noFill/>
              <a:prstDash val="solid"/>
              <a:miter/>
            </a:ln>
          </p:spPr>
        </p:sp>
        <p:sp>
          <p:nvSpPr>
            <p:cNvPr id="35" name="TextBox 35"/>
            <p:cNvSpPr txBox="1"/>
            <p:nvPr/>
          </p:nvSpPr>
          <p:spPr>
            <a:xfrm>
              <a:off x="0" y="0"/>
              <a:ext cx="144048" cy="144048"/>
            </a:xfrm>
            <a:prstGeom prst="rect">
              <a:avLst/>
            </a:prstGeom>
          </p:spPr>
          <p:txBody>
            <a:bodyPr lIns="50800" tIns="50800" rIns="50800" bIns="50800" rtlCol="0" anchor="ctr"/>
            <a:lstStyle/>
            <a:p>
              <a:pPr algn="ctr">
                <a:lnSpc>
                  <a:spcPts val="2924"/>
                </a:lnSpc>
              </a:pPr>
              <a:endParaRPr/>
            </a:p>
          </p:txBody>
        </p:sp>
      </p:grpSp>
      <p:sp>
        <p:nvSpPr>
          <p:cNvPr id="36" name="TextBox 36"/>
          <p:cNvSpPr txBox="1"/>
          <p:nvPr/>
        </p:nvSpPr>
        <p:spPr>
          <a:xfrm>
            <a:off x="7231859" y="4831280"/>
            <a:ext cx="3671882" cy="2609850"/>
          </a:xfrm>
          <a:prstGeom prst="rect">
            <a:avLst/>
          </a:prstGeom>
        </p:spPr>
        <p:txBody>
          <a:bodyPr lIns="0" tIns="0" rIns="0" bIns="0" rtlCol="0" anchor="t">
            <a:spAutoFit/>
          </a:bodyPr>
          <a:lstStyle/>
          <a:p>
            <a:pPr algn="ctr">
              <a:lnSpc>
                <a:spcPts val="4199"/>
              </a:lnSpc>
            </a:pPr>
            <a:r>
              <a:rPr lang="en-US" sz="2999">
                <a:solidFill>
                  <a:srgbClr val="000000"/>
                </a:solidFill>
                <a:latin typeface="Roboto"/>
                <a:ea typeface="Roboto"/>
                <a:cs typeface="Roboto"/>
                <a:sym typeface="Roboto"/>
              </a:rPr>
              <a:t>Build trust with institutions, businesses, and media.</a:t>
            </a:r>
          </a:p>
          <a:p>
            <a:pPr marL="0" lvl="0" indent="0" algn="ctr">
              <a:lnSpc>
                <a:spcPts val="4199"/>
              </a:lnSpc>
            </a:pPr>
            <a:endParaRPr lang="en-US" sz="2999">
              <a:solidFill>
                <a:srgbClr val="000000"/>
              </a:solidFill>
              <a:latin typeface="Roboto"/>
              <a:ea typeface="Roboto"/>
              <a:cs typeface="Roboto"/>
              <a:sym typeface="Roboto"/>
            </a:endParaRPr>
          </a:p>
        </p:txBody>
      </p:sp>
      <p:sp>
        <p:nvSpPr>
          <p:cNvPr id="37" name="TextBox 37"/>
          <p:cNvSpPr txBox="1"/>
          <p:nvPr/>
        </p:nvSpPr>
        <p:spPr>
          <a:xfrm>
            <a:off x="12859979" y="4958674"/>
            <a:ext cx="3671882" cy="1562100"/>
          </a:xfrm>
          <a:prstGeom prst="rect">
            <a:avLst/>
          </a:prstGeom>
        </p:spPr>
        <p:txBody>
          <a:bodyPr lIns="0" tIns="0" rIns="0" bIns="0" rtlCol="0" anchor="t">
            <a:spAutoFit/>
          </a:bodyPr>
          <a:lstStyle/>
          <a:p>
            <a:pPr marL="0" lvl="0" indent="0" algn="ctr">
              <a:lnSpc>
                <a:spcPts val="4199"/>
              </a:lnSpc>
            </a:pPr>
            <a:r>
              <a:rPr lang="en-US" sz="2999">
                <a:solidFill>
                  <a:srgbClr val="000000"/>
                </a:solidFill>
                <a:latin typeface="Roboto"/>
                <a:ea typeface="Roboto"/>
                <a:cs typeface="Roboto"/>
                <a:sym typeface="Roboto"/>
              </a:rPr>
              <a:t>Early promotion of the PM and project is essential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469463" y="962025"/>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BUILDING NETWORKS &amp; CONTACTS</a:t>
            </a:r>
          </a:p>
        </p:txBody>
      </p:sp>
      <p:sp>
        <p:nvSpPr>
          <p:cNvPr id="7" name="TextBox 7"/>
          <p:cNvSpPr txBox="1"/>
          <p:nvPr/>
        </p:nvSpPr>
        <p:spPr>
          <a:xfrm>
            <a:off x="2539718" y="8591606"/>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sp>
        <p:nvSpPr>
          <p:cNvPr id="8" name="TextBox 8"/>
          <p:cNvSpPr txBox="1"/>
          <p:nvPr/>
        </p:nvSpPr>
        <p:spPr>
          <a:xfrm>
            <a:off x="1469463" y="2794445"/>
            <a:ext cx="14810430" cy="6253097"/>
          </a:xfrm>
          <a:prstGeom prst="rect">
            <a:avLst/>
          </a:prstGeom>
        </p:spPr>
        <p:txBody>
          <a:bodyPr lIns="0" tIns="0" rIns="0" bIns="0" rtlCol="0" anchor="t">
            <a:spAutoFit/>
          </a:bodyPr>
          <a:lstStyle/>
          <a:p>
            <a:pPr algn="just">
              <a:lnSpc>
                <a:spcPts val="4991"/>
              </a:lnSpc>
            </a:pPr>
            <a:r>
              <a:rPr lang="en-US" sz="3565" b="1">
                <a:solidFill>
                  <a:srgbClr val="000000"/>
                </a:solidFill>
                <a:latin typeface="Canva Sans Bold"/>
                <a:ea typeface="Canva Sans Bold"/>
                <a:cs typeface="Canva Sans Bold"/>
                <a:sym typeface="Canva Sans Bold"/>
              </a:rPr>
              <a:t>Projects do not operate in isolation. Building networks is one of the most important tasks of a Project Manager. Before starting, the PM must study the history of similar projects, understand what worked and what failed, and learn about the social groups involved. Once the project begins, the PM must position themselves among institutions, businesses, professionals, communities, and the media. Promotion of both the Project Manager and the project itself is essential. Without networks and strong contacts, projects risk failure. With them, projects gain legitimacy and strength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469463" y="962025"/>
            <a:ext cx="14404540"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ESTABLISHING THE PROJECT SUPPORTER (PS)</a:t>
            </a:r>
          </a:p>
        </p:txBody>
      </p:sp>
      <p:sp>
        <p:nvSpPr>
          <p:cNvPr id="7" name="TextBox 7"/>
          <p:cNvSpPr txBox="1"/>
          <p:nvPr/>
        </p:nvSpPr>
        <p:spPr>
          <a:xfrm>
            <a:off x="5614870" y="7558418"/>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grpSp>
        <p:nvGrpSpPr>
          <p:cNvPr id="8" name="Group 8"/>
          <p:cNvGrpSpPr/>
          <p:nvPr/>
        </p:nvGrpSpPr>
        <p:grpSpPr>
          <a:xfrm>
            <a:off x="1469463" y="4121149"/>
            <a:ext cx="434982" cy="434982"/>
            <a:chOff x="0" y="0"/>
            <a:chExt cx="114563" cy="114563"/>
          </a:xfrm>
        </p:grpSpPr>
        <p:sp>
          <p:nvSpPr>
            <p:cNvPr id="9" name="Freeform 9"/>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0" name="TextBox 10"/>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1" name="TextBox 11"/>
          <p:cNvSpPr txBox="1"/>
          <p:nvPr/>
        </p:nvSpPr>
        <p:spPr>
          <a:xfrm>
            <a:off x="2177040" y="4071940"/>
            <a:ext cx="10145366"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SELECTING THE RIGHT PS IS CRITICAL FOR SUCCESS</a:t>
            </a:r>
          </a:p>
        </p:txBody>
      </p:sp>
      <p:grpSp>
        <p:nvGrpSpPr>
          <p:cNvPr id="12" name="Group 12"/>
          <p:cNvGrpSpPr/>
          <p:nvPr/>
        </p:nvGrpSpPr>
        <p:grpSpPr>
          <a:xfrm>
            <a:off x="1469463" y="5512777"/>
            <a:ext cx="434982" cy="434982"/>
            <a:chOff x="0" y="0"/>
            <a:chExt cx="114563" cy="114563"/>
          </a:xfrm>
        </p:grpSpPr>
        <p:sp>
          <p:nvSpPr>
            <p:cNvPr id="13" name="Freeform 13"/>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4" name="TextBox 14"/>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5" name="TextBox 15"/>
          <p:cNvSpPr txBox="1"/>
          <p:nvPr/>
        </p:nvSpPr>
        <p:spPr>
          <a:xfrm>
            <a:off x="2177040" y="5463568"/>
            <a:ext cx="10637321" cy="9144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RELATIONSHIPS GROW THROUGH STAGES: CONTACT, TRUST, COOPERATION</a:t>
            </a:r>
          </a:p>
        </p:txBody>
      </p:sp>
      <p:grpSp>
        <p:nvGrpSpPr>
          <p:cNvPr id="16" name="Group 16"/>
          <p:cNvGrpSpPr/>
          <p:nvPr/>
        </p:nvGrpSpPr>
        <p:grpSpPr>
          <a:xfrm>
            <a:off x="1469463" y="7322527"/>
            <a:ext cx="434982" cy="434982"/>
            <a:chOff x="0" y="0"/>
            <a:chExt cx="114563" cy="114563"/>
          </a:xfrm>
        </p:grpSpPr>
        <p:sp>
          <p:nvSpPr>
            <p:cNvPr id="17" name="Freeform 17"/>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8" name="TextBox 18"/>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9" name="TextBox 19"/>
          <p:cNvSpPr txBox="1"/>
          <p:nvPr/>
        </p:nvSpPr>
        <p:spPr>
          <a:xfrm>
            <a:off x="2177040" y="7273318"/>
            <a:ext cx="10145366"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PS ACTS AS A BRIDGE BETWEEN PM AND SOCIETY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469463" y="962025"/>
            <a:ext cx="14404540"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ESTABLISHING THE PROJECT SUPPORTER (PS)</a:t>
            </a:r>
          </a:p>
        </p:txBody>
      </p:sp>
      <p:sp>
        <p:nvSpPr>
          <p:cNvPr id="7" name="TextBox 7"/>
          <p:cNvSpPr txBox="1"/>
          <p:nvPr/>
        </p:nvSpPr>
        <p:spPr>
          <a:xfrm>
            <a:off x="1526247" y="3503687"/>
            <a:ext cx="15235507" cy="5234810"/>
          </a:xfrm>
          <a:prstGeom prst="rect">
            <a:avLst/>
          </a:prstGeom>
        </p:spPr>
        <p:txBody>
          <a:bodyPr lIns="0" tIns="0" rIns="0" bIns="0" rtlCol="0" anchor="t">
            <a:spAutoFit/>
          </a:bodyPr>
          <a:lstStyle/>
          <a:p>
            <a:pPr algn="just">
              <a:lnSpc>
                <a:spcPts val="4640"/>
              </a:lnSpc>
              <a:spcBef>
                <a:spcPct val="0"/>
              </a:spcBef>
            </a:pPr>
            <a:r>
              <a:rPr lang="en-US" sz="3965">
                <a:solidFill>
                  <a:srgbClr val="2012BF"/>
                </a:solidFill>
                <a:latin typeface="Canva Sans"/>
                <a:ea typeface="Canva Sans"/>
                <a:cs typeface="Canva Sans"/>
                <a:sym typeface="Canva Sans"/>
              </a:rPr>
              <a:t>Phase (1) is the confidential phase of building the contact tree: professional contacts (institutions, companies) and personal contacts (family, local dignitaries). The PM should compile CVs and short psychological portraits of PS candidates. The materials emphasise selecting one primary PS to avoid divided loyalties, while keeping backups in reserve. The PS should be evaluated for competence, reputation and ability to open doors. A successful PS reduces friction in permits, hiring and community acceptance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469463" y="962025"/>
            <a:ext cx="14404540"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ESTABLISHING THE PROJECT SUPPORTER (PS)</a:t>
            </a:r>
          </a:p>
        </p:txBody>
      </p:sp>
      <p:sp>
        <p:nvSpPr>
          <p:cNvPr id="7" name="TextBox 7"/>
          <p:cNvSpPr txBox="1"/>
          <p:nvPr/>
        </p:nvSpPr>
        <p:spPr>
          <a:xfrm>
            <a:off x="1526247" y="3503687"/>
            <a:ext cx="15235507" cy="6397813"/>
          </a:xfrm>
          <a:prstGeom prst="rect">
            <a:avLst/>
          </a:prstGeom>
        </p:spPr>
        <p:txBody>
          <a:bodyPr lIns="0" tIns="0" rIns="0" bIns="0" rtlCol="0" anchor="t">
            <a:spAutoFit/>
          </a:bodyPr>
          <a:lstStyle/>
          <a:p>
            <a:pPr algn="just">
              <a:lnSpc>
                <a:spcPts val="4523"/>
              </a:lnSpc>
              <a:spcBef>
                <a:spcPct val="0"/>
              </a:spcBef>
            </a:pPr>
            <a:r>
              <a:rPr lang="en-US" sz="3865">
                <a:solidFill>
                  <a:srgbClr val="2012BF"/>
                </a:solidFill>
                <a:latin typeface="Canva Sans"/>
                <a:ea typeface="Canva Sans"/>
                <a:cs typeface="Canva Sans"/>
                <a:sym typeface="Canva Sans"/>
              </a:rPr>
              <a:t>A Project Supporter is more than just an assistant; it is a trusted ally. The PS helps the PM at every stage, from preparation to finalisation. A good PS must be competent, but also trustworthy. In many development projects, NGOs or community leaders serve as Project Supporters, because they bring local knowledge and credibility. Choosing a PS is one of the most strategic decisions a Project Manager can make. The documents advise us: choose one main PS carefully, and prepare alternatives if necessary. The relationship with the PS is built on trust, professionalism, and mutual respect.</a:t>
            </a:r>
          </a:p>
          <a:p>
            <a:pPr algn="just">
              <a:lnSpc>
                <a:spcPts val="5342"/>
              </a:lnSpc>
              <a:spcBef>
                <a:spcPct val="0"/>
              </a:spcBef>
            </a:pPr>
            <a:endParaRPr lang="en-US" sz="3865">
              <a:solidFill>
                <a:srgbClr val="2012BF"/>
              </a:solidFill>
              <a:latin typeface="Canva Sans"/>
              <a:ea typeface="Canva Sans"/>
              <a:cs typeface="Canva Sans"/>
              <a:sym typeface="Canva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607655"/>
            <a:ext cx="193520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CRITICAL MOMENTS IN PROJECT MANAGEMENT</a:t>
            </a:r>
          </a:p>
        </p:txBody>
      </p:sp>
      <p:sp>
        <p:nvSpPr>
          <p:cNvPr id="7" name="TextBox 7"/>
          <p:cNvSpPr txBox="1"/>
          <p:nvPr/>
        </p:nvSpPr>
        <p:spPr>
          <a:xfrm>
            <a:off x="5404234" y="7594011"/>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grpSp>
        <p:nvGrpSpPr>
          <p:cNvPr id="8" name="Group 8"/>
          <p:cNvGrpSpPr/>
          <p:nvPr/>
        </p:nvGrpSpPr>
        <p:grpSpPr>
          <a:xfrm>
            <a:off x="1258827" y="4156743"/>
            <a:ext cx="434982" cy="434982"/>
            <a:chOff x="0" y="0"/>
            <a:chExt cx="114563" cy="114563"/>
          </a:xfrm>
        </p:grpSpPr>
        <p:sp>
          <p:nvSpPr>
            <p:cNvPr id="9" name="Freeform 9"/>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0" name="TextBox 10"/>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1" name="TextBox 11"/>
          <p:cNvSpPr txBox="1"/>
          <p:nvPr/>
        </p:nvSpPr>
        <p:spPr>
          <a:xfrm>
            <a:off x="1966404" y="4107533"/>
            <a:ext cx="14012005"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CHALLENGES INCLUDE LACK OF RESOURCES, CONFLICTS, AND STRESS</a:t>
            </a:r>
          </a:p>
        </p:txBody>
      </p:sp>
      <p:grpSp>
        <p:nvGrpSpPr>
          <p:cNvPr id="12" name="Group 12"/>
          <p:cNvGrpSpPr/>
          <p:nvPr/>
        </p:nvGrpSpPr>
        <p:grpSpPr>
          <a:xfrm>
            <a:off x="1258827" y="5548370"/>
            <a:ext cx="434982" cy="434982"/>
            <a:chOff x="0" y="0"/>
            <a:chExt cx="114563" cy="114563"/>
          </a:xfrm>
        </p:grpSpPr>
        <p:sp>
          <p:nvSpPr>
            <p:cNvPr id="13" name="Freeform 13"/>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4" name="TextBox 14"/>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5" name="TextBox 15"/>
          <p:cNvSpPr txBox="1"/>
          <p:nvPr/>
        </p:nvSpPr>
        <p:spPr>
          <a:xfrm>
            <a:off x="1966404" y="5499161"/>
            <a:ext cx="10637321"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THE PM MUST STAY RESILIENT AND ADAPTABLE</a:t>
            </a:r>
          </a:p>
        </p:txBody>
      </p:sp>
      <p:grpSp>
        <p:nvGrpSpPr>
          <p:cNvPr id="16" name="Group 16"/>
          <p:cNvGrpSpPr/>
          <p:nvPr/>
        </p:nvGrpSpPr>
        <p:grpSpPr>
          <a:xfrm>
            <a:off x="1258827" y="7358120"/>
            <a:ext cx="434982" cy="434982"/>
            <a:chOff x="0" y="0"/>
            <a:chExt cx="114563" cy="114563"/>
          </a:xfrm>
        </p:grpSpPr>
        <p:sp>
          <p:nvSpPr>
            <p:cNvPr id="17" name="Freeform 17"/>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8" name="TextBox 18"/>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9" name="TextBox 19"/>
          <p:cNvSpPr txBox="1"/>
          <p:nvPr/>
        </p:nvSpPr>
        <p:spPr>
          <a:xfrm>
            <a:off x="1966404" y="7308911"/>
            <a:ext cx="10145366"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STRONG LEADERSHIP IS CRUCIAL DURING CRISES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607655"/>
            <a:ext cx="193520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CRITICAL MOMENTS IN PROJECT MANAGEMENT</a:t>
            </a:r>
          </a:p>
        </p:txBody>
      </p:sp>
      <p:sp>
        <p:nvSpPr>
          <p:cNvPr id="7" name="TextBox 7"/>
          <p:cNvSpPr txBox="1"/>
          <p:nvPr/>
        </p:nvSpPr>
        <p:spPr>
          <a:xfrm>
            <a:off x="1258827" y="3297809"/>
            <a:ext cx="15292896" cy="5673090"/>
          </a:xfrm>
          <a:prstGeom prst="rect">
            <a:avLst/>
          </a:prstGeom>
        </p:spPr>
        <p:txBody>
          <a:bodyPr lIns="0" tIns="0" rIns="0" bIns="0" rtlCol="0" anchor="t">
            <a:spAutoFit/>
          </a:bodyPr>
          <a:lstStyle/>
          <a:p>
            <a:pPr algn="just">
              <a:lnSpc>
                <a:spcPts val="4980"/>
              </a:lnSpc>
            </a:pPr>
            <a:r>
              <a:rPr lang="en-US" sz="3000">
                <a:solidFill>
                  <a:srgbClr val="2012BF"/>
                </a:solidFill>
                <a:latin typeface="Futura"/>
                <a:ea typeface="Futura"/>
                <a:cs typeface="Futura"/>
                <a:sym typeface="Futura"/>
              </a:rPr>
              <a:t>CRITICAL MOMENTS ARISE FROM RESOURCE SHORTFALLS, TEAM CONFLICTS, OR PSYCHOLOGICAL PRESSURE. THE PM MUST MAINTAIN COMMUNICATION CHANNELS, SUPPLY CLEAR DIRECTIVES AND INTERVENE EARLY IN CONFLICTS. THE DOCUMENTS ADVISE STRUCTURED INTERNAL MEETINGS, MODERATED ESCALATION PROCEDURES AND PSYCHOLOGICAL SUPPORT WHERE NECESSARY. REGULAR ROTATION PREVENTS FATIGUE; TRANSPARENT CRITERIA FOR REWARDS AND SANCTIONS MAINTAIN FAIRNESS AND DISCIPLINE. THE PM’S STEADINESS IS OFTEN THE SINGLE MOST IMPORTANT FACTOR IN NAVIGATING CRISES.</a:t>
            </a:r>
          </a:p>
          <a:p>
            <a:pPr algn="just">
              <a:lnSpc>
                <a:spcPts val="4980"/>
              </a:lnSpc>
            </a:pPr>
            <a:endParaRPr lang="en-US" sz="3000">
              <a:solidFill>
                <a:srgbClr val="2012BF"/>
              </a:solidFill>
              <a:latin typeface="Futura"/>
              <a:ea typeface="Futura"/>
              <a:cs typeface="Futura"/>
              <a:sym typeface="Futur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607655"/>
            <a:ext cx="193520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CRITICAL MOMENTS IN PROJECT MANAGEMENT</a:t>
            </a:r>
          </a:p>
        </p:txBody>
      </p:sp>
      <p:sp>
        <p:nvSpPr>
          <p:cNvPr id="7" name="TextBox 7"/>
          <p:cNvSpPr txBox="1"/>
          <p:nvPr/>
        </p:nvSpPr>
        <p:spPr>
          <a:xfrm>
            <a:off x="1258827" y="3278759"/>
            <a:ext cx="15292896" cy="5922645"/>
          </a:xfrm>
          <a:prstGeom prst="rect">
            <a:avLst/>
          </a:prstGeom>
        </p:spPr>
        <p:txBody>
          <a:bodyPr lIns="0" tIns="0" rIns="0" bIns="0" rtlCol="0" anchor="t">
            <a:spAutoFit/>
          </a:bodyPr>
          <a:lstStyle/>
          <a:p>
            <a:pPr algn="just">
              <a:lnSpc>
                <a:spcPts val="5190"/>
              </a:lnSpc>
            </a:pPr>
            <a:r>
              <a:rPr lang="en-US" sz="3000">
                <a:solidFill>
                  <a:srgbClr val="2012BF"/>
                </a:solidFill>
                <a:latin typeface="Futura"/>
                <a:ea typeface="Futura"/>
                <a:cs typeface="Futura"/>
                <a:sym typeface="Futura"/>
              </a:rPr>
              <a:t>EVERY PROJECT FACES CRITICAL MOMENTS. THESE INCLUDE SHORTAGES OF RESOURCES, CONFLICTS WITHIN THE TEAM, OR PSYCHOLOGICAL STRESS ON THE PROJECT MANAGER. COMMUNICATION PROBLEMS CAN ALSO BE CRITICAL. RESEARCH SHOWS THAT MORE THAN 11% OF INVESTMENT WORLDWIDE IS WASTED BECAUSE OF POOR PROJECT PERFORMANCE. A GOOD PM MUST ANTICIPATE THESE MOMENTS, PREPARE SOLUTIONS, AND REMAIN CALM UNDER PRESSURE. THE ABILITY TO MANAGE CRISIS SITUATIONS IS ONE OF THE HALLMARKS OF A STRONG PROJECT MANAGER</a:t>
            </a:r>
          </a:p>
          <a:p>
            <a:pPr algn="just">
              <a:lnSpc>
                <a:spcPts val="5190"/>
              </a:lnSpc>
            </a:pPr>
            <a:endParaRPr lang="en-US" sz="3000">
              <a:solidFill>
                <a:srgbClr val="2012BF"/>
              </a:solidFill>
              <a:latin typeface="Futura"/>
              <a:ea typeface="Futura"/>
              <a:cs typeface="Futura"/>
              <a:sym typeface="Futur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839052"/>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SUSPENSION OR TERMINATION</a:t>
            </a:r>
          </a:p>
        </p:txBody>
      </p:sp>
      <p:sp>
        <p:nvSpPr>
          <p:cNvPr id="7" name="TextBox 7"/>
          <p:cNvSpPr txBox="1"/>
          <p:nvPr/>
        </p:nvSpPr>
        <p:spPr>
          <a:xfrm>
            <a:off x="6685125" y="6775362"/>
            <a:ext cx="1789019" cy="400700"/>
          </a:xfrm>
          <a:prstGeom prst="rect">
            <a:avLst/>
          </a:prstGeom>
        </p:spPr>
        <p:txBody>
          <a:bodyPr lIns="0" tIns="0" rIns="0" bIns="0" rtlCol="0" anchor="t">
            <a:spAutoFit/>
          </a:bodyPr>
          <a:lstStyle/>
          <a:p>
            <a:pPr algn="ctr">
              <a:lnSpc>
                <a:spcPts val="3223"/>
              </a:lnSpc>
            </a:pPr>
            <a:r>
              <a:rPr lang="en-US" sz="2302">
                <a:solidFill>
                  <a:srgbClr val="FFFFFF"/>
                </a:solidFill>
                <a:latin typeface="Roboto"/>
                <a:ea typeface="Roboto"/>
                <a:cs typeface="Roboto"/>
                <a:sym typeface="Roboto"/>
              </a:rPr>
              <a:t> 01</a:t>
            </a:r>
          </a:p>
        </p:txBody>
      </p:sp>
      <p:grpSp>
        <p:nvGrpSpPr>
          <p:cNvPr id="8" name="Group 8"/>
          <p:cNvGrpSpPr/>
          <p:nvPr/>
        </p:nvGrpSpPr>
        <p:grpSpPr>
          <a:xfrm>
            <a:off x="2539718" y="3338093"/>
            <a:ext cx="434982" cy="434982"/>
            <a:chOff x="0" y="0"/>
            <a:chExt cx="114563" cy="114563"/>
          </a:xfrm>
        </p:grpSpPr>
        <p:sp>
          <p:nvSpPr>
            <p:cNvPr id="9" name="Freeform 9"/>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0" name="TextBox 10"/>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1" name="TextBox 11"/>
          <p:cNvSpPr txBox="1"/>
          <p:nvPr/>
        </p:nvSpPr>
        <p:spPr>
          <a:xfrm>
            <a:off x="3247295" y="3288884"/>
            <a:ext cx="14012005"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PROJECTS MAY STOP DUE TO INVESTOR OR PM WITHDRAWAL</a:t>
            </a:r>
          </a:p>
        </p:txBody>
      </p:sp>
      <p:grpSp>
        <p:nvGrpSpPr>
          <p:cNvPr id="12" name="Group 12"/>
          <p:cNvGrpSpPr/>
          <p:nvPr/>
        </p:nvGrpSpPr>
        <p:grpSpPr>
          <a:xfrm>
            <a:off x="2539718" y="4729720"/>
            <a:ext cx="434982" cy="434982"/>
            <a:chOff x="0" y="0"/>
            <a:chExt cx="114563" cy="114563"/>
          </a:xfrm>
        </p:grpSpPr>
        <p:sp>
          <p:nvSpPr>
            <p:cNvPr id="13" name="Freeform 13"/>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4" name="TextBox 14"/>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5" name="TextBox 15"/>
          <p:cNvSpPr txBox="1"/>
          <p:nvPr/>
        </p:nvSpPr>
        <p:spPr>
          <a:xfrm>
            <a:off x="3247295" y="4680511"/>
            <a:ext cx="10637321" cy="9144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FORCE MAJEURE (NATURAL OR POLITICAL CRISES) MAY ALSO END PROJECTS</a:t>
            </a:r>
          </a:p>
        </p:txBody>
      </p:sp>
      <p:grpSp>
        <p:nvGrpSpPr>
          <p:cNvPr id="16" name="Group 16"/>
          <p:cNvGrpSpPr/>
          <p:nvPr/>
        </p:nvGrpSpPr>
        <p:grpSpPr>
          <a:xfrm>
            <a:off x="2539718" y="6539470"/>
            <a:ext cx="434982" cy="434982"/>
            <a:chOff x="0" y="0"/>
            <a:chExt cx="114563" cy="114563"/>
          </a:xfrm>
        </p:grpSpPr>
        <p:sp>
          <p:nvSpPr>
            <p:cNvPr id="17" name="Freeform 17"/>
            <p:cNvSpPr/>
            <p:nvPr/>
          </p:nvSpPr>
          <p:spPr>
            <a:xfrm>
              <a:off x="0" y="0"/>
              <a:ext cx="114563" cy="114563"/>
            </a:xfrm>
            <a:custGeom>
              <a:avLst/>
              <a:gdLst/>
              <a:ahLst/>
              <a:cxnLst/>
              <a:rect l="l" t="t" r="r" b="b"/>
              <a:pathLst>
                <a:path w="114563" h="114563">
                  <a:moveTo>
                    <a:pt x="0" y="0"/>
                  </a:moveTo>
                  <a:lnTo>
                    <a:pt x="114563" y="0"/>
                  </a:lnTo>
                  <a:lnTo>
                    <a:pt x="114563" y="114563"/>
                  </a:lnTo>
                  <a:lnTo>
                    <a:pt x="0" y="114563"/>
                  </a:lnTo>
                  <a:close/>
                </a:path>
              </a:pathLst>
            </a:custGeom>
            <a:solidFill>
              <a:srgbClr val="2012BF"/>
            </a:solidFill>
          </p:spPr>
        </p:sp>
        <p:sp>
          <p:nvSpPr>
            <p:cNvPr id="18" name="TextBox 18"/>
            <p:cNvSpPr txBox="1"/>
            <p:nvPr/>
          </p:nvSpPr>
          <p:spPr>
            <a:xfrm>
              <a:off x="0" y="0"/>
              <a:ext cx="114563" cy="114563"/>
            </a:xfrm>
            <a:prstGeom prst="rect">
              <a:avLst/>
            </a:prstGeom>
          </p:spPr>
          <p:txBody>
            <a:bodyPr lIns="50800" tIns="50800" rIns="50800" bIns="50800" rtlCol="0" anchor="ctr"/>
            <a:lstStyle/>
            <a:p>
              <a:pPr algn="ctr">
                <a:lnSpc>
                  <a:spcPts val="2924"/>
                </a:lnSpc>
              </a:pPr>
              <a:endParaRPr/>
            </a:p>
          </p:txBody>
        </p:sp>
      </p:grpSp>
      <p:sp>
        <p:nvSpPr>
          <p:cNvPr id="19" name="TextBox 19"/>
          <p:cNvSpPr txBox="1"/>
          <p:nvPr/>
        </p:nvSpPr>
        <p:spPr>
          <a:xfrm>
            <a:off x="3247295" y="6490261"/>
            <a:ext cx="10145366" cy="495300"/>
          </a:xfrm>
          <a:prstGeom prst="rect">
            <a:avLst/>
          </a:prstGeom>
        </p:spPr>
        <p:txBody>
          <a:bodyPr lIns="0" tIns="0" rIns="0" bIns="0" rtlCol="0" anchor="t">
            <a:spAutoFit/>
          </a:bodyPr>
          <a:lstStyle/>
          <a:p>
            <a:pPr algn="l">
              <a:lnSpc>
                <a:spcPts val="3300"/>
              </a:lnSpc>
            </a:pPr>
            <a:r>
              <a:rPr lang="en-US" sz="3000" b="1">
                <a:solidFill>
                  <a:srgbClr val="2012BF"/>
                </a:solidFill>
                <a:latin typeface="Futura Ultra-Bold"/>
                <a:ea typeface="Futura Ultra-Bold"/>
                <a:cs typeface="Futura Ultra-Bold"/>
                <a:sym typeface="Futura Ultra-Bold"/>
              </a:rPr>
              <a:t>SOMETIMES CREATIVE SOLUTIONS CAN SAVE THEM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858102"/>
            <a:ext cx="14261480" cy="1386641"/>
          </a:xfrm>
          <a:prstGeom prst="rect">
            <a:avLst/>
          </a:prstGeom>
        </p:spPr>
        <p:txBody>
          <a:bodyPr lIns="0" tIns="0" rIns="0" bIns="0" rtlCol="0" anchor="t">
            <a:spAutoFit/>
          </a:bodyPr>
          <a:lstStyle/>
          <a:p>
            <a:pPr algn="l">
              <a:lnSpc>
                <a:spcPts val="5052"/>
              </a:lnSpc>
            </a:pPr>
            <a:r>
              <a:rPr lang="en-US" sz="4592" b="1">
                <a:solidFill>
                  <a:srgbClr val="2012BF"/>
                </a:solidFill>
                <a:latin typeface="Futura Ultra-Bold"/>
                <a:ea typeface="Futura Ultra-Bold"/>
                <a:cs typeface="Futura Ultra-Bold"/>
                <a:sym typeface="Futura Ultra-Bold"/>
              </a:rPr>
              <a:t>SUSPENSION / TERMINATION / MERGING &amp; SEPARATION</a:t>
            </a:r>
          </a:p>
        </p:txBody>
      </p:sp>
      <p:sp>
        <p:nvSpPr>
          <p:cNvPr id="7" name="TextBox 7"/>
          <p:cNvSpPr txBox="1"/>
          <p:nvPr/>
        </p:nvSpPr>
        <p:spPr>
          <a:xfrm>
            <a:off x="1383565" y="3099396"/>
            <a:ext cx="15875735" cy="4901565"/>
          </a:xfrm>
          <a:prstGeom prst="rect">
            <a:avLst/>
          </a:prstGeom>
        </p:spPr>
        <p:txBody>
          <a:bodyPr lIns="0" tIns="0" rIns="0" bIns="0" rtlCol="0" anchor="t">
            <a:spAutoFit/>
          </a:bodyPr>
          <a:lstStyle/>
          <a:p>
            <a:pPr algn="just">
              <a:lnSpc>
                <a:spcPts val="4830"/>
              </a:lnSpc>
            </a:pPr>
            <a:r>
              <a:rPr lang="en-US" sz="3000">
                <a:solidFill>
                  <a:srgbClr val="2012BF"/>
                </a:solidFill>
                <a:latin typeface="Futura"/>
                <a:ea typeface="Futura"/>
                <a:cs typeface="Futura"/>
                <a:sym typeface="Futura"/>
              </a:rPr>
              <a:t>PROJECTS MAY BE SUSPENDED OR TERMINATED FOR INVESTOR WITHDRAWAL, PM RESIGNATION, OR FORCE MAJEURE. BEFORE TERMINATING, THE PM SHOULD EXPLORE SALVAGE OPTIONS (RESTRUCTURING, NEW INVESTORS, SCALING DOWN). THE DOCUMENTS ALSO COVER MERGING OR SPLITTING PROJECTS — STRATEGIC DECISIONS THAT AFFECT GOVERNANCE AND MAY REQUIRE A NEW BP. THE PM MUST EVALUATE ECONOMIC RETURNS, LEGAL OBLIGATIONS AND SOCIAL COSTS BEFORE RECOMMENDING SUSPENSION OR TERMINATION. TRANSPARENT COMMUNICATION WITH INVESTORS AND STAKEHOLDERS IS MANDATORY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858102"/>
            <a:ext cx="14261480" cy="1386641"/>
          </a:xfrm>
          <a:prstGeom prst="rect">
            <a:avLst/>
          </a:prstGeom>
        </p:spPr>
        <p:txBody>
          <a:bodyPr lIns="0" tIns="0" rIns="0" bIns="0" rtlCol="0" anchor="t">
            <a:spAutoFit/>
          </a:bodyPr>
          <a:lstStyle/>
          <a:p>
            <a:pPr algn="l">
              <a:lnSpc>
                <a:spcPts val="5052"/>
              </a:lnSpc>
            </a:pPr>
            <a:r>
              <a:rPr lang="en-US" sz="4592" b="1">
                <a:solidFill>
                  <a:srgbClr val="2012BF"/>
                </a:solidFill>
                <a:latin typeface="Futura Ultra-Bold"/>
                <a:ea typeface="Futura Ultra-Bold"/>
                <a:cs typeface="Futura Ultra-Bold"/>
                <a:sym typeface="Futura Ultra-Bold"/>
              </a:rPr>
              <a:t>SUSPENSION / TERMINATION / MERGING &amp; SEPARATION</a:t>
            </a:r>
          </a:p>
        </p:txBody>
      </p:sp>
      <p:sp>
        <p:nvSpPr>
          <p:cNvPr id="7" name="TextBox 7"/>
          <p:cNvSpPr txBox="1"/>
          <p:nvPr/>
        </p:nvSpPr>
        <p:spPr>
          <a:xfrm>
            <a:off x="1258827" y="2991818"/>
            <a:ext cx="17311604" cy="1301006"/>
          </a:xfrm>
          <a:prstGeom prst="rect">
            <a:avLst/>
          </a:prstGeom>
        </p:spPr>
        <p:txBody>
          <a:bodyPr lIns="0" tIns="0" rIns="0" bIns="0" rtlCol="0" anchor="t">
            <a:spAutoFit/>
          </a:bodyPr>
          <a:lstStyle/>
          <a:p>
            <a:pPr algn="just">
              <a:lnSpc>
                <a:spcPts val="5050"/>
              </a:lnSpc>
            </a:pPr>
            <a:r>
              <a:rPr lang="en-US" sz="3137" b="1">
                <a:solidFill>
                  <a:srgbClr val="2012BF"/>
                </a:solidFill>
                <a:latin typeface="Futura Bold"/>
                <a:ea typeface="Futura Bold"/>
                <a:cs typeface="Futura Bold"/>
                <a:sym typeface="Futura Bold"/>
              </a:rPr>
              <a:t>DECISION TREE: </a:t>
            </a:r>
          </a:p>
          <a:p>
            <a:pPr algn="l">
              <a:lnSpc>
                <a:spcPts val="5050"/>
              </a:lnSpc>
            </a:pPr>
            <a:r>
              <a:rPr lang="en-US" sz="3137" b="1">
                <a:solidFill>
                  <a:srgbClr val="2012BF"/>
                </a:solidFill>
                <a:latin typeface="Futura Bold"/>
                <a:ea typeface="Futura Bold"/>
                <a:cs typeface="Futura Bold"/>
                <a:sym typeface="Futura Bold"/>
              </a:rPr>
              <a:t>PROBLEM IDENTIFIED → ATTEMPT RESCUE (YES/NO) → RESTRUCTURE/MERGE → TERMINATE.</a:t>
            </a:r>
          </a:p>
        </p:txBody>
      </p:sp>
      <p:sp>
        <p:nvSpPr>
          <p:cNvPr id="8" name="TextBox 8"/>
          <p:cNvSpPr txBox="1"/>
          <p:nvPr/>
        </p:nvSpPr>
        <p:spPr>
          <a:xfrm>
            <a:off x="1258827" y="5076825"/>
            <a:ext cx="15828682" cy="4713184"/>
          </a:xfrm>
          <a:prstGeom prst="rect">
            <a:avLst/>
          </a:prstGeom>
        </p:spPr>
        <p:txBody>
          <a:bodyPr lIns="0" tIns="0" rIns="0" bIns="0" rtlCol="0" anchor="t">
            <a:spAutoFit/>
          </a:bodyPr>
          <a:lstStyle/>
          <a:p>
            <a:pPr algn="just">
              <a:lnSpc>
                <a:spcPts val="4702"/>
              </a:lnSpc>
            </a:pPr>
            <a:r>
              <a:rPr lang="en-US" sz="3407" b="1">
                <a:solidFill>
                  <a:srgbClr val="2012BF"/>
                </a:solidFill>
                <a:latin typeface="Canva Sans Bold"/>
                <a:ea typeface="Canva Sans Bold"/>
                <a:cs typeface="Canva Sans Bold"/>
                <a:sym typeface="Canva Sans Bold"/>
              </a:rPr>
              <a:t>Sometimes projects cannot continue. Suspension or termination may happen when investors withdraw, when the PM leaves, or in the case of force majeure, such as natural disasters or political crisis. For example, many infrastructure projects have been stopped because of disputes over land acquisition. But the Project Manager must remember: suspension is not always the end. Sometimes creative solutions allow the project to restart. The decision to stop or continue must always be made with responsibility and transparency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826457" y="1277282"/>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DISSEMINATION OF THE PROJECT</a:t>
            </a:r>
          </a:p>
        </p:txBody>
      </p:sp>
      <p:sp>
        <p:nvSpPr>
          <p:cNvPr id="7" name="TextBox 7"/>
          <p:cNvSpPr txBox="1"/>
          <p:nvPr/>
        </p:nvSpPr>
        <p:spPr>
          <a:xfrm>
            <a:off x="1258827" y="3508971"/>
            <a:ext cx="13038995" cy="2553435"/>
          </a:xfrm>
          <a:prstGeom prst="rect">
            <a:avLst/>
          </a:prstGeom>
        </p:spPr>
        <p:txBody>
          <a:bodyPr lIns="0" tIns="0" rIns="0" bIns="0" rtlCol="0" anchor="t">
            <a:spAutoFit/>
          </a:bodyPr>
          <a:lstStyle/>
          <a:p>
            <a:pPr marL="814890" lvl="1" indent="-407445" algn="ctr">
              <a:lnSpc>
                <a:spcPts val="6944"/>
              </a:lnSpc>
              <a:buFont typeface="Arial"/>
              <a:buChar char="•"/>
            </a:pPr>
            <a:r>
              <a:rPr lang="en-US" sz="3774" b="1">
                <a:solidFill>
                  <a:srgbClr val="2012BF"/>
                </a:solidFill>
                <a:latin typeface="Canva Sans Bold"/>
                <a:ea typeface="Canva Sans Bold"/>
                <a:cs typeface="Canva Sans Bold"/>
                <a:sym typeface="Canva Sans Bold"/>
              </a:rPr>
              <a:t>A successful project continues even without the PM.</a:t>
            </a:r>
          </a:p>
          <a:p>
            <a:pPr marL="814890" lvl="1" indent="-407445" algn="l">
              <a:lnSpc>
                <a:spcPts val="6944"/>
              </a:lnSpc>
              <a:buFont typeface="Arial"/>
              <a:buChar char="•"/>
            </a:pPr>
            <a:r>
              <a:rPr lang="en-US" sz="3774" b="1">
                <a:solidFill>
                  <a:srgbClr val="2012BF"/>
                </a:solidFill>
                <a:latin typeface="Canva Sans Bold"/>
                <a:ea typeface="Canva Sans Bold"/>
                <a:cs typeface="Canva Sans Bold"/>
                <a:sym typeface="Canva Sans Bold"/>
              </a:rPr>
              <a:t>It operates under market rules and principles.</a:t>
            </a:r>
          </a:p>
          <a:p>
            <a:pPr marL="814890" lvl="1" indent="-407445" algn="l">
              <a:lnSpc>
                <a:spcPts val="6944"/>
              </a:lnSpc>
              <a:buFont typeface="Arial"/>
              <a:buChar char="•"/>
            </a:pPr>
            <a:r>
              <a:rPr lang="en-US" sz="3774" b="1">
                <a:solidFill>
                  <a:srgbClr val="2012BF"/>
                </a:solidFill>
                <a:latin typeface="Canva Sans Bold"/>
                <a:ea typeface="Canva Sans Bold"/>
                <a:cs typeface="Canva Sans Bold"/>
                <a:sym typeface="Canva Sans Bold"/>
              </a:rPr>
              <a:t>The PM may return only in cases of crisis.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389894"/>
            <a:ext cx="193520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FINALISATION, DISSEMINATION &amp; CONTROL</a:t>
            </a:r>
          </a:p>
        </p:txBody>
      </p:sp>
      <p:sp>
        <p:nvSpPr>
          <p:cNvPr id="7" name="TextBox 7"/>
          <p:cNvSpPr txBox="1"/>
          <p:nvPr/>
        </p:nvSpPr>
        <p:spPr>
          <a:xfrm>
            <a:off x="1258827" y="2642027"/>
            <a:ext cx="15616950" cy="6616273"/>
          </a:xfrm>
          <a:prstGeom prst="rect">
            <a:avLst/>
          </a:prstGeom>
        </p:spPr>
        <p:txBody>
          <a:bodyPr lIns="0" tIns="0" rIns="0" bIns="0" rtlCol="0" anchor="t">
            <a:spAutoFit/>
          </a:bodyPr>
          <a:lstStyle/>
          <a:p>
            <a:pPr algn="just">
              <a:lnSpc>
                <a:spcPts val="5923"/>
              </a:lnSpc>
            </a:pPr>
            <a:r>
              <a:rPr lang="en-US" sz="3037" b="1">
                <a:solidFill>
                  <a:srgbClr val="000000"/>
                </a:solidFill>
                <a:latin typeface="Canva Sans Bold"/>
                <a:ea typeface="Canva Sans Bold"/>
                <a:cs typeface="Canva Sans Bold"/>
                <a:sym typeface="Canva Sans Bold"/>
              </a:rPr>
              <a:t>Finalisation means the project reaches operational stability and can operate without day-to-day PM control. Dissemination is the process whereby project outputs are shared or institutionalized (e.g., a service integrated into public provision). </a:t>
            </a:r>
          </a:p>
          <a:p>
            <a:pPr algn="just">
              <a:lnSpc>
                <a:spcPts val="5923"/>
              </a:lnSpc>
            </a:pPr>
            <a:endParaRPr lang="en-US" sz="3037" b="1">
              <a:solidFill>
                <a:srgbClr val="000000"/>
              </a:solidFill>
              <a:latin typeface="Canva Sans Bold"/>
              <a:ea typeface="Canva Sans Bold"/>
              <a:cs typeface="Canva Sans Bold"/>
              <a:sym typeface="Canva Sans Bold"/>
            </a:endParaRPr>
          </a:p>
          <a:p>
            <a:pPr algn="just">
              <a:lnSpc>
                <a:spcPts val="5923"/>
              </a:lnSpc>
            </a:pPr>
            <a:r>
              <a:rPr lang="en-US" sz="3037" b="1">
                <a:solidFill>
                  <a:srgbClr val="000000"/>
                </a:solidFill>
                <a:latin typeface="Canva Sans Bold"/>
                <a:ea typeface="Canva Sans Bold"/>
                <a:cs typeface="Canva Sans Bold"/>
                <a:sym typeface="Canva Sans Bold"/>
              </a:rPr>
              <a:t>Post-finish control can be ongoing by in-house staff, periodic investor monitoring, or programmatic audits. Guarantees or warranties — contractual service assurances — are frequently required to secure investor and public trust. Finalisation thus includes both handing over and setting up long-term oversight.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258827" y="389894"/>
            <a:ext cx="193520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FINALISATION, DISSEMINATION &amp; CONTROL</a:t>
            </a:r>
          </a:p>
        </p:txBody>
      </p:sp>
      <p:sp>
        <p:nvSpPr>
          <p:cNvPr id="7" name="TextBox 7"/>
          <p:cNvSpPr txBox="1"/>
          <p:nvPr/>
        </p:nvSpPr>
        <p:spPr>
          <a:xfrm>
            <a:off x="1258827" y="2796860"/>
            <a:ext cx="15616950" cy="7359223"/>
          </a:xfrm>
          <a:prstGeom prst="rect">
            <a:avLst/>
          </a:prstGeom>
        </p:spPr>
        <p:txBody>
          <a:bodyPr lIns="0" tIns="0" rIns="0" bIns="0" rtlCol="0" anchor="t">
            <a:spAutoFit/>
          </a:bodyPr>
          <a:lstStyle/>
          <a:p>
            <a:pPr algn="just">
              <a:lnSpc>
                <a:spcPts val="5923"/>
              </a:lnSpc>
            </a:pPr>
            <a:r>
              <a:rPr lang="en-US" sz="3037" b="1">
                <a:solidFill>
                  <a:srgbClr val="000000"/>
                </a:solidFill>
                <a:latin typeface="Canva Sans Bold"/>
                <a:ea typeface="Canva Sans Bold"/>
                <a:cs typeface="Canva Sans Bold"/>
                <a:sym typeface="Canva Sans Bold"/>
              </a:rPr>
              <a:t>The goal of every project is finalisation. A project is finalised when it can continue to function without daily involvement of the Project Manager, operating under market rules or institutional mechanisms. Dissemination means that the results of the project spread and become useful to society. </a:t>
            </a:r>
          </a:p>
          <a:p>
            <a:pPr algn="just">
              <a:lnSpc>
                <a:spcPts val="5923"/>
              </a:lnSpc>
            </a:pPr>
            <a:endParaRPr lang="en-US" sz="3037" b="1">
              <a:solidFill>
                <a:srgbClr val="000000"/>
              </a:solidFill>
              <a:latin typeface="Canva Sans Bold"/>
              <a:ea typeface="Canva Sans Bold"/>
              <a:cs typeface="Canva Sans Bold"/>
              <a:sym typeface="Canva Sans Bold"/>
            </a:endParaRPr>
          </a:p>
          <a:p>
            <a:pPr algn="just">
              <a:lnSpc>
                <a:spcPts val="5923"/>
              </a:lnSpc>
            </a:pPr>
            <a:r>
              <a:rPr lang="en-US" sz="3037" b="1">
                <a:solidFill>
                  <a:srgbClr val="000000"/>
                </a:solidFill>
                <a:latin typeface="Canva Sans Bold"/>
                <a:ea typeface="Canva Sans Bold"/>
                <a:cs typeface="Canva Sans Bold"/>
                <a:sym typeface="Canva Sans Bold"/>
              </a:rPr>
              <a:t>For example, a startup project that grows into a self-sustaining company, or a social program that continues to serve communities after donor support ends. Finalisation and dissemination are proof that the project has produced lasting impact.</a:t>
            </a:r>
          </a:p>
          <a:p>
            <a:pPr algn="just">
              <a:lnSpc>
                <a:spcPts val="5923"/>
              </a:lnSpc>
            </a:pPr>
            <a:endParaRPr lang="en-US" sz="3037" b="1">
              <a:solidFill>
                <a:srgbClr val="000000"/>
              </a:solidFill>
              <a:latin typeface="Canva Sans Bold"/>
              <a:ea typeface="Canva Sans Bold"/>
              <a:cs typeface="Canva Sans Bold"/>
              <a:sym typeface="Canva Sans Bo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826457" y="563839"/>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CONTROL &amp; GUARANTEES</a:t>
            </a:r>
          </a:p>
        </p:txBody>
      </p:sp>
      <p:sp>
        <p:nvSpPr>
          <p:cNvPr id="7" name="Freeform 7"/>
          <p:cNvSpPr/>
          <p:nvPr/>
        </p:nvSpPr>
        <p:spPr>
          <a:xfrm rot="5400000">
            <a:off x="4566191" y="1706470"/>
            <a:ext cx="3057392" cy="5261380"/>
          </a:xfrm>
          <a:custGeom>
            <a:avLst/>
            <a:gdLst/>
            <a:ahLst/>
            <a:cxnLst/>
            <a:rect l="l" t="t" r="r" b="b"/>
            <a:pathLst>
              <a:path w="3057392" h="5261380">
                <a:moveTo>
                  <a:pt x="0" y="0"/>
                </a:moveTo>
                <a:lnTo>
                  <a:pt x="3057392" y="0"/>
                </a:lnTo>
                <a:lnTo>
                  <a:pt x="3057392" y="5261380"/>
                </a:lnTo>
                <a:lnTo>
                  <a:pt x="0" y="5261380"/>
                </a:lnTo>
                <a:lnTo>
                  <a:pt x="0" y="0"/>
                </a:lnTo>
                <a:close/>
              </a:path>
            </a:pathLst>
          </a:custGeom>
          <a:blipFill>
            <a:blip r:embed="rId4">
              <a:extLst>
                <a:ext uri="{96DAC541-7B7A-43D3-8B79-37D633B846F1}">
                  <asvg:svgBlip xmlns:asvg="http://schemas.microsoft.com/office/drawing/2016/SVG/main" r:embed="rId5"/>
                </a:ext>
              </a:extLst>
            </a:blip>
            <a:stretch>
              <a:fillRect r="-484171"/>
            </a:stretch>
          </a:blipFill>
        </p:spPr>
      </p:sp>
      <p:sp>
        <p:nvSpPr>
          <p:cNvPr id="8" name="Freeform 8"/>
          <p:cNvSpPr/>
          <p:nvPr/>
        </p:nvSpPr>
        <p:spPr>
          <a:xfrm rot="5400000">
            <a:off x="9536739" y="1706470"/>
            <a:ext cx="3057392" cy="5261380"/>
          </a:xfrm>
          <a:custGeom>
            <a:avLst/>
            <a:gdLst/>
            <a:ahLst/>
            <a:cxnLst/>
            <a:rect l="l" t="t" r="r" b="b"/>
            <a:pathLst>
              <a:path w="3057392" h="5261380">
                <a:moveTo>
                  <a:pt x="0" y="0"/>
                </a:moveTo>
                <a:lnTo>
                  <a:pt x="3057392" y="0"/>
                </a:lnTo>
                <a:lnTo>
                  <a:pt x="3057392" y="5261380"/>
                </a:lnTo>
                <a:lnTo>
                  <a:pt x="0" y="5261380"/>
                </a:lnTo>
                <a:lnTo>
                  <a:pt x="0" y="0"/>
                </a:lnTo>
                <a:close/>
              </a:path>
            </a:pathLst>
          </a:custGeom>
          <a:blipFill>
            <a:blip r:embed="rId4">
              <a:extLst>
                <a:ext uri="{96DAC541-7B7A-43D3-8B79-37D633B846F1}">
                  <asvg:svgBlip xmlns:asvg="http://schemas.microsoft.com/office/drawing/2016/SVG/main" r:embed="rId5"/>
                </a:ext>
              </a:extLst>
            </a:blip>
            <a:stretch>
              <a:fillRect r="-484171"/>
            </a:stretch>
          </a:blipFill>
        </p:spPr>
      </p:sp>
      <p:grpSp>
        <p:nvGrpSpPr>
          <p:cNvPr id="9" name="Group 9"/>
          <p:cNvGrpSpPr/>
          <p:nvPr/>
        </p:nvGrpSpPr>
        <p:grpSpPr>
          <a:xfrm>
            <a:off x="2781522" y="3931426"/>
            <a:ext cx="2212803" cy="221280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12BF"/>
            </a:solidFill>
            <a:ln w="95250" cap="sq">
              <a:solidFill>
                <a:srgbClr val="FFFFFF"/>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568177" y="3933073"/>
            <a:ext cx="2705610" cy="2705610"/>
          </a:xfrm>
          <a:custGeom>
            <a:avLst/>
            <a:gdLst/>
            <a:ahLst/>
            <a:cxnLst/>
            <a:rect l="l" t="t" r="r" b="b"/>
            <a:pathLst>
              <a:path w="2705610" h="2705610">
                <a:moveTo>
                  <a:pt x="0" y="0"/>
                </a:moveTo>
                <a:lnTo>
                  <a:pt x="2705610" y="0"/>
                </a:lnTo>
                <a:lnTo>
                  <a:pt x="2705610" y="2705610"/>
                </a:lnTo>
                <a:lnTo>
                  <a:pt x="0" y="2705610"/>
                </a:lnTo>
                <a:lnTo>
                  <a:pt x="0" y="0"/>
                </a:lnTo>
                <a:close/>
              </a:path>
            </a:pathLst>
          </a:custGeom>
          <a:blipFill>
            <a:blip r:embed="rId6">
              <a:alphaModFix amt="35000"/>
              <a:extLst>
                <a:ext uri="{96DAC541-7B7A-43D3-8B79-37D633B846F1}">
                  <asvg:svgBlip xmlns:asvg="http://schemas.microsoft.com/office/drawing/2016/SVG/main" r:embed="rId7"/>
                </a:ext>
              </a:extLst>
            </a:blip>
            <a:stretch>
              <a:fillRect/>
            </a:stretch>
          </a:blipFill>
          <a:ln cap="sq">
            <a:noFill/>
            <a:prstDash val="solid"/>
            <a:miter/>
          </a:ln>
        </p:spPr>
      </p:sp>
      <p:grpSp>
        <p:nvGrpSpPr>
          <p:cNvPr id="13" name="Group 13"/>
          <p:cNvGrpSpPr/>
          <p:nvPr/>
        </p:nvGrpSpPr>
        <p:grpSpPr>
          <a:xfrm>
            <a:off x="7568177" y="3933073"/>
            <a:ext cx="2209509" cy="220950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09B7"/>
            </a:solidFill>
            <a:ln w="95250" cap="sq">
              <a:solidFill>
                <a:srgbClr val="FFFFFF"/>
              </a:solidFill>
              <a:prstDash val="solid"/>
              <a:miter/>
            </a:ln>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2353185" y="3933073"/>
            <a:ext cx="2705610" cy="2705610"/>
          </a:xfrm>
          <a:custGeom>
            <a:avLst/>
            <a:gdLst/>
            <a:ahLst/>
            <a:cxnLst/>
            <a:rect l="l" t="t" r="r" b="b"/>
            <a:pathLst>
              <a:path w="2705610" h="2705610">
                <a:moveTo>
                  <a:pt x="0" y="0"/>
                </a:moveTo>
                <a:lnTo>
                  <a:pt x="2705610" y="0"/>
                </a:lnTo>
                <a:lnTo>
                  <a:pt x="2705610" y="2705610"/>
                </a:lnTo>
                <a:lnTo>
                  <a:pt x="0" y="2705610"/>
                </a:lnTo>
                <a:lnTo>
                  <a:pt x="0" y="0"/>
                </a:lnTo>
                <a:close/>
              </a:path>
            </a:pathLst>
          </a:custGeom>
          <a:blipFill>
            <a:blip r:embed="rId6">
              <a:alphaModFix amt="35000"/>
              <a:extLst>
                <a:ext uri="{96DAC541-7B7A-43D3-8B79-37D633B846F1}">
                  <asvg:svgBlip xmlns:asvg="http://schemas.microsoft.com/office/drawing/2016/SVG/main" r:embed="rId8"/>
                </a:ext>
              </a:extLst>
            </a:blip>
            <a:stretch>
              <a:fillRect/>
            </a:stretch>
          </a:blipFill>
          <a:ln cap="sq">
            <a:noFill/>
            <a:prstDash val="solid"/>
            <a:miter/>
          </a:ln>
        </p:spPr>
      </p:sp>
      <p:grpSp>
        <p:nvGrpSpPr>
          <p:cNvPr id="17" name="Group 17"/>
          <p:cNvGrpSpPr/>
          <p:nvPr/>
        </p:nvGrpSpPr>
        <p:grpSpPr>
          <a:xfrm>
            <a:off x="12353185" y="3933073"/>
            <a:ext cx="2209509" cy="220950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CA3"/>
            </a:solidFill>
            <a:ln w="95250" cap="sq">
              <a:solidFill>
                <a:srgbClr val="FFFFFF"/>
              </a:soli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3320811" y="4499633"/>
            <a:ext cx="1134225" cy="1158850"/>
          </a:xfrm>
          <a:custGeom>
            <a:avLst/>
            <a:gdLst/>
            <a:ahLst/>
            <a:cxnLst/>
            <a:rect l="l" t="t" r="r" b="b"/>
            <a:pathLst>
              <a:path w="1134225" h="1158850">
                <a:moveTo>
                  <a:pt x="0" y="0"/>
                </a:moveTo>
                <a:lnTo>
                  <a:pt x="1134225" y="0"/>
                </a:lnTo>
                <a:lnTo>
                  <a:pt x="1134225" y="1158850"/>
                </a:lnTo>
                <a:lnTo>
                  <a:pt x="0" y="115885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21" name="Freeform 21"/>
          <p:cNvSpPr/>
          <p:nvPr/>
        </p:nvSpPr>
        <p:spPr>
          <a:xfrm>
            <a:off x="8070148" y="4499633"/>
            <a:ext cx="1205566" cy="1158850"/>
          </a:xfrm>
          <a:custGeom>
            <a:avLst/>
            <a:gdLst/>
            <a:ahLst/>
            <a:cxnLst/>
            <a:rect l="l" t="t" r="r" b="b"/>
            <a:pathLst>
              <a:path w="1205566" h="1158850">
                <a:moveTo>
                  <a:pt x="0" y="0"/>
                </a:moveTo>
                <a:lnTo>
                  <a:pt x="1205566" y="0"/>
                </a:lnTo>
                <a:lnTo>
                  <a:pt x="1205566" y="1158850"/>
                </a:lnTo>
                <a:lnTo>
                  <a:pt x="0" y="1158850"/>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22" name="Freeform 22"/>
          <p:cNvSpPr/>
          <p:nvPr/>
        </p:nvSpPr>
        <p:spPr>
          <a:xfrm>
            <a:off x="12961459" y="4458402"/>
            <a:ext cx="1063245" cy="1158850"/>
          </a:xfrm>
          <a:custGeom>
            <a:avLst/>
            <a:gdLst/>
            <a:ahLst/>
            <a:cxnLst/>
            <a:rect l="l" t="t" r="r" b="b"/>
            <a:pathLst>
              <a:path w="1063245" h="1158850">
                <a:moveTo>
                  <a:pt x="0" y="0"/>
                </a:moveTo>
                <a:lnTo>
                  <a:pt x="1063245" y="0"/>
                </a:lnTo>
                <a:lnTo>
                  <a:pt x="1063245" y="1158851"/>
                </a:lnTo>
                <a:lnTo>
                  <a:pt x="0" y="1158851"/>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23" name="TextBox 23"/>
          <p:cNvSpPr txBox="1"/>
          <p:nvPr/>
        </p:nvSpPr>
        <p:spPr>
          <a:xfrm>
            <a:off x="1824411" y="6378605"/>
            <a:ext cx="3998783" cy="141477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Projects require continuous monitoring and audits</a:t>
            </a:r>
          </a:p>
        </p:txBody>
      </p:sp>
      <p:sp>
        <p:nvSpPr>
          <p:cNvPr id="24" name="TextBox 24"/>
          <p:cNvSpPr txBox="1"/>
          <p:nvPr/>
        </p:nvSpPr>
        <p:spPr>
          <a:xfrm>
            <a:off x="6512625" y="6330355"/>
            <a:ext cx="4425905" cy="188592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Investors may demand guarantees or post-project services.</a:t>
            </a:r>
          </a:p>
          <a:p>
            <a:pPr algn="ctr">
              <a:lnSpc>
                <a:spcPts val="3764"/>
              </a:lnSpc>
            </a:pPr>
            <a:endParaRPr lang="en-US" sz="2895" b="1">
              <a:solidFill>
                <a:srgbClr val="000000"/>
              </a:solidFill>
              <a:latin typeface="Roboto Bold"/>
              <a:ea typeface="Roboto Bold"/>
              <a:cs typeface="Roboto Bold"/>
              <a:sym typeface="Roboto Bold"/>
            </a:endParaRPr>
          </a:p>
        </p:txBody>
      </p:sp>
      <p:sp>
        <p:nvSpPr>
          <p:cNvPr id="25" name="TextBox 25"/>
          <p:cNvSpPr txBox="1"/>
          <p:nvPr/>
        </p:nvSpPr>
        <p:spPr>
          <a:xfrm>
            <a:off x="11502473" y="6330355"/>
            <a:ext cx="3845516" cy="141477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Guarantees add credibility and support future projects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TextBox 6"/>
          <p:cNvSpPr txBox="1"/>
          <p:nvPr/>
        </p:nvSpPr>
        <p:spPr>
          <a:xfrm>
            <a:off x="1826457" y="563839"/>
            <a:ext cx="19352032" cy="1116332"/>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CONTROL &amp; GUARANTEES</a:t>
            </a:r>
          </a:p>
        </p:txBody>
      </p:sp>
      <p:sp>
        <p:nvSpPr>
          <p:cNvPr id="7" name="TextBox 7"/>
          <p:cNvSpPr txBox="1"/>
          <p:nvPr/>
        </p:nvSpPr>
        <p:spPr>
          <a:xfrm>
            <a:off x="1826457" y="2434298"/>
            <a:ext cx="14811771" cy="6199828"/>
          </a:xfrm>
          <a:prstGeom prst="rect">
            <a:avLst/>
          </a:prstGeom>
        </p:spPr>
        <p:txBody>
          <a:bodyPr lIns="0" tIns="0" rIns="0" bIns="0" rtlCol="0" anchor="t">
            <a:spAutoFit/>
          </a:bodyPr>
          <a:lstStyle/>
          <a:p>
            <a:pPr algn="just">
              <a:lnSpc>
                <a:spcPts val="6152"/>
              </a:lnSpc>
            </a:pPr>
            <a:r>
              <a:rPr lang="en-US" sz="3495" b="1">
                <a:solidFill>
                  <a:srgbClr val="000000"/>
                </a:solidFill>
                <a:latin typeface="Roboto Bold"/>
                <a:ea typeface="Roboto Bold"/>
                <a:cs typeface="Roboto Bold"/>
                <a:sym typeface="Roboto Bold"/>
              </a:rPr>
              <a:t>Even after finalisation, projects require control and guarantees. Investors may demand ongoing monitoring, governments may require periodic reports, and users may expect warranties. Guarantees can be contractual, such as service guarantees in a PPP hospital, or voluntary, as a sign of professional conviction. Guarantees increase credibility and trust, not only for the current project but also for future ones. They are part of the long-term reputation of the Project Manager</a:t>
            </a:r>
          </a:p>
          <a:p>
            <a:pPr algn="just">
              <a:lnSpc>
                <a:spcPts val="6152"/>
              </a:lnSpc>
            </a:pPr>
            <a:endParaRPr lang="en-US" sz="3495" b="1">
              <a:solidFill>
                <a:srgbClr val="000000"/>
              </a:solidFill>
              <a:latin typeface="Roboto Bold"/>
              <a:ea typeface="Roboto Bold"/>
              <a:cs typeface="Roboto Bold"/>
              <a:sym typeface="Roboto Bo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2063001" y="-543436"/>
            <a:ext cx="9236440" cy="8074937"/>
          </a:xfrm>
          <a:custGeom>
            <a:avLst/>
            <a:gdLst/>
            <a:ahLst/>
            <a:cxnLst/>
            <a:rect l="l" t="t" r="r" b="b"/>
            <a:pathLst>
              <a:path w="9236440" h="8074937">
                <a:moveTo>
                  <a:pt x="0" y="0"/>
                </a:moveTo>
                <a:lnTo>
                  <a:pt x="9236441" y="0"/>
                </a:lnTo>
                <a:lnTo>
                  <a:pt x="9236441"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AutoShape 10"/>
          <p:cNvSpPr/>
          <p:nvPr/>
        </p:nvSpPr>
        <p:spPr>
          <a:xfrm>
            <a:off x="7156694" y="8491906"/>
            <a:ext cx="9586452" cy="0"/>
          </a:xfrm>
          <a:prstGeom prst="line">
            <a:avLst/>
          </a:prstGeom>
          <a:ln w="19050" cap="flat">
            <a:solidFill>
              <a:srgbClr val="000000"/>
            </a:solidFill>
            <a:prstDash val="solid"/>
            <a:headEnd type="none" w="sm" len="sm"/>
            <a:tailEnd type="none" w="sm" len="sm"/>
          </a:ln>
        </p:spPr>
      </p:sp>
      <p:sp>
        <p:nvSpPr>
          <p:cNvPr id="11" name="AutoShape 11"/>
          <p:cNvSpPr/>
          <p:nvPr/>
        </p:nvSpPr>
        <p:spPr>
          <a:xfrm flipH="1">
            <a:off x="7156694" y="6904444"/>
            <a:ext cx="7220" cy="3382556"/>
          </a:xfrm>
          <a:prstGeom prst="line">
            <a:avLst/>
          </a:prstGeom>
          <a:ln w="19050" cap="flat">
            <a:solidFill>
              <a:srgbClr val="000000"/>
            </a:solidFill>
            <a:prstDash val="solid"/>
            <a:headEnd type="none" w="sm" len="sm"/>
            <a:tailEnd type="none" w="sm" len="sm"/>
          </a:ln>
        </p:spPr>
      </p:sp>
      <p:grpSp>
        <p:nvGrpSpPr>
          <p:cNvPr id="12" name="Group 12"/>
          <p:cNvGrpSpPr/>
          <p:nvPr/>
        </p:nvGrpSpPr>
        <p:grpSpPr>
          <a:xfrm>
            <a:off x="450357" y="1335612"/>
            <a:ext cx="6723083" cy="7165819"/>
            <a:chOff x="0" y="0"/>
            <a:chExt cx="813674" cy="867257"/>
          </a:xfrm>
        </p:grpSpPr>
        <p:sp>
          <p:nvSpPr>
            <p:cNvPr id="13" name="Freeform 13"/>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106880" r="-6290"/>
              </a:stretch>
            </a:blipFill>
            <a:ln w="19050" cap="sq">
              <a:solidFill>
                <a:srgbClr val="000000"/>
              </a:solidFill>
              <a:prstDash val="solid"/>
              <a:miter/>
            </a:ln>
          </p:spPr>
        </p:sp>
      </p:grpSp>
      <p:sp>
        <p:nvSpPr>
          <p:cNvPr id="14" name="Freeform 14"/>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5" name="TextBox 15"/>
          <p:cNvSpPr txBox="1"/>
          <p:nvPr/>
        </p:nvSpPr>
        <p:spPr>
          <a:xfrm>
            <a:off x="7635844" y="474534"/>
            <a:ext cx="9780003" cy="210820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SPECIFICS OF IT PROJECTS</a:t>
            </a:r>
          </a:p>
        </p:txBody>
      </p:sp>
      <p:sp>
        <p:nvSpPr>
          <p:cNvPr id="16" name="Freeform 16"/>
          <p:cNvSpPr/>
          <p:nvPr/>
        </p:nvSpPr>
        <p:spPr>
          <a:xfrm>
            <a:off x="8098987" y="4096955"/>
            <a:ext cx="3930986" cy="2206266"/>
          </a:xfrm>
          <a:custGeom>
            <a:avLst/>
            <a:gdLst/>
            <a:ahLst/>
            <a:cxnLst/>
            <a:rect l="l" t="t" r="r" b="b"/>
            <a:pathLst>
              <a:path w="3930986" h="2206266">
                <a:moveTo>
                  <a:pt x="0" y="0"/>
                </a:moveTo>
                <a:lnTo>
                  <a:pt x="3930987" y="0"/>
                </a:lnTo>
                <a:lnTo>
                  <a:pt x="3930987" y="2206266"/>
                </a:lnTo>
                <a:lnTo>
                  <a:pt x="0" y="2206266"/>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sp>
        <p:nvSpPr>
          <p:cNvPr id="17" name="Freeform 17"/>
          <p:cNvSpPr/>
          <p:nvPr/>
        </p:nvSpPr>
        <p:spPr>
          <a:xfrm>
            <a:off x="13072933" y="4096955"/>
            <a:ext cx="3930986" cy="2206266"/>
          </a:xfrm>
          <a:custGeom>
            <a:avLst/>
            <a:gdLst/>
            <a:ahLst/>
            <a:cxnLst/>
            <a:rect l="l" t="t" r="r" b="b"/>
            <a:pathLst>
              <a:path w="3930986" h="2206266">
                <a:moveTo>
                  <a:pt x="0" y="0"/>
                </a:moveTo>
                <a:lnTo>
                  <a:pt x="3930986" y="0"/>
                </a:lnTo>
                <a:lnTo>
                  <a:pt x="3930986" y="2206266"/>
                </a:lnTo>
                <a:lnTo>
                  <a:pt x="0" y="2206266"/>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sp>
        <p:nvSpPr>
          <p:cNvPr id="18" name="Freeform 18"/>
          <p:cNvSpPr/>
          <p:nvPr/>
        </p:nvSpPr>
        <p:spPr>
          <a:xfrm>
            <a:off x="8339479" y="6566705"/>
            <a:ext cx="3930986" cy="2206266"/>
          </a:xfrm>
          <a:custGeom>
            <a:avLst/>
            <a:gdLst/>
            <a:ahLst/>
            <a:cxnLst/>
            <a:rect l="l" t="t" r="r" b="b"/>
            <a:pathLst>
              <a:path w="3930986" h="2206266">
                <a:moveTo>
                  <a:pt x="0" y="0"/>
                </a:moveTo>
                <a:lnTo>
                  <a:pt x="3930986" y="0"/>
                </a:lnTo>
                <a:lnTo>
                  <a:pt x="3930986" y="2206266"/>
                </a:lnTo>
                <a:lnTo>
                  <a:pt x="0" y="2206266"/>
                </a:lnTo>
                <a:lnTo>
                  <a:pt x="0" y="0"/>
                </a:lnTo>
                <a:close/>
              </a:path>
            </a:pathLst>
          </a:custGeom>
          <a:blipFill>
            <a:blip r:embed="rId7">
              <a:alphaModFix amt="35000"/>
              <a:extLst>
                <a:ext uri="{96DAC541-7B7A-43D3-8B79-37D633B846F1}">
                  <asvg:svgBlip xmlns:asvg="http://schemas.microsoft.com/office/drawing/2016/SVG/main" r:embed="rId8"/>
                </a:ext>
              </a:extLst>
            </a:blip>
            <a:stretch>
              <a:fillRect/>
            </a:stretch>
          </a:blipFill>
          <a:ln cap="sq">
            <a:noFill/>
            <a:prstDash val="solid"/>
            <a:miter/>
          </a:ln>
        </p:spPr>
      </p:sp>
      <p:grpSp>
        <p:nvGrpSpPr>
          <p:cNvPr id="19" name="Group 19"/>
          <p:cNvGrpSpPr/>
          <p:nvPr/>
        </p:nvGrpSpPr>
        <p:grpSpPr>
          <a:xfrm>
            <a:off x="7843606" y="3468561"/>
            <a:ext cx="4441748" cy="2024343"/>
            <a:chOff x="0" y="0"/>
            <a:chExt cx="1701060" cy="775264"/>
          </a:xfrm>
        </p:grpSpPr>
        <p:sp>
          <p:nvSpPr>
            <p:cNvPr id="20" name="Freeform 20"/>
            <p:cNvSpPr/>
            <p:nvPr/>
          </p:nvSpPr>
          <p:spPr>
            <a:xfrm>
              <a:off x="0" y="0"/>
              <a:ext cx="1701060" cy="775264"/>
            </a:xfrm>
            <a:custGeom>
              <a:avLst/>
              <a:gdLst/>
              <a:ahLst/>
              <a:cxnLst/>
              <a:rect l="l" t="t" r="r" b="b"/>
              <a:pathLst>
                <a:path w="1701060" h="775264">
                  <a:moveTo>
                    <a:pt x="71463" y="0"/>
                  </a:moveTo>
                  <a:lnTo>
                    <a:pt x="1629597" y="0"/>
                  </a:lnTo>
                  <a:cubicBezTo>
                    <a:pt x="1669065" y="0"/>
                    <a:pt x="1701060" y="31995"/>
                    <a:pt x="1701060" y="71463"/>
                  </a:cubicBezTo>
                  <a:lnTo>
                    <a:pt x="1701060" y="703802"/>
                  </a:lnTo>
                  <a:cubicBezTo>
                    <a:pt x="1701060" y="743269"/>
                    <a:pt x="1669065" y="775264"/>
                    <a:pt x="1629597" y="775264"/>
                  </a:cubicBezTo>
                  <a:lnTo>
                    <a:pt x="71463" y="775264"/>
                  </a:lnTo>
                  <a:cubicBezTo>
                    <a:pt x="31995" y="775264"/>
                    <a:pt x="0" y="743269"/>
                    <a:pt x="0" y="703802"/>
                  </a:cubicBezTo>
                  <a:lnTo>
                    <a:pt x="0" y="71463"/>
                  </a:lnTo>
                  <a:cubicBezTo>
                    <a:pt x="0" y="31995"/>
                    <a:pt x="31995" y="0"/>
                    <a:pt x="71463" y="0"/>
                  </a:cubicBezTo>
                  <a:close/>
                </a:path>
              </a:pathLst>
            </a:custGeom>
            <a:solidFill>
              <a:srgbClr val="FFFFFF"/>
            </a:solidFill>
            <a:ln w="38100" cap="rnd">
              <a:solidFill>
                <a:srgbClr val="F72585"/>
              </a:solidFill>
              <a:prstDash val="solid"/>
              <a:round/>
            </a:ln>
          </p:spPr>
        </p:sp>
        <p:sp>
          <p:nvSpPr>
            <p:cNvPr id="21" name="TextBox 21"/>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22" name="Group 22"/>
          <p:cNvGrpSpPr/>
          <p:nvPr/>
        </p:nvGrpSpPr>
        <p:grpSpPr>
          <a:xfrm rot="-10800000">
            <a:off x="8084098" y="5938311"/>
            <a:ext cx="4441748" cy="2024343"/>
            <a:chOff x="0" y="0"/>
            <a:chExt cx="1701060" cy="775264"/>
          </a:xfrm>
        </p:grpSpPr>
        <p:sp>
          <p:nvSpPr>
            <p:cNvPr id="23" name="Freeform 23"/>
            <p:cNvSpPr/>
            <p:nvPr/>
          </p:nvSpPr>
          <p:spPr>
            <a:xfrm>
              <a:off x="0" y="0"/>
              <a:ext cx="1701060" cy="775264"/>
            </a:xfrm>
            <a:custGeom>
              <a:avLst/>
              <a:gdLst/>
              <a:ahLst/>
              <a:cxnLst/>
              <a:rect l="l" t="t" r="r" b="b"/>
              <a:pathLst>
                <a:path w="1701060" h="775264">
                  <a:moveTo>
                    <a:pt x="71463" y="0"/>
                  </a:moveTo>
                  <a:lnTo>
                    <a:pt x="1629597" y="0"/>
                  </a:lnTo>
                  <a:cubicBezTo>
                    <a:pt x="1669065" y="0"/>
                    <a:pt x="1701060" y="31995"/>
                    <a:pt x="1701060" y="71463"/>
                  </a:cubicBezTo>
                  <a:lnTo>
                    <a:pt x="1701060" y="703802"/>
                  </a:lnTo>
                  <a:cubicBezTo>
                    <a:pt x="1701060" y="743269"/>
                    <a:pt x="1669065" y="775264"/>
                    <a:pt x="1629597" y="775264"/>
                  </a:cubicBezTo>
                  <a:lnTo>
                    <a:pt x="71463" y="775264"/>
                  </a:lnTo>
                  <a:cubicBezTo>
                    <a:pt x="31995" y="775264"/>
                    <a:pt x="0" y="743269"/>
                    <a:pt x="0" y="703802"/>
                  </a:cubicBezTo>
                  <a:lnTo>
                    <a:pt x="0" y="71463"/>
                  </a:lnTo>
                  <a:cubicBezTo>
                    <a:pt x="0" y="31995"/>
                    <a:pt x="31995" y="0"/>
                    <a:pt x="71463" y="0"/>
                  </a:cubicBezTo>
                  <a:close/>
                </a:path>
              </a:pathLst>
            </a:custGeom>
            <a:solidFill>
              <a:srgbClr val="FFFFFF"/>
            </a:solidFill>
            <a:ln w="38100" cap="rnd">
              <a:solidFill>
                <a:srgbClr val="4361EE"/>
              </a:solidFill>
              <a:prstDash val="solid"/>
              <a:round/>
            </a:ln>
          </p:spPr>
        </p:sp>
        <p:sp>
          <p:nvSpPr>
            <p:cNvPr id="24" name="TextBox 24"/>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grpSp>
        <p:nvGrpSpPr>
          <p:cNvPr id="25" name="Group 25"/>
          <p:cNvGrpSpPr/>
          <p:nvPr/>
        </p:nvGrpSpPr>
        <p:grpSpPr>
          <a:xfrm rot="-10800000">
            <a:off x="12817552" y="3468561"/>
            <a:ext cx="4441748" cy="2024343"/>
            <a:chOff x="0" y="0"/>
            <a:chExt cx="1701060" cy="775264"/>
          </a:xfrm>
        </p:grpSpPr>
        <p:sp>
          <p:nvSpPr>
            <p:cNvPr id="26" name="Freeform 26"/>
            <p:cNvSpPr/>
            <p:nvPr/>
          </p:nvSpPr>
          <p:spPr>
            <a:xfrm>
              <a:off x="0" y="0"/>
              <a:ext cx="1701060" cy="775264"/>
            </a:xfrm>
            <a:custGeom>
              <a:avLst/>
              <a:gdLst/>
              <a:ahLst/>
              <a:cxnLst/>
              <a:rect l="l" t="t" r="r" b="b"/>
              <a:pathLst>
                <a:path w="1701060" h="775264">
                  <a:moveTo>
                    <a:pt x="71463" y="0"/>
                  </a:moveTo>
                  <a:lnTo>
                    <a:pt x="1629597" y="0"/>
                  </a:lnTo>
                  <a:cubicBezTo>
                    <a:pt x="1669065" y="0"/>
                    <a:pt x="1701060" y="31995"/>
                    <a:pt x="1701060" y="71463"/>
                  </a:cubicBezTo>
                  <a:lnTo>
                    <a:pt x="1701060" y="703802"/>
                  </a:lnTo>
                  <a:cubicBezTo>
                    <a:pt x="1701060" y="743269"/>
                    <a:pt x="1669065" y="775264"/>
                    <a:pt x="1629597" y="775264"/>
                  </a:cubicBezTo>
                  <a:lnTo>
                    <a:pt x="71463" y="775264"/>
                  </a:lnTo>
                  <a:cubicBezTo>
                    <a:pt x="31995" y="775264"/>
                    <a:pt x="0" y="743269"/>
                    <a:pt x="0" y="703802"/>
                  </a:cubicBezTo>
                  <a:lnTo>
                    <a:pt x="0" y="71463"/>
                  </a:lnTo>
                  <a:cubicBezTo>
                    <a:pt x="0" y="31995"/>
                    <a:pt x="31995" y="0"/>
                    <a:pt x="71463" y="0"/>
                  </a:cubicBezTo>
                  <a:close/>
                </a:path>
              </a:pathLst>
            </a:custGeom>
            <a:solidFill>
              <a:srgbClr val="FFFFFF"/>
            </a:solidFill>
            <a:ln w="38100" cap="rnd">
              <a:solidFill>
                <a:srgbClr val="3A0CA3"/>
              </a:solidFill>
              <a:prstDash val="solid"/>
              <a:round/>
            </a:ln>
          </p:spPr>
        </p:sp>
        <p:sp>
          <p:nvSpPr>
            <p:cNvPr id="27" name="TextBox 27"/>
            <p:cNvSpPr txBox="1"/>
            <p:nvPr/>
          </p:nvSpPr>
          <p:spPr>
            <a:xfrm>
              <a:off x="0" y="-47625"/>
              <a:ext cx="1701060" cy="822889"/>
            </a:xfrm>
            <a:prstGeom prst="rect">
              <a:avLst/>
            </a:prstGeom>
          </p:spPr>
          <p:txBody>
            <a:bodyPr lIns="50800" tIns="50800" rIns="50800" bIns="50800" rtlCol="0" anchor="ctr"/>
            <a:lstStyle/>
            <a:p>
              <a:pPr algn="ctr">
                <a:lnSpc>
                  <a:spcPts val="2239"/>
                </a:lnSpc>
              </a:pPr>
              <a:endParaRPr/>
            </a:p>
          </p:txBody>
        </p:sp>
      </p:grpSp>
      <p:sp>
        <p:nvSpPr>
          <p:cNvPr id="28" name="TextBox 28"/>
          <p:cNvSpPr txBox="1"/>
          <p:nvPr/>
        </p:nvSpPr>
        <p:spPr>
          <a:xfrm>
            <a:off x="8084098" y="4058855"/>
            <a:ext cx="3654170" cy="785966"/>
          </a:xfrm>
          <a:prstGeom prst="rect">
            <a:avLst/>
          </a:prstGeom>
        </p:spPr>
        <p:txBody>
          <a:bodyPr lIns="0" tIns="0" rIns="0" bIns="0" rtlCol="0" anchor="t">
            <a:spAutoFit/>
          </a:bodyPr>
          <a:lstStyle/>
          <a:p>
            <a:pPr algn="ctr">
              <a:lnSpc>
                <a:spcPts val="3072"/>
              </a:lnSpc>
            </a:pPr>
            <a:r>
              <a:rPr lang="en-US" sz="2363" b="1">
                <a:solidFill>
                  <a:srgbClr val="000000"/>
                </a:solidFill>
                <a:latin typeface="Roboto Bold"/>
                <a:ea typeface="Roboto Bold"/>
                <a:cs typeface="Roboto Bold"/>
                <a:sym typeface="Roboto Bold"/>
              </a:rPr>
              <a:t>Types: online, hybrid, and offline projects</a:t>
            </a:r>
          </a:p>
        </p:txBody>
      </p:sp>
      <p:sp>
        <p:nvSpPr>
          <p:cNvPr id="29" name="TextBox 29"/>
          <p:cNvSpPr txBox="1"/>
          <p:nvPr/>
        </p:nvSpPr>
        <p:spPr>
          <a:xfrm>
            <a:off x="13210715" y="3874229"/>
            <a:ext cx="3655421" cy="1174907"/>
          </a:xfrm>
          <a:prstGeom prst="rect">
            <a:avLst/>
          </a:prstGeom>
        </p:spPr>
        <p:txBody>
          <a:bodyPr lIns="0" tIns="0" rIns="0" bIns="0" rtlCol="0" anchor="t">
            <a:spAutoFit/>
          </a:bodyPr>
          <a:lstStyle/>
          <a:p>
            <a:pPr algn="ctr">
              <a:lnSpc>
                <a:spcPts val="3072"/>
              </a:lnSpc>
            </a:pPr>
            <a:r>
              <a:rPr lang="en-US" sz="2363" b="1">
                <a:solidFill>
                  <a:srgbClr val="000000"/>
                </a:solidFill>
                <a:latin typeface="Roboto Bold"/>
                <a:ea typeface="Roboto Bold"/>
                <a:cs typeface="Roboto Bold"/>
                <a:sym typeface="Roboto Bold"/>
              </a:rPr>
              <a:t>Virtual reality is a new environment for project execution</a:t>
            </a:r>
          </a:p>
        </p:txBody>
      </p:sp>
      <p:sp>
        <p:nvSpPr>
          <p:cNvPr id="30" name="TextBox 30"/>
          <p:cNvSpPr txBox="1"/>
          <p:nvPr/>
        </p:nvSpPr>
        <p:spPr>
          <a:xfrm>
            <a:off x="8659308" y="6343979"/>
            <a:ext cx="3440787" cy="1174907"/>
          </a:xfrm>
          <a:prstGeom prst="rect">
            <a:avLst/>
          </a:prstGeom>
        </p:spPr>
        <p:txBody>
          <a:bodyPr lIns="0" tIns="0" rIns="0" bIns="0" rtlCol="0" anchor="t">
            <a:spAutoFit/>
          </a:bodyPr>
          <a:lstStyle/>
          <a:p>
            <a:pPr algn="ctr">
              <a:lnSpc>
                <a:spcPts val="3072"/>
              </a:lnSpc>
            </a:pPr>
            <a:r>
              <a:rPr lang="en-US" sz="2363" b="1">
                <a:solidFill>
                  <a:srgbClr val="000000"/>
                </a:solidFill>
                <a:latin typeface="Roboto Bold"/>
                <a:ea typeface="Roboto Bold"/>
                <a:cs typeface="Roboto Bold"/>
                <a:sym typeface="Roboto Bold"/>
              </a:rPr>
              <a:t>PMs must adapt to new communication and resources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3903509" y="-707767"/>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AutoShape 10"/>
          <p:cNvSpPr/>
          <p:nvPr/>
        </p:nvSpPr>
        <p:spPr>
          <a:xfrm flipH="1">
            <a:off x="5738882" y="6904424"/>
            <a:ext cx="7220" cy="3382556"/>
          </a:xfrm>
          <a:prstGeom prst="line">
            <a:avLst/>
          </a:prstGeom>
          <a:ln w="19050" cap="flat">
            <a:solidFill>
              <a:srgbClr val="000000"/>
            </a:solidFill>
            <a:prstDash val="solid"/>
            <a:headEnd type="none" w="sm" len="sm"/>
            <a:tailEnd type="none" w="sm" len="sm"/>
          </a:ln>
        </p:spPr>
      </p:sp>
      <p:grpSp>
        <p:nvGrpSpPr>
          <p:cNvPr id="11" name="Group 11"/>
          <p:cNvGrpSpPr/>
          <p:nvPr/>
        </p:nvGrpSpPr>
        <p:grpSpPr>
          <a:xfrm>
            <a:off x="-967456" y="1326087"/>
            <a:ext cx="6723083" cy="7165819"/>
            <a:chOff x="0" y="0"/>
            <a:chExt cx="813674" cy="867257"/>
          </a:xfrm>
        </p:grpSpPr>
        <p:sp>
          <p:nvSpPr>
            <p:cNvPr id="12" name="Freeform 12"/>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106880" r="-6290"/>
              </a:stretch>
            </a:blipFill>
            <a:ln w="19050" cap="sq">
              <a:solidFill>
                <a:srgbClr val="000000"/>
              </a:solidFill>
              <a:prstDash val="solid"/>
              <a:miter/>
            </a:ln>
          </p:spPr>
        </p:sp>
      </p:grpSp>
      <p:sp>
        <p:nvSpPr>
          <p:cNvPr id="13" name="Freeform 13"/>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4" name="TextBox 14"/>
          <p:cNvSpPr txBox="1"/>
          <p:nvPr/>
        </p:nvSpPr>
        <p:spPr>
          <a:xfrm>
            <a:off x="5332931" y="176504"/>
            <a:ext cx="13000894"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SPECIFICS OF IT PROJECTS</a:t>
            </a:r>
          </a:p>
        </p:txBody>
      </p:sp>
      <p:sp>
        <p:nvSpPr>
          <p:cNvPr id="15" name="TextBox 15"/>
          <p:cNvSpPr txBox="1"/>
          <p:nvPr/>
        </p:nvSpPr>
        <p:spPr>
          <a:xfrm>
            <a:off x="5984227" y="2013585"/>
            <a:ext cx="11530884" cy="6381750"/>
          </a:xfrm>
          <a:prstGeom prst="rect">
            <a:avLst/>
          </a:prstGeom>
        </p:spPr>
        <p:txBody>
          <a:bodyPr lIns="0" tIns="0" rIns="0" bIns="0" rtlCol="0" anchor="t">
            <a:spAutoFit/>
          </a:bodyPr>
          <a:lstStyle/>
          <a:p>
            <a:pPr algn="just">
              <a:lnSpc>
                <a:spcPts val="4200"/>
              </a:lnSpc>
            </a:pPr>
            <a:r>
              <a:rPr lang="en-US" sz="3000" b="1">
                <a:solidFill>
                  <a:srgbClr val="000000"/>
                </a:solidFill>
                <a:latin typeface="Canva Sans Bold"/>
                <a:ea typeface="Canva Sans Bold"/>
                <a:cs typeface="Canva Sans Bold"/>
                <a:sym typeface="Canva Sans Bold"/>
              </a:rPr>
              <a:t>IT projects differ because many deliverables can be digital, replicable and tested at low cost. The ITP passport usually starts with an alpha or demo version; funding sources include business angels, VCs, accelerators and P2P platforms. </a:t>
            </a:r>
          </a:p>
          <a:p>
            <a:pPr algn="just">
              <a:lnSpc>
                <a:spcPts val="4200"/>
              </a:lnSpc>
            </a:pPr>
            <a:endParaRPr lang="en-US" sz="3000" b="1">
              <a:solidFill>
                <a:srgbClr val="000000"/>
              </a:solidFill>
              <a:latin typeface="Canva Sans Bold"/>
              <a:ea typeface="Canva Sans Bold"/>
              <a:cs typeface="Canva Sans Bold"/>
              <a:sym typeface="Canva Sans Bold"/>
            </a:endParaRPr>
          </a:p>
          <a:p>
            <a:pPr algn="just">
              <a:lnSpc>
                <a:spcPts val="4200"/>
              </a:lnSpc>
            </a:pPr>
            <a:r>
              <a:rPr lang="en-US" sz="3000" b="1">
                <a:solidFill>
                  <a:srgbClr val="000000"/>
                </a:solidFill>
                <a:latin typeface="Canva Sans Bold"/>
                <a:ea typeface="Canva Sans Bold"/>
                <a:cs typeface="Canva Sans Bold"/>
                <a:sym typeface="Canva Sans Bold"/>
              </a:rPr>
              <a:t>ITPs operate in both Real (R) and Virtual (VR) environments — some elements cannot be virtualized (touch, taste) and that limits transformation in certain sectors (e.g., hospitality). The PM of an IT project needs either technical competence or an intermediate programmer to translate needs into specifications; co-location of the core team is recommended for rapid integration and to reduce communication overhead.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3903509" y="-707767"/>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AutoShape 10"/>
          <p:cNvSpPr/>
          <p:nvPr/>
        </p:nvSpPr>
        <p:spPr>
          <a:xfrm flipH="1">
            <a:off x="5738882" y="6904424"/>
            <a:ext cx="7220" cy="3382556"/>
          </a:xfrm>
          <a:prstGeom prst="line">
            <a:avLst/>
          </a:prstGeom>
          <a:ln w="19050" cap="flat">
            <a:solidFill>
              <a:srgbClr val="000000"/>
            </a:solidFill>
            <a:prstDash val="solid"/>
            <a:headEnd type="none" w="sm" len="sm"/>
            <a:tailEnd type="none" w="sm" len="sm"/>
          </a:ln>
        </p:spPr>
      </p:sp>
      <p:grpSp>
        <p:nvGrpSpPr>
          <p:cNvPr id="11" name="Group 11"/>
          <p:cNvGrpSpPr/>
          <p:nvPr/>
        </p:nvGrpSpPr>
        <p:grpSpPr>
          <a:xfrm>
            <a:off x="-967456" y="1326087"/>
            <a:ext cx="6723083" cy="7165819"/>
            <a:chOff x="0" y="0"/>
            <a:chExt cx="813674" cy="867257"/>
          </a:xfrm>
        </p:grpSpPr>
        <p:sp>
          <p:nvSpPr>
            <p:cNvPr id="12" name="Freeform 12"/>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106880" r="-6290"/>
              </a:stretch>
            </a:blipFill>
            <a:ln w="19050" cap="sq">
              <a:solidFill>
                <a:srgbClr val="000000"/>
              </a:solidFill>
              <a:prstDash val="solid"/>
              <a:miter/>
            </a:ln>
          </p:spPr>
        </p:sp>
      </p:grpSp>
      <p:sp>
        <p:nvSpPr>
          <p:cNvPr id="13" name="Freeform 13"/>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4" name="TextBox 14"/>
          <p:cNvSpPr txBox="1"/>
          <p:nvPr/>
        </p:nvSpPr>
        <p:spPr>
          <a:xfrm>
            <a:off x="5332931" y="176504"/>
            <a:ext cx="13000894" cy="1136652"/>
          </a:xfrm>
          <a:prstGeom prst="rect">
            <a:avLst/>
          </a:prstGeom>
        </p:spPr>
        <p:txBody>
          <a:bodyPr lIns="0" tIns="0" rIns="0" bIns="0" rtlCol="0" anchor="t">
            <a:spAutoFit/>
          </a:bodyPr>
          <a:lstStyle/>
          <a:p>
            <a:pPr algn="l">
              <a:lnSpc>
                <a:spcPts val="7700"/>
              </a:lnSpc>
            </a:pPr>
            <a:r>
              <a:rPr lang="en-US" sz="7000" b="1">
                <a:solidFill>
                  <a:srgbClr val="2012BF"/>
                </a:solidFill>
                <a:latin typeface="Futura Ultra-Bold"/>
                <a:ea typeface="Futura Ultra-Bold"/>
                <a:cs typeface="Futura Ultra-Bold"/>
                <a:sym typeface="Futura Ultra-Bold"/>
              </a:rPr>
              <a:t>SPECIFICS OF IT PROJECTS</a:t>
            </a:r>
          </a:p>
        </p:txBody>
      </p:sp>
      <p:sp>
        <p:nvSpPr>
          <p:cNvPr id="15" name="TextBox 15"/>
          <p:cNvSpPr txBox="1"/>
          <p:nvPr/>
        </p:nvSpPr>
        <p:spPr>
          <a:xfrm>
            <a:off x="6155677" y="2289226"/>
            <a:ext cx="11675959" cy="7715329"/>
          </a:xfrm>
          <a:prstGeom prst="rect">
            <a:avLst/>
          </a:prstGeom>
        </p:spPr>
        <p:txBody>
          <a:bodyPr lIns="0" tIns="0" rIns="0" bIns="0" rtlCol="0" anchor="t">
            <a:spAutoFit/>
          </a:bodyPr>
          <a:lstStyle/>
          <a:p>
            <a:pPr algn="just">
              <a:lnSpc>
                <a:spcPts val="4384"/>
              </a:lnSpc>
            </a:pPr>
            <a:r>
              <a:rPr lang="en-US" sz="3154" b="1">
                <a:solidFill>
                  <a:srgbClr val="000000"/>
                </a:solidFill>
                <a:latin typeface="Canva Sans Bold"/>
                <a:ea typeface="Canva Sans Bold"/>
                <a:cs typeface="Canva Sans Bold"/>
                <a:sym typeface="Canva Sans Bold"/>
              </a:rPr>
              <a:t>Information Technology projects have their own specifics. They can be online, hybrid, or offline. They often exist in both the real world and in virtual reality. Some elements can be transmitted easily through the internet like documents, images, or sound. Others, like touch, taste, or smell, cannot. This creates unique opportunities and limitations. </a:t>
            </a:r>
          </a:p>
          <a:p>
            <a:pPr algn="just">
              <a:lnSpc>
                <a:spcPts val="4384"/>
              </a:lnSpc>
            </a:pPr>
            <a:endParaRPr lang="en-US" sz="3154" b="1">
              <a:solidFill>
                <a:srgbClr val="000000"/>
              </a:solidFill>
              <a:latin typeface="Canva Sans Bold"/>
              <a:ea typeface="Canva Sans Bold"/>
              <a:cs typeface="Canva Sans Bold"/>
              <a:sym typeface="Canva Sans Bold"/>
            </a:endParaRPr>
          </a:p>
          <a:p>
            <a:pPr algn="just">
              <a:lnSpc>
                <a:spcPts val="4384"/>
              </a:lnSpc>
            </a:pPr>
            <a:r>
              <a:rPr lang="en-US" sz="3154" b="1">
                <a:solidFill>
                  <a:srgbClr val="000000"/>
                </a:solidFill>
                <a:latin typeface="Canva Sans Bold"/>
                <a:ea typeface="Canva Sans Bold"/>
                <a:cs typeface="Canva Sans Bold"/>
                <a:sym typeface="Canva Sans Bold"/>
              </a:rPr>
              <a:t>For example, in education, IT projects can create virtual classrooms. The passport of an IT project often begins with an alpha version or a demo, rather than a full plan. Financing can also come from modern sources such as venture capital, accelerators, or crowdfunding</a:t>
            </a:r>
          </a:p>
          <a:p>
            <a:pPr algn="just">
              <a:lnSpc>
                <a:spcPts val="4384"/>
              </a:lnSpc>
            </a:pPr>
            <a:endParaRPr lang="en-US" sz="3154" b="1">
              <a:solidFill>
                <a:srgbClr val="000000"/>
              </a:solidFill>
              <a:latin typeface="Canva Sans Bold"/>
              <a:ea typeface="Canva Sans Bold"/>
              <a:cs typeface="Canva Sans Bold"/>
              <a:sym typeface="Canva Sans Bo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2063001" y="-543436"/>
            <a:ext cx="9236440" cy="8074937"/>
          </a:xfrm>
          <a:custGeom>
            <a:avLst/>
            <a:gdLst/>
            <a:ahLst/>
            <a:cxnLst/>
            <a:rect l="l" t="t" r="r" b="b"/>
            <a:pathLst>
              <a:path w="9236440" h="8074937">
                <a:moveTo>
                  <a:pt x="0" y="0"/>
                </a:moveTo>
                <a:lnTo>
                  <a:pt x="9236441" y="0"/>
                </a:lnTo>
                <a:lnTo>
                  <a:pt x="9236441"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AutoShape 10"/>
          <p:cNvSpPr/>
          <p:nvPr/>
        </p:nvSpPr>
        <p:spPr>
          <a:xfrm>
            <a:off x="7156694" y="8491906"/>
            <a:ext cx="9586452" cy="0"/>
          </a:xfrm>
          <a:prstGeom prst="line">
            <a:avLst/>
          </a:prstGeom>
          <a:ln w="19050" cap="flat">
            <a:solidFill>
              <a:srgbClr val="000000"/>
            </a:solidFill>
            <a:prstDash val="solid"/>
            <a:headEnd type="none" w="sm" len="sm"/>
            <a:tailEnd type="none" w="sm" len="sm"/>
          </a:ln>
        </p:spPr>
      </p:sp>
      <p:sp>
        <p:nvSpPr>
          <p:cNvPr id="11" name="AutoShape 11"/>
          <p:cNvSpPr/>
          <p:nvPr/>
        </p:nvSpPr>
        <p:spPr>
          <a:xfrm flipH="1">
            <a:off x="7156694" y="6904444"/>
            <a:ext cx="7220" cy="3382556"/>
          </a:xfrm>
          <a:prstGeom prst="line">
            <a:avLst/>
          </a:prstGeom>
          <a:ln w="19050" cap="flat">
            <a:solidFill>
              <a:srgbClr val="000000"/>
            </a:solidFill>
            <a:prstDash val="solid"/>
            <a:headEnd type="none" w="sm" len="sm"/>
            <a:tailEnd type="none" w="sm" len="sm"/>
          </a:ln>
        </p:spPr>
      </p:sp>
      <p:grpSp>
        <p:nvGrpSpPr>
          <p:cNvPr id="12" name="Group 12"/>
          <p:cNvGrpSpPr/>
          <p:nvPr/>
        </p:nvGrpSpPr>
        <p:grpSpPr>
          <a:xfrm>
            <a:off x="450357" y="1335612"/>
            <a:ext cx="6723083" cy="7165819"/>
            <a:chOff x="0" y="0"/>
            <a:chExt cx="813674" cy="867257"/>
          </a:xfrm>
        </p:grpSpPr>
        <p:sp>
          <p:nvSpPr>
            <p:cNvPr id="13" name="Freeform 13"/>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46373" r="-46373"/>
              </a:stretch>
            </a:blipFill>
            <a:ln w="19050" cap="sq">
              <a:solidFill>
                <a:srgbClr val="000000"/>
              </a:solidFill>
              <a:prstDash val="solid"/>
              <a:miter/>
            </a:ln>
          </p:spPr>
        </p:sp>
      </p:grpSp>
      <p:sp>
        <p:nvSpPr>
          <p:cNvPr id="14" name="Freeform 14"/>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5" name="TextBox 15"/>
          <p:cNvSpPr txBox="1"/>
          <p:nvPr/>
        </p:nvSpPr>
        <p:spPr>
          <a:xfrm>
            <a:off x="7635844" y="493584"/>
            <a:ext cx="10652156" cy="977216"/>
          </a:xfrm>
          <a:prstGeom prst="rect">
            <a:avLst/>
          </a:prstGeom>
        </p:spPr>
        <p:txBody>
          <a:bodyPr lIns="0" tIns="0" rIns="0" bIns="0" rtlCol="0" anchor="t">
            <a:spAutoFit/>
          </a:bodyPr>
          <a:lstStyle/>
          <a:p>
            <a:pPr algn="l">
              <a:lnSpc>
                <a:spcPts val="6680"/>
              </a:lnSpc>
            </a:pPr>
            <a:r>
              <a:rPr lang="en-US" sz="6073" b="1">
                <a:solidFill>
                  <a:srgbClr val="2012BF"/>
                </a:solidFill>
                <a:latin typeface="Futura Ultra-Bold"/>
                <a:ea typeface="Futura Ultra-Bold"/>
                <a:cs typeface="Futura Ultra-Bold"/>
                <a:sym typeface="Futura Ultra-Bold"/>
              </a:rPr>
              <a:t>ROLE OF AI IN PROJECTS</a:t>
            </a:r>
          </a:p>
        </p:txBody>
      </p:sp>
      <p:sp>
        <p:nvSpPr>
          <p:cNvPr id="16" name="TextBox 16"/>
          <p:cNvSpPr txBox="1"/>
          <p:nvPr/>
        </p:nvSpPr>
        <p:spPr>
          <a:xfrm>
            <a:off x="7775178" y="2236732"/>
            <a:ext cx="9484122" cy="5836235"/>
          </a:xfrm>
          <a:prstGeom prst="rect">
            <a:avLst/>
          </a:prstGeom>
        </p:spPr>
        <p:txBody>
          <a:bodyPr lIns="0" tIns="0" rIns="0" bIns="0" rtlCol="0" anchor="t">
            <a:spAutoFit/>
          </a:bodyPr>
          <a:lstStyle/>
          <a:p>
            <a:pPr algn="l">
              <a:lnSpc>
                <a:spcPts val="5901"/>
              </a:lnSpc>
            </a:pPr>
            <a:r>
              <a:rPr lang="en-US" sz="3512" b="1">
                <a:solidFill>
                  <a:srgbClr val="2012BF"/>
                </a:solidFill>
                <a:latin typeface="Canva Sans Bold"/>
                <a:ea typeface="Canva Sans Bold"/>
                <a:cs typeface="Canva Sans Bold"/>
                <a:sym typeface="Canva Sans Bold"/>
              </a:rPr>
              <a:t>AI supports projects at all stages: analysis, automation, monitoring.</a:t>
            </a:r>
          </a:p>
          <a:p>
            <a:pPr algn="l">
              <a:lnSpc>
                <a:spcPts val="5901"/>
              </a:lnSpc>
            </a:pPr>
            <a:endParaRPr lang="en-US" sz="3512" b="1">
              <a:solidFill>
                <a:srgbClr val="2012BF"/>
              </a:solidFill>
              <a:latin typeface="Canva Sans Bold"/>
              <a:ea typeface="Canva Sans Bold"/>
              <a:cs typeface="Canva Sans Bold"/>
              <a:sym typeface="Canva Sans Bold"/>
            </a:endParaRPr>
          </a:p>
          <a:p>
            <a:pPr algn="l">
              <a:lnSpc>
                <a:spcPts val="5901"/>
              </a:lnSpc>
            </a:pPr>
            <a:r>
              <a:rPr lang="en-US" sz="3512" b="1">
                <a:solidFill>
                  <a:srgbClr val="2012BF"/>
                </a:solidFill>
                <a:latin typeface="Canva Sans Bold"/>
                <a:ea typeface="Canva Sans Bold"/>
                <a:cs typeface="Canva Sans Bold"/>
                <a:sym typeface="Canva Sans Bold"/>
              </a:rPr>
              <a:t>AI cannot replace PM’s creativity and judgment.</a:t>
            </a:r>
          </a:p>
          <a:p>
            <a:pPr algn="l">
              <a:lnSpc>
                <a:spcPts val="5901"/>
              </a:lnSpc>
            </a:pPr>
            <a:endParaRPr lang="en-US" sz="3512" b="1">
              <a:solidFill>
                <a:srgbClr val="2012BF"/>
              </a:solidFill>
              <a:latin typeface="Canva Sans Bold"/>
              <a:ea typeface="Canva Sans Bold"/>
              <a:cs typeface="Canva Sans Bold"/>
              <a:sym typeface="Canva Sans Bold"/>
            </a:endParaRPr>
          </a:p>
          <a:p>
            <a:pPr algn="l">
              <a:lnSpc>
                <a:spcPts val="5901"/>
              </a:lnSpc>
            </a:pPr>
            <a:r>
              <a:rPr lang="en-US" sz="3512" b="1">
                <a:solidFill>
                  <a:srgbClr val="2012BF"/>
                </a:solidFill>
                <a:latin typeface="Canva Sans Bold"/>
                <a:ea typeface="Canva Sans Bold"/>
                <a:cs typeface="Canva Sans Bold"/>
                <a:sym typeface="Canva Sans Bold"/>
              </a:rPr>
              <a:t>Final decisions must always remain human-led.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2063001" y="-543436"/>
            <a:ext cx="9236440" cy="8074937"/>
          </a:xfrm>
          <a:custGeom>
            <a:avLst/>
            <a:gdLst/>
            <a:ahLst/>
            <a:cxnLst/>
            <a:rect l="l" t="t" r="r" b="b"/>
            <a:pathLst>
              <a:path w="9236440" h="8074937">
                <a:moveTo>
                  <a:pt x="0" y="0"/>
                </a:moveTo>
                <a:lnTo>
                  <a:pt x="9236441" y="0"/>
                </a:lnTo>
                <a:lnTo>
                  <a:pt x="9236441"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AutoShape 10"/>
          <p:cNvSpPr/>
          <p:nvPr/>
        </p:nvSpPr>
        <p:spPr>
          <a:xfrm>
            <a:off x="7156694" y="8491906"/>
            <a:ext cx="9586452" cy="0"/>
          </a:xfrm>
          <a:prstGeom prst="line">
            <a:avLst/>
          </a:prstGeom>
          <a:ln w="19050" cap="flat">
            <a:solidFill>
              <a:srgbClr val="000000"/>
            </a:solidFill>
            <a:prstDash val="solid"/>
            <a:headEnd type="none" w="sm" len="sm"/>
            <a:tailEnd type="none" w="sm" len="sm"/>
          </a:ln>
        </p:spPr>
      </p:sp>
      <p:sp>
        <p:nvSpPr>
          <p:cNvPr id="11" name="AutoShape 11"/>
          <p:cNvSpPr/>
          <p:nvPr/>
        </p:nvSpPr>
        <p:spPr>
          <a:xfrm flipH="1">
            <a:off x="7156694" y="6904444"/>
            <a:ext cx="7220" cy="3382556"/>
          </a:xfrm>
          <a:prstGeom prst="line">
            <a:avLst/>
          </a:prstGeom>
          <a:ln w="19050" cap="flat">
            <a:solidFill>
              <a:srgbClr val="000000"/>
            </a:solidFill>
            <a:prstDash val="solid"/>
            <a:headEnd type="none" w="sm" len="sm"/>
            <a:tailEnd type="none" w="sm" len="sm"/>
          </a:ln>
        </p:spPr>
      </p:sp>
      <p:grpSp>
        <p:nvGrpSpPr>
          <p:cNvPr id="12" name="Group 12"/>
          <p:cNvGrpSpPr/>
          <p:nvPr/>
        </p:nvGrpSpPr>
        <p:grpSpPr>
          <a:xfrm>
            <a:off x="450357" y="1335612"/>
            <a:ext cx="6723083" cy="7165819"/>
            <a:chOff x="0" y="0"/>
            <a:chExt cx="813674" cy="867257"/>
          </a:xfrm>
        </p:grpSpPr>
        <p:sp>
          <p:nvSpPr>
            <p:cNvPr id="13" name="Freeform 13"/>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46373" r="-46373"/>
              </a:stretch>
            </a:blipFill>
            <a:ln w="19050" cap="sq">
              <a:solidFill>
                <a:srgbClr val="000000"/>
              </a:solidFill>
              <a:prstDash val="solid"/>
              <a:miter/>
            </a:ln>
          </p:spPr>
        </p:sp>
      </p:grpSp>
      <p:sp>
        <p:nvSpPr>
          <p:cNvPr id="14" name="Freeform 14"/>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5" name="TextBox 15"/>
          <p:cNvSpPr txBox="1"/>
          <p:nvPr/>
        </p:nvSpPr>
        <p:spPr>
          <a:xfrm>
            <a:off x="7635844" y="493584"/>
            <a:ext cx="10652156" cy="977216"/>
          </a:xfrm>
          <a:prstGeom prst="rect">
            <a:avLst/>
          </a:prstGeom>
        </p:spPr>
        <p:txBody>
          <a:bodyPr lIns="0" tIns="0" rIns="0" bIns="0" rtlCol="0" anchor="t">
            <a:spAutoFit/>
          </a:bodyPr>
          <a:lstStyle/>
          <a:p>
            <a:pPr algn="l">
              <a:lnSpc>
                <a:spcPts val="6680"/>
              </a:lnSpc>
            </a:pPr>
            <a:r>
              <a:rPr lang="en-US" sz="6073" b="1">
                <a:solidFill>
                  <a:srgbClr val="2012BF"/>
                </a:solidFill>
                <a:latin typeface="Futura Ultra-Bold"/>
                <a:ea typeface="Futura Ultra-Bold"/>
                <a:cs typeface="Futura Ultra-Bold"/>
                <a:sym typeface="Futura Ultra-Bold"/>
              </a:rPr>
              <a:t>ROLE OF AI IN PROJECTS</a:t>
            </a:r>
          </a:p>
        </p:txBody>
      </p:sp>
      <p:sp>
        <p:nvSpPr>
          <p:cNvPr id="16" name="TextBox 16"/>
          <p:cNvSpPr txBox="1"/>
          <p:nvPr/>
        </p:nvSpPr>
        <p:spPr>
          <a:xfrm>
            <a:off x="7635844" y="1907468"/>
            <a:ext cx="9484122" cy="6593963"/>
          </a:xfrm>
          <a:prstGeom prst="rect">
            <a:avLst/>
          </a:prstGeom>
        </p:spPr>
        <p:txBody>
          <a:bodyPr lIns="0" tIns="0" rIns="0" bIns="0" rtlCol="0" anchor="t">
            <a:spAutoFit/>
          </a:bodyPr>
          <a:lstStyle/>
          <a:p>
            <a:pPr algn="just">
              <a:lnSpc>
                <a:spcPts val="4389"/>
              </a:lnSpc>
            </a:pPr>
            <a:r>
              <a:rPr lang="en-US" sz="2612" b="1">
                <a:solidFill>
                  <a:srgbClr val="2012BF"/>
                </a:solidFill>
                <a:latin typeface="Canva Sans Bold"/>
                <a:ea typeface="Canva Sans Bold"/>
                <a:cs typeface="Canva Sans Bold"/>
                <a:sym typeface="Canva Sans Bold"/>
              </a:rPr>
              <a:t>Information Technology projects have their own specifics. They can be online, hybrid, or offline. They often exist in both the real world and in virtual reality. Some elements can be transmitted easily through the internet like documents, images, or sound. Others, like touch, taste, or smell, cannot. This creates unique opportunities and limitations. For example, in education, IT projects can create virtual classrooms. The passport of an IT project often begins with an alpha version or a demo, rather than a full plan. Financing can also come from modern sources such as venture capital, accelerators, or crowdfunding</a:t>
            </a:r>
          </a:p>
          <a:p>
            <a:pPr algn="just">
              <a:lnSpc>
                <a:spcPts val="4389"/>
              </a:lnSpc>
            </a:pPr>
            <a:endParaRPr lang="en-US" sz="2612" b="1">
              <a:solidFill>
                <a:srgbClr val="2012BF"/>
              </a:solidFill>
              <a:latin typeface="Canva Sans Bold"/>
              <a:ea typeface="Canva Sans Bold"/>
              <a:cs typeface="Canva Sans Bold"/>
              <a:sym typeface="Canva Sans Bo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rot="5400000">
            <a:off x="4566191" y="1706470"/>
            <a:ext cx="3057392" cy="5261380"/>
          </a:xfrm>
          <a:custGeom>
            <a:avLst/>
            <a:gdLst/>
            <a:ahLst/>
            <a:cxnLst/>
            <a:rect l="l" t="t" r="r" b="b"/>
            <a:pathLst>
              <a:path w="3057392" h="5261380">
                <a:moveTo>
                  <a:pt x="0" y="0"/>
                </a:moveTo>
                <a:lnTo>
                  <a:pt x="3057392" y="0"/>
                </a:lnTo>
                <a:lnTo>
                  <a:pt x="3057392" y="5261380"/>
                </a:lnTo>
                <a:lnTo>
                  <a:pt x="0" y="5261380"/>
                </a:lnTo>
                <a:lnTo>
                  <a:pt x="0" y="0"/>
                </a:lnTo>
                <a:close/>
              </a:path>
            </a:pathLst>
          </a:custGeom>
          <a:blipFill>
            <a:blip r:embed="rId4">
              <a:extLst>
                <a:ext uri="{96DAC541-7B7A-43D3-8B79-37D633B846F1}">
                  <asvg:svgBlip xmlns:asvg="http://schemas.microsoft.com/office/drawing/2016/SVG/main" r:embed="rId5"/>
                </a:ext>
              </a:extLst>
            </a:blip>
            <a:stretch>
              <a:fillRect r="-484171"/>
            </a:stretch>
          </a:blipFill>
        </p:spPr>
      </p:sp>
      <p:sp>
        <p:nvSpPr>
          <p:cNvPr id="7" name="Freeform 7"/>
          <p:cNvSpPr/>
          <p:nvPr/>
        </p:nvSpPr>
        <p:spPr>
          <a:xfrm rot="5400000">
            <a:off x="9536739" y="1706470"/>
            <a:ext cx="3057392" cy="5261380"/>
          </a:xfrm>
          <a:custGeom>
            <a:avLst/>
            <a:gdLst/>
            <a:ahLst/>
            <a:cxnLst/>
            <a:rect l="l" t="t" r="r" b="b"/>
            <a:pathLst>
              <a:path w="3057392" h="5261380">
                <a:moveTo>
                  <a:pt x="0" y="0"/>
                </a:moveTo>
                <a:lnTo>
                  <a:pt x="3057392" y="0"/>
                </a:lnTo>
                <a:lnTo>
                  <a:pt x="3057392" y="5261380"/>
                </a:lnTo>
                <a:lnTo>
                  <a:pt x="0" y="5261380"/>
                </a:lnTo>
                <a:lnTo>
                  <a:pt x="0" y="0"/>
                </a:lnTo>
                <a:close/>
              </a:path>
            </a:pathLst>
          </a:custGeom>
          <a:blipFill>
            <a:blip r:embed="rId4">
              <a:extLst>
                <a:ext uri="{96DAC541-7B7A-43D3-8B79-37D633B846F1}">
                  <asvg:svgBlip xmlns:asvg="http://schemas.microsoft.com/office/drawing/2016/SVG/main" r:embed="rId5"/>
                </a:ext>
              </a:extLst>
            </a:blip>
            <a:stretch>
              <a:fillRect r="-484171"/>
            </a:stretch>
          </a:blipFill>
        </p:spPr>
      </p:sp>
      <p:grpSp>
        <p:nvGrpSpPr>
          <p:cNvPr id="8" name="Group 8"/>
          <p:cNvGrpSpPr/>
          <p:nvPr/>
        </p:nvGrpSpPr>
        <p:grpSpPr>
          <a:xfrm>
            <a:off x="2781522" y="3931426"/>
            <a:ext cx="2212803" cy="221280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12BF"/>
            </a:solidFill>
            <a:ln w="95250" cap="sq">
              <a:solidFill>
                <a:srgbClr val="FFFFFF"/>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7568177" y="3933073"/>
            <a:ext cx="2705610" cy="2705610"/>
          </a:xfrm>
          <a:custGeom>
            <a:avLst/>
            <a:gdLst/>
            <a:ahLst/>
            <a:cxnLst/>
            <a:rect l="l" t="t" r="r" b="b"/>
            <a:pathLst>
              <a:path w="2705610" h="2705610">
                <a:moveTo>
                  <a:pt x="0" y="0"/>
                </a:moveTo>
                <a:lnTo>
                  <a:pt x="2705610" y="0"/>
                </a:lnTo>
                <a:lnTo>
                  <a:pt x="2705610" y="2705610"/>
                </a:lnTo>
                <a:lnTo>
                  <a:pt x="0" y="2705610"/>
                </a:lnTo>
                <a:lnTo>
                  <a:pt x="0" y="0"/>
                </a:lnTo>
                <a:close/>
              </a:path>
            </a:pathLst>
          </a:custGeom>
          <a:blipFill>
            <a:blip r:embed="rId6">
              <a:alphaModFix amt="35000"/>
              <a:extLst>
                <a:ext uri="{96DAC541-7B7A-43D3-8B79-37D633B846F1}">
                  <asvg:svgBlip xmlns:asvg="http://schemas.microsoft.com/office/drawing/2016/SVG/main" r:embed="rId7"/>
                </a:ext>
              </a:extLst>
            </a:blip>
            <a:stretch>
              <a:fillRect/>
            </a:stretch>
          </a:blipFill>
          <a:ln cap="sq">
            <a:noFill/>
            <a:prstDash val="solid"/>
            <a:miter/>
          </a:ln>
        </p:spPr>
      </p:sp>
      <p:grpSp>
        <p:nvGrpSpPr>
          <p:cNvPr id="12" name="Group 12"/>
          <p:cNvGrpSpPr/>
          <p:nvPr/>
        </p:nvGrpSpPr>
        <p:grpSpPr>
          <a:xfrm>
            <a:off x="7568177" y="3933073"/>
            <a:ext cx="2209509" cy="220950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09B7"/>
            </a:solidFill>
            <a:ln w="95250" cap="sq">
              <a:solidFill>
                <a:srgbClr val="FFFFFF"/>
              </a:soli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2353185" y="3933073"/>
            <a:ext cx="2705610" cy="2705610"/>
          </a:xfrm>
          <a:custGeom>
            <a:avLst/>
            <a:gdLst/>
            <a:ahLst/>
            <a:cxnLst/>
            <a:rect l="l" t="t" r="r" b="b"/>
            <a:pathLst>
              <a:path w="2705610" h="2705610">
                <a:moveTo>
                  <a:pt x="0" y="0"/>
                </a:moveTo>
                <a:lnTo>
                  <a:pt x="2705610" y="0"/>
                </a:lnTo>
                <a:lnTo>
                  <a:pt x="2705610" y="2705610"/>
                </a:lnTo>
                <a:lnTo>
                  <a:pt x="0" y="2705610"/>
                </a:lnTo>
                <a:lnTo>
                  <a:pt x="0" y="0"/>
                </a:lnTo>
                <a:close/>
              </a:path>
            </a:pathLst>
          </a:custGeom>
          <a:blipFill>
            <a:blip r:embed="rId6">
              <a:alphaModFix amt="35000"/>
              <a:extLst>
                <a:ext uri="{96DAC541-7B7A-43D3-8B79-37D633B846F1}">
                  <asvg:svgBlip xmlns:asvg="http://schemas.microsoft.com/office/drawing/2016/SVG/main" r:embed="rId8"/>
                </a:ext>
              </a:extLst>
            </a:blip>
            <a:stretch>
              <a:fillRect/>
            </a:stretch>
          </a:blipFill>
          <a:ln cap="sq">
            <a:noFill/>
            <a:prstDash val="solid"/>
            <a:miter/>
          </a:ln>
        </p:spPr>
      </p:sp>
      <p:grpSp>
        <p:nvGrpSpPr>
          <p:cNvPr id="16" name="Group 16"/>
          <p:cNvGrpSpPr/>
          <p:nvPr/>
        </p:nvGrpSpPr>
        <p:grpSpPr>
          <a:xfrm>
            <a:off x="12353185" y="3933073"/>
            <a:ext cx="2209509" cy="220950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CA3"/>
            </a:solidFill>
            <a:ln w="95250" cap="sq">
              <a:solidFill>
                <a:srgbClr val="FFFFFF"/>
              </a:solid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2648646" y="4337160"/>
            <a:ext cx="2478555" cy="1370591"/>
          </a:xfrm>
          <a:custGeom>
            <a:avLst/>
            <a:gdLst/>
            <a:ahLst/>
            <a:cxnLst/>
            <a:rect l="l" t="t" r="r" b="b"/>
            <a:pathLst>
              <a:path w="2478555" h="1370591">
                <a:moveTo>
                  <a:pt x="0" y="0"/>
                </a:moveTo>
                <a:lnTo>
                  <a:pt x="2478555" y="0"/>
                </a:lnTo>
                <a:lnTo>
                  <a:pt x="2478555" y="1370592"/>
                </a:lnTo>
                <a:lnTo>
                  <a:pt x="0" y="1370592"/>
                </a:lnTo>
                <a:lnTo>
                  <a:pt x="0" y="0"/>
                </a:lnTo>
                <a:close/>
              </a:path>
            </a:pathLst>
          </a:custGeom>
          <a:blipFill>
            <a:blip r:embed="rId9"/>
            <a:stretch>
              <a:fillRect/>
            </a:stretch>
          </a:blipFill>
        </p:spPr>
      </p:sp>
      <p:sp>
        <p:nvSpPr>
          <p:cNvPr id="20" name="Freeform 20"/>
          <p:cNvSpPr/>
          <p:nvPr/>
        </p:nvSpPr>
        <p:spPr>
          <a:xfrm>
            <a:off x="8107326" y="4537288"/>
            <a:ext cx="1131210" cy="1001079"/>
          </a:xfrm>
          <a:custGeom>
            <a:avLst/>
            <a:gdLst/>
            <a:ahLst/>
            <a:cxnLst/>
            <a:rect l="l" t="t" r="r" b="b"/>
            <a:pathLst>
              <a:path w="1131210" h="1001079">
                <a:moveTo>
                  <a:pt x="0" y="0"/>
                </a:moveTo>
                <a:lnTo>
                  <a:pt x="1131210" y="0"/>
                </a:lnTo>
                <a:lnTo>
                  <a:pt x="1131210" y="1001079"/>
                </a:lnTo>
                <a:lnTo>
                  <a:pt x="0" y="1001079"/>
                </a:lnTo>
                <a:lnTo>
                  <a:pt x="0" y="0"/>
                </a:lnTo>
                <a:close/>
              </a:path>
            </a:pathLst>
          </a:custGeom>
          <a:blipFill>
            <a:blip r:embed="rId10"/>
            <a:stretch>
              <a:fillRect l="-88479" b="-6490"/>
            </a:stretch>
          </a:blipFill>
        </p:spPr>
      </p:sp>
      <p:sp>
        <p:nvSpPr>
          <p:cNvPr id="21" name="Freeform 21"/>
          <p:cNvSpPr/>
          <p:nvPr/>
        </p:nvSpPr>
        <p:spPr>
          <a:xfrm>
            <a:off x="11966721" y="4056609"/>
            <a:ext cx="2917019" cy="1651143"/>
          </a:xfrm>
          <a:custGeom>
            <a:avLst/>
            <a:gdLst/>
            <a:ahLst/>
            <a:cxnLst/>
            <a:rect l="l" t="t" r="r" b="b"/>
            <a:pathLst>
              <a:path w="2917019" h="1651143">
                <a:moveTo>
                  <a:pt x="0" y="0"/>
                </a:moveTo>
                <a:lnTo>
                  <a:pt x="2917019" y="0"/>
                </a:lnTo>
                <a:lnTo>
                  <a:pt x="2917019" y="1651143"/>
                </a:lnTo>
                <a:lnTo>
                  <a:pt x="0" y="1651143"/>
                </a:lnTo>
                <a:lnTo>
                  <a:pt x="0" y="0"/>
                </a:lnTo>
                <a:close/>
              </a:path>
            </a:pathLst>
          </a:custGeom>
          <a:blipFill>
            <a:blip r:embed="rId11"/>
            <a:stretch>
              <a:fillRect/>
            </a:stretch>
          </a:blipFill>
        </p:spPr>
      </p:sp>
      <p:sp>
        <p:nvSpPr>
          <p:cNvPr id="22" name="TextBox 22"/>
          <p:cNvSpPr txBox="1"/>
          <p:nvPr/>
        </p:nvSpPr>
        <p:spPr>
          <a:xfrm>
            <a:off x="1673979" y="177657"/>
            <a:ext cx="13521532" cy="2078357"/>
          </a:xfrm>
          <a:prstGeom prst="rect">
            <a:avLst/>
          </a:prstGeom>
        </p:spPr>
        <p:txBody>
          <a:bodyPr lIns="0" tIns="0" rIns="0" bIns="0" rtlCol="0" anchor="t">
            <a:spAutoFit/>
          </a:bodyPr>
          <a:lstStyle/>
          <a:p>
            <a:pPr algn="l">
              <a:lnSpc>
                <a:spcPts val="7590"/>
              </a:lnSpc>
            </a:pPr>
            <a:r>
              <a:rPr lang="en-US" sz="6900" b="1">
                <a:solidFill>
                  <a:srgbClr val="2012BF"/>
                </a:solidFill>
                <a:latin typeface="Futura Ultra-Bold"/>
                <a:ea typeface="Futura Ultra-Bold"/>
                <a:cs typeface="Futura Ultra-Bold"/>
                <a:sym typeface="Futura Ultra-Bold"/>
              </a:rPr>
              <a:t>BENEFITS &amp; CHALLENGES OF IT PROJECTS</a:t>
            </a:r>
          </a:p>
        </p:txBody>
      </p:sp>
      <p:sp>
        <p:nvSpPr>
          <p:cNvPr id="23" name="TextBox 23"/>
          <p:cNvSpPr txBox="1"/>
          <p:nvPr/>
        </p:nvSpPr>
        <p:spPr>
          <a:xfrm>
            <a:off x="1824411" y="6378605"/>
            <a:ext cx="3998783" cy="94362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IT projects are faster, cheaper, and less risky</a:t>
            </a:r>
          </a:p>
        </p:txBody>
      </p:sp>
      <p:sp>
        <p:nvSpPr>
          <p:cNvPr id="24" name="TextBox 24"/>
          <p:cNvSpPr txBox="1"/>
          <p:nvPr/>
        </p:nvSpPr>
        <p:spPr>
          <a:xfrm>
            <a:off x="6512625" y="6330355"/>
            <a:ext cx="4425905" cy="141477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Challenges include sustainability and data security</a:t>
            </a:r>
          </a:p>
        </p:txBody>
      </p:sp>
      <p:sp>
        <p:nvSpPr>
          <p:cNvPr id="25" name="TextBox 25"/>
          <p:cNvSpPr txBox="1"/>
          <p:nvPr/>
        </p:nvSpPr>
        <p:spPr>
          <a:xfrm>
            <a:off x="11502473" y="6330355"/>
            <a:ext cx="3845516" cy="1414778"/>
          </a:xfrm>
          <a:prstGeom prst="rect">
            <a:avLst/>
          </a:prstGeom>
        </p:spPr>
        <p:txBody>
          <a:bodyPr lIns="0" tIns="0" rIns="0" bIns="0" rtlCol="0" anchor="t">
            <a:spAutoFit/>
          </a:bodyPr>
          <a:lstStyle/>
          <a:p>
            <a:pPr algn="ctr">
              <a:lnSpc>
                <a:spcPts val="3764"/>
              </a:lnSpc>
            </a:pPr>
            <a:r>
              <a:rPr lang="en-US" sz="2895" b="1">
                <a:solidFill>
                  <a:srgbClr val="000000"/>
                </a:solidFill>
                <a:latin typeface="Roboto Bold"/>
                <a:ea typeface="Roboto Bold"/>
                <a:cs typeface="Roboto Bold"/>
                <a:sym typeface="Roboto Bold"/>
              </a:rPr>
              <a:t>Best practice: combine strengths of real and virtual worlds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3589520" y="-377229"/>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grpSp>
        <p:nvGrpSpPr>
          <p:cNvPr id="10" name="Group 10"/>
          <p:cNvGrpSpPr/>
          <p:nvPr/>
        </p:nvGrpSpPr>
        <p:grpSpPr>
          <a:xfrm>
            <a:off x="-967456" y="1335612"/>
            <a:ext cx="6723083" cy="7165819"/>
            <a:chOff x="0" y="0"/>
            <a:chExt cx="813674" cy="867257"/>
          </a:xfrm>
        </p:grpSpPr>
        <p:sp>
          <p:nvSpPr>
            <p:cNvPr id="11" name="Freeform 11"/>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46373" r="-46373"/>
              </a:stretch>
            </a:blipFill>
            <a:ln w="19050" cap="sq">
              <a:solidFill>
                <a:srgbClr val="000000"/>
              </a:solidFill>
              <a:prstDash val="solid"/>
              <a:miter/>
            </a:ln>
          </p:spPr>
        </p:sp>
      </p:grpSp>
      <p:sp>
        <p:nvSpPr>
          <p:cNvPr id="12" name="Freeform 12"/>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3" name="TextBox 13"/>
          <p:cNvSpPr txBox="1"/>
          <p:nvPr/>
        </p:nvSpPr>
        <p:spPr>
          <a:xfrm>
            <a:off x="6218855" y="319379"/>
            <a:ext cx="10885960" cy="1053752"/>
          </a:xfrm>
          <a:prstGeom prst="rect">
            <a:avLst/>
          </a:prstGeom>
        </p:spPr>
        <p:txBody>
          <a:bodyPr lIns="0" tIns="0" rIns="0" bIns="0" rtlCol="0" anchor="t">
            <a:spAutoFit/>
          </a:bodyPr>
          <a:lstStyle/>
          <a:p>
            <a:pPr algn="l">
              <a:lnSpc>
                <a:spcPts val="4092"/>
              </a:lnSpc>
            </a:pPr>
            <a:r>
              <a:rPr lang="en-US" sz="4012" b="1">
                <a:solidFill>
                  <a:srgbClr val="2012BF"/>
                </a:solidFill>
                <a:latin typeface="Canva Sans Bold"/>
                <a:ea typeface="Canva Sans Bold"/>
                <a:cs typeface="Canva Sans Bold"/>
                <a:sym typeface="Canva Sans Bold"/>
              </a:rPr>
              <a:t>Role of AI &amp; Benefits/Challenges of IT Projects</a:t>
            </a:r>
          </a:p>
        </p:txBody>
      </p:sp>
      <p:sp>
        <p:nvSpPr>
          <p:cNvPr id="14" name="TextBox 14"/>
          <p:cNvSpPr txBox="1"/>
          <p:nvPr/>
        </p:nvSpPr>
        <p:spPr>
          <a:xfrm>
            <a:off x="6218855" y="1689696"/>
            <a:ext cx="11285790" cy="7070979"/>
          </a:xfrm>
          <a:prstGeom prst="rect">
            <a:avLst/>
          </a:prstGeom>
        </p:spPr>
        <p:txBody>
          <a:bodyPr lIns="0" tIns="0" rIns="0" bIns="0" rtlCol="0" anchor="t">
            <a:spAutoFit/>
          </a:bodyPr>
          <a:lstStyle/>
          <a:p>
            <a:pPr algn="just">
              <a:lnSpc>
                <a:spcPts val="3977"/>
              </a:lnSpc>
              <a:spcBef>
                <a:spcPct val="0"/>
              </a:spcBef>
            </a:pPr>
            <a:r>
              <a:rPr lang="en-US" sz="3399">
                <a:solidFill>
                  <a:srgbClr val="2012BF"/>
                </a:solidFill>
                <a:latin typeface="Canva Sans"/>
                <a:ea typeface="Canva Sans"/>
                <a:cs typeface="Canva Sans"/>
                <a:sym typeface="Canva Sans"/>
              </a:rPr>
              <a:t>AI can support analysis, automation and monitoring across project phases — from predictive risk models to routine report generation. Yet the materials stress that AI cannot replace human creativity, judgment and responsibility; final decisions remain with the PM. Benefits of IT projects include faster prototyping, modular scaling and lower cost of testing. </a:t>
            </a:r>
          </a:p>
          <a:p>
            <a:pPr algn="just">
              <a:lnSpc>
                <a:spcPts val="3977"/>
              </a:lnSpc>
              <a:spcBef>
                <a:spcPct val="0"/>
              </a:spcBef>
            </a:pPr>
            <a:endParaRPr lang="en-US" sz="3399">
              <a:solidFill>
                <a:srgbClr val="2012BF"/>
              </a:solidFill>
              <a:latin typeface="Canva Sans"/>
              <a:ea typeface="Canva Sans"/>
              <a:cs typeface="Canva Sans"/>
              <a:sym typeface="Canva Sans"/>
            </a:endParaRPr>
          </a:p>
          <a:p>
            <a:pPr algn="just">
              <a:lnSpc>
                <a:spcPts val="3977"/>
              </a:lnSpc>
              <a:spcBef>
                <a:spcPct val="0"/>
              </a:spcBef>
            </a:pPr>
            <a:r>
              <a:rPr lang="en-US" sz="3399">
                <a:solidFill>
                  <a:srgbClr val="2012BF"/>
                </a:solidFill>
                <a:latin typeface="Canva Sans"/>
                <a:ea typeface="Canva Sans"/>
                <a:cs typeface="Canva Sans"/>
                <a:sym typeface="Canva Sans"/>
              </a:rPr>
              <a:t>Challenges highlighted include sustainability, cybersecurity, occasional market bubbles and fraud risks in novel financial instruments. The recommended approach is hybrid: use AI to augment human decision-making, keep human oversight and design safeguards for security and ethics.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3589520" y="-377229"/>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grpSp>
        <p:nvGrpSpPr>
          <p:cNvPr id="10" name="Group 10"/>
          <p:cNvGrpSpPr/>
          <p:nvPr/>
        </p:nvGrpSpPr>
        <p:grpSpPr>
          <a:xfrm>
            <a:off x="-967456" y="1335612"/>
            <a:ext cx="6723083" cy="7165819"/>
            <a:chOff x="0" y="0"/>
            <a:chExt cx="813674" cy="867257"/>
          </a:xfrm>
        </p:grpSpPr>
        <p:sp>
          <p:nvSpPr>
            <p:cNvPr id="11" name="Freeform 11"/>
            <p:cNvSpPr/>
            <p:nvPr/>
          </p:nvSpPr>
          <p:spPr>
            <a:xfrm>
              <a:off x="0" y="0"/>
              <a:ext cx="813674" cy="867257"/>
            </a:xfrm>
            <a:custGeom>
              <a:avLst/>
              <a:gdLst/>
              <a:ahLst/>
              <a:cxnLst/>
              <a:rect l="l" t="t" r="r" b="b"/>
              <a:pathLst>
                <a:path w="813674" h="867257">
                  <a:moveTo>
                    <a:pt x="0" y="0"/>
                  </a:moveTo>
                  <a:lnTo>
                    <a:pt x="813674" y="0"/>
                  </a:lnTo>
                  <a:lnTo>
                    <a:pt x="813674" y="867257"/>
                  </a:lnTo>
                  <a:lnTo>
                    <a:pt x="0" y="867257"/>
                  </a:lnTo>
                  <a:close/>
                </a:path>
              </a:pathLst>
            </a:custGeom>
            <a:blipFill>
              <a:blip r:embed="rId6"/>
              <a:stretch>
                <a:fillRect l="-46373" r="-46373"/>
              </a:stretch>
            </a:blipFill>
            <a:ln w="19050" cap="sq">
              <a:solidFill>
                <a:srgbClr val="000000"/>
              </a:solidFill>
              <a:prstDash val="solid"/>
              <a:miter/>
            </a:ln>
          </p:spPr>
        </p:sp>
      </p:grpSp>
      <p:sp>
        <p:nvSpPr>
          <p:cNvPr id="12" name="Freeform 12"/>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3" name="TextBox 13"/>
          <p:cNvSpPr txBox="1"/>
          <p:nvPr/>
        </p:nvSpPr>
        <p:spPr>
          <a:xfrm>
            <a:off x="6218855" y="344845"/>
            <a:ext cx="10885960" cy="683855"/>
          </a:xfrm>
          <a:prstGeom prst="rect">
            <a:avLst/>
          </a:prstGeom>
        </p:spPr>
        <p:txBody>
          <a:bodyPr lIns="0" tIns="0" rIns="0" bIns="0" rtlCol="0" anchor="t">
            <a:spAutoFit/>
          </a:bodyPr>
          <a:lstStyle/>
          <a:p>
            <a:pPr algn="l">
              <a:lnSpc>
                <a:spcPts val="5901"/>
              </a:lnSpc>
            </a:pPr>
            <a:r>
              <a:rPr lang="en-US" sz="3512" b="1">
                <a:solidFill>
                  <a:srgbClr val="2012BF"/>
                </a:solidFill>
                <a:latin typeface="Canva Sans Bold"/>
                <a:ea typeface="Canva Sans Bold"/>
                <a:cs typeface="Canva Sans Bold"/>
                <a:sym typeface="Canva Sans Bold"/>
              </a:rPr>
              <a:t>AI IN PROJECT MANAGEMENT</a:t>
            </a:r>
          </a:p>
        </p:txBody>
      </p:sp>
      <p:sp>
        <p:nvSpPr>
          <p:cNvPr id="14" name="TextBox 14"/>
          <p:cNvSpPr txBox="1"/>
          <p:nvPr/>
        </p:nvSpPr>
        <p:spPr>
          <a:xfrm>
            <a:off x="6218855" y="1689696"/>
            <a:ext cx="11285790" cy="6566154"/>
          </a:xfrm>
          <a:prstGeom prst="rect">
            <a:avLst/>
          </a:prstGeom>
        </p:spPr>
        <p:txBody>
          <a:bodyPr lIns="0" tIns="0" rIns="0" bIns="0" rtlCol="0" anchor="t">
            <a:spAutoFit/>
          </a:bodyPr>
          <a:lstStyle/>
          <a:p>
            <a:pPr algn="just">
              <a:lnSpc>
                <a:spcPts val="3977"/>
              </a:lnSpc>
              <a:spcBef>
                <a:spcPct val="0"/>
              </a:spcBef>
            </a:pPr>
            <a:r>
              <a:rPr lang="en-US" sz="3399">
                <a:solidFill>
                  <a:srgbClr val="2012BF"/>
                </a:solidFill>
                <a:latin typeface="Canva Sans"/>
                <a:ea typeface="Canva Sans"/>
                <a:cs typeface="Canva Sans"/>
                <a:sym typeface="Canva Sans"/>
              </a:rPr>
              <a:t>Artificial Intelligence is now transforming project management. AI can analyze data, monitor progress, automate tasks, and predict risks. It can replace some elements of both dynamic and static resources. </a:t>
            </a:r>
          </a:p>
          <a:p>
            <a:pPr algn="just">
              <a:lnSpc>
                <a:spcPts val="3977"/>
              </a:lnSpc>
              <a:spcBef>
                <a:spcPct val="0"/>
              </a:spcBef>
            </a:pPr>
            <a:endParaRPr lang="en-US" sz="3399">
              <a:solidFill>
                <a:srgbClr val="2012BF"/>
              </a:solidFill>
              <a:latin typeface="Canva Sans"/>
              <a:ea typeface="Canva Sans"/>
              <a:cs typeface="Canva Sans"/>
              <a:sym typeface="Canva Sans"/>
            </a:endParaRPr>
          </a:p>
          <a:p>
            <a:pPr algn="just">
              <a:lnSpc>
                <a:spcPts val="3977"/>
              </a:lnSpc>
              <a:spcBef>
                <a:spcPct val="0"/>
              </a:spcBef>
            </a:pPr>
            <a:r>
              <a:rPr lang="en-US" sz="3399">
                <a:solidFill>
                  <a:srgbClr val="2012BF"/>
                </a:solidFill>
                <a:latin typeface="Canva Sans"/>
                <a:ea typeface="Canva Sans"/>
                <a:cs typeface="Canva Sans"/>
                <a:sym typeface="Canva Sans"/>
              </a:rPr>
              <a:t>But the documents remind us: the final decision always remains with the Project Manager. Human judgment, creativity, and social responsibility cannot be replaced by machines. According to studies, AI can reduce project costs and speed up processes. But it must be integrated carefully, as a tool that supports, not replaces, human leadership</a:t>
            </a:r>
          </a:p>
          <a:p>
            <a:pPr algn="just">
              <a:lnSpc>
                <a:spcPts val="3977"/>
              </a:lnSpc>
              <a:spcBef>
                <a:spcPct val="0"/>
              </a:spcBef>
            </a:pPr>
            <a:endParaRPr lang="en-US" sz="3399">
              <a:solidFill>
                <a:srgbClr val="2012BF"/>
              </a:solidFill>
              <a:latin typeface="Canva Sans"/>
              <a:ea typeface="Canva Sans"/>
              <a:cs typeface="Canva Sans"/>
              <a:sym typeface="Canva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4103870" y="767735"/>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Freeform 10"/>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1" name="TextBox 11"/>
          <p:cNvSpPr txBox="1"/>
          <p:nvPr/>
        </p:nvSpPr>
        <p:spPr>
          <a:xfrm>
            <a:off x="6218855" y="297220"/>
            <a:ext cx="10885960" cy="909446"/>
          </a:xfrm>
          <a:prstGeom prst="rect">
            <a:avLst/>
          </a:prstGeom>
        </p:spPr>
        <p:txBody>
          <a:bodyPr lIns="0" tIns="0" rIns="0" bIns="0" rtlCol="0" anchor="t">
            <a:spAutoFit/>
          </a:bodyPr>
          <a:lstStyle/>
          <a:p>
            <a:pPr algn="l">
              <a:lnSpc>
                <a:spcPts val="7749"/>
              </a:lnSpc>
            </a:pPr>
            <a:r>
              <a:rPr lang="en-US" sz="4612" b="1">
                <a:solidFill>
                  <a:srgbClr val="2012BF"/>
                </a:solidFill>
                <a:latin typeface="Canva Sans Bold"/>
                <a:ea typeface="Canva Sans Bold"/>
                <a:cs typeface="Canva Sans Bold"/>
                <a:sym typeface="Canva Sans Bold"/>
              </a:rPr>
              <a:t>PPP Global Data &amp; Case study bridge</a:t>
            </a:r>
          </a:p>
        </p:txBody>
      </p:sp>
      <p:sp>
        <p:nvSpPr>
          <p:cNvPr id="12" name="TextBox 12"/>
          <p:cNvSpPr txBox="1"/>
          <p:nvPr/>
        </p:nvSpPr>
        <p:spPr>
          <a:xfrm>
            <a:off x="6218855" y="1689696"/>
            <a:ext cx="11285790" cy="7070979"/>
          </a:xfrm>
          <a:prstGeom prst="rect">
            <a:avLst/>
          </a:prstGeom>
        </p:spPr>
        <p:txBody>
          <a:bodyPr lIns="0" tIns="0" rIns="0" bIns="0" rtlCol="0" anchor="t">
            <a:spAutoFit/>
          </a:bodyPr>
          <a:lstStyle/>
          <a:p>
            <a:pPr algn="just">
              <a:lnSpc>
                <a:spcPts val="3977"/>
              </a:lnSpc>
              <a:spcBef>
                <a:spcPct val="0"/>
              </a:spcBef>
            </a:pPr>
            <a:r>
              <a:rPr lang="en-US" sz="3399">
                <a:solidFill>
                  <a:srgbClr val="000000"/>
                </a:solidFill>
                <a:latin typeface="Canva Sans"/>
                <a:ea typeface="Canva Sans"/>
                <a:cs typeface="Canva Sans"/>
                <a:sym typeface="Canva Sans"/>
              </a:rPr>
              <a:t>Public–Private Partnerships (PPPs) combine public legitimacy and private efficiency to finance and operate infrastructure or services. The lecture materials (and PPP Knowledge Lab reference you provided) show that transport, energy and water are key sectors. PPPs require careful allocation of risks, clear contracts and detailed BP analysis. </a:t>
            </a:r>
          </a:p>
          <a:p>
            <a:pPr algn="just">
              <a:lnSpc>
                <a:spcPts val="3977"/>
              </a:lnSpc>
              <a:spcBef>
                <a:spcPct val="0"/>
              </a:spcBef>
            </a:pPr>
            <a:endParaRPr lang="en-US" sz="3399">
              <a:solidFill>
                <a:srgbClr val="000000"/>
              </a:solidFill>
              <a:latin typeface="Canva Sans"/>
              <a:ea typeface="Canva Sans"/>
              <a:cs typeface="Canva Sans"/>
              <a:sym typeface="Canva Sans"/>
            </a:endParaRPr>
          </a:p>
          <a:p>
            <a:pPr algn="just">
              <a:lnSpc>
                <a:spcPts val="3977"/>
              </a:lnSpc>
              <a:spcBef>
                <a:spcPct val="0"/>
              </a:spcBef>
            </a:pPr>
            <a:r>
              <a:rPr lang="en-US" sz="3399">
                <a:solidFill>
                  <a:srgbClr val="000000"/>
                </a:solidFill>
                <a:latin typeface="Canva Sans"/>
                <a:ea typeface="Canva Sans"/>
                <a:cs typeface="Canva Sans"/>
                <a:sym typeface="Canva Sans"/>
              </a:rPr>
              <a:t>The Jakarta MRT example (as a PPP) demonstrates how layered financing, strong PS (government), and experienced PMs can deliver major urban benefits like decongestion and better mobility. PPPs therefore require a specialty in aligning public policy, private incentives and social acceptance.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4103870" y="767735"/>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Freeform 10"/>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1" name="TextBox 11"/>
          <p:cNvSpPr txBox="1"/>
          <p:nvPr/>
        </p:nvSpPr>
        <p:spPr>
          <a:xfrm>
            <a:off x="6218855" y="259120"/>
            <a:ext cx="10885960" cy="1057275"/>
          </a:xfrm>
          <a:prstGeom prst="rect">
            <a:avLst/>
          </a:prstGeom>
        </p:spPr>
        <p:txBody>
          <a:bodyPr lIns="0" tIns="0" rIns="0" bIns="0" rtlCol="0" anchor="t">
            <a:spAutoFit/>
          </a:bodyPr>
          <a:lstStyle/>
          <a:p>
            <a:pPr algn="l">
              <a:lnSpc>
                <a:spcPts val="8925"/>
              </a:lnSpc>
            </a:pPr>
            <a:r>
              <a:rPr lang="en-US" sz="5312" b="1">
                <a:solidFill>
                  <a:srgbClr val="2012BF"/>
                </a:solidFill>
                <a:latin typeface="Canva Sans Bold"/>
                <a:ea typeface="Canva Sans Bold"/>
                <a:cs typeface="Canva Sans Bold"/>
                <a:sym typeface="Canva Sans Bold"/>
              </a:rPr>
              <a:t>PPP GLOBAL DATA</a:t>
            </a:r>
          </a:p>
        </p:txBody>
      </p:sp>
      <p:sp>
        <p:nvSpPr>
          <p:cNvPr id="12" name="TextBox 12"/>
          <p:cNvSpPr txBox="1"/>
          <p:nvPr/>
        </p:nvSpPr>
        <p:spPr>
          <a:xfrm>
            <a:off x="6218855" y="1689696"/>
            <a:ext cx="11285790" cy="6566154"/>
          </a:xfrm>
          <a:prstGeom prst="rect">
            <a:avLst/>
          </a:prstGeom>
        </p:spPr>
        <p:txBody>
          <a:bodyPr lIns="0" tIns="0" rIns="0" bIns="0" rtlCol="0" anchor="t">
            <a:spAutoFit/>
          </a:bodyPr>
          <a:lstStyle/>
          <a:p>
            <a:pPr algn="just">
              <a:lnSpc>
                <a:spcPts val="3977"/>
              </a:lnSpc>
              <a:spcBef>
                <a:spcPct val="0"/>
              </a:spcBef>
            </a:pPr>
            <a:r>
              <a:rPr lang="en-US" sz="3399">
                <a:solidFill>
                  <a:srgbClr val="000000"/>
                </a:solidFill>
                <a:latin typeface="Canva Sans"/>
                <a:ea typeface="Canva Sans"/>
                <a:cs typeface="Canva Sans"/>
                <a:sym typeface="Canva Sans"/>
              </a:rPr>
              <a:t>Public–Private Partnerships, or PPPs, are now a global reality. They are used to build roads, railways, energy plants, and water systems. According to PPP Knowledge Lab, about 40% of PPP projects are in transport, 30% in energy, 15% in water and sanitation, and 15% in other sectors. </a:t>
            </a:r>
          </a:p>
          <a:p>
            <a:pPr algn="just">
              <a:lnSpc>
                <a:spcPts val="3977"/>
              </a:lnSpc>
              <a:spcBef>
                <a:spcPct val="0"/>
              </a:spcBef>
            </a:pPr>
            <a:endParaRPr lang="en-US" sz="3399">
              <a:solidFill>
                <a:srgbClr val="000000"/>
              </a:solidFill>
              <a:latin typeface="Canva Sans"/>
              <a:ea typeface="Canva Sans"/>
              <a:cs typeface="Canva Sans"/>
              <a:sym typeface="Canva Sans"/>
            </a:endParaRPr>
          </a:p>
          <a:p>
            <a:pPr algn="just">
              <a:lnSpc>
                <a:spcPts val="3977"/>
              </a:lnSpc>
              <a:spcBef>
                <a:spcPct val="0"/>
              </a:spcBef>
            </a:pPr>
            <a:r>
              <a:rPr lang="en-US" sz="3399">
                <a:solidFill>
                  <a:srgbClr val="000000"/>
                </a:solidFill>
                <a:latin typeface="Canva Sans"/>
                <a:ea typeface="Canva Sans"/>
                <a:cs typeface="Canva Sans"/>
                <a:sym typeface="Canva Sans"/>
              </a:rPr>
              <a:t>Since 1990, more than 5,000 PPP projects have been launched in over 130 countries. PPPs are powerful because they combine public legitimacy with private efficiency. They show how cooperation between government and business can deliver real benefits to society</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8827" y="-377229"/>
            <a:ext cx="1135258" cy="4114800"/>
          </a:xfrm>
          <a:custGeom>
            <a:avLst/>
            <a:gdLst/>
            <a:ahLst/>
            <a:cxnLst/>
            <a:rect l="l" t="t" r="r" b="b"/>
            <a:pathLst>
              <a:path w="1135258" h="4114800">
                <a:moveTo>
                  <a:pt x="0" y="0"/>
                </a:moveTo>
                <a:lnTo>
                  <a:pt x="1135259" y="0"/>
                </a:lnTo>
                <a:lnTo>
                  <a:pt x="113525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r="-262454"/>
            </a:stretch>
          </a:blipFill>
        </p:spPr>
      </p:sp>
      <p:grpSp>
        <p:nvGrpSpPr>
          <p:cNvPr id="3" name="Group 3"/>
          <p:cNvGrpSpPr/>
          <p:nvPr/>
        </p:nvGrpSpPr>
        <p:grpSpPr>
          <a:xfrm>
            <a:off x="0" y="0"/>
            <a:ext cx="1028700" cy="3737571"/>
            <a:chOff x="0" y="0"/>
            <a:chExt cx="270933" cy="984381"/>
          </a:xfrm>
        </p:grpSpPr>
        <p:sp>
          <p:nvSpPr>
            <p:cNvPr id="4" name="Freeform 4"/>
            <p:cNvSpPr/>
            <p:nvPr/>
          </p:nvSpPr>
          <p:spPr>
            <a:xfrm>
              <a:off x="0" y="0"/>
              <a:ext cx="270933" cy="984381"/>
            </a:xfrm>
            <a:custGeom>
              <a:avLst/>
              <a:gdLst/>
              <a:ahLst/>
              <a:cxnLst/>
              <a:rect l="l" t="t" r="r" b="b"/>
              <a:pathLst>
                <a:path w="270933" h="984381">
                  <a:moveTo>
                    <a:pt x="0" y="0"/>
                  </a:moveTo>
                  <a:lnTo>
                    <a:pt x="270933" y="0"/>
                  </a:lnTo>
                  <a:lnTo>
                    <a:pt x="270933" y="984381"/>
                  </a:lnTo>
                  <a:lnTo>
                    <a:pt x="0" y="984381"/>
                  </a:lnTo>
                  <a:close/>
                </a:path>
              </a:pathLst>
            </a:custGeom>
            <a:solidFill>
              <a:srgbClr val="2012BF"/>
            </a:solidFill>
          </p:spPr>
        </p:sp>
        <p:sp>
          <p:nvSpPr>
            <p:cNvPr id="5" name="TextBox 5"/>
            <p:cNvSpPr txBox="1"/>
            <p:nvPr/>
          </p:nvSpPr>
          <p:spPr>
            <a:xfrm>
              <a:off x="0" y="0"/>
              <a:ext cx="270933" cy="984381"/>
            </a:xfrm>
            <a:prstGeom prst="rect">
              <a:avLst/>
            </a:prstGeom>
          </p:spPr>
          <p:txBody>
            <a:bodyPr lIns="50800" tIns="50800" rIns="50800" bIns="50800" rtlCol="0" anchor="ctr"/>
            <a:lstStyle/>
            <a:p>
              <a:pPr algn="ctr">
                <a:lnSpc>
                  <a:spcPts val="2924"/>
                </a:lnSpc>
              </a:pPr>
              <a:endParaRPr/>
            </a:p>
          </p:txBody>
        </p:sp>
      </p:grpSp>
      <p:sp>
        <p:nvSpPr>
          <p:cNvPr id="6" name="Freeform 6"/>
          <p:cNvSpPr/>
          <p:nvPr/>
        </p:nvSpPr>
        <p:spPr>
          <a:xfrm>
            <a:off x="-4103870" y="767735"/>
            <a:ext cx="9236440" cy="8074937"/>
          </a:xfrm>
          <a:custGeom>
            <a:avLst/>
            <a:gdLst/>
            <a:ahLst/>
            <a:cxnLst/>
            <a:rect l="l" t="t" r="r" b="b"/>
            <a:pathLst>
              <a:path w="9236440" h="8074937">
                <a:moveTo>
                  <a:pt x="0" y="0"/>
                </a:moveTo>
                <a:lnTo>
                  <a:pt x="9236440" y="0"/>
                </a:lnTo>
                <a:lnTo>
                  <a:pt x="9236440" y="8074937"/>
                </a:lnTo>
                <a:lnTo>
                  <a:pt x="0" y="8074937"/>
                </a:lnTo>
                <a:lnTo>
                  <a:pt x="0" y="0"/>
                </a:lnTo>
                <a:close/>
              </a:path>
            </a:pathLst>
          </a:custGeom>
          <a:blipFill>
            <a:blip r:embed="rId4">
              <a:extLst>
                <a:ext uri="{96DAC541-7B7A-43D3-8B79-37D633B846F1}">
                  <asvg:svgBlip xmlns:asvg="http://schemas.microsoft.com/office/drawing/2016/SVG/main" r:embed="rId5"/>
                </a:ext>
              </a:extLst>
            </a:blip>
            <a:stretch>
              <a:fillRect l="-38228" t="-57320"/>
            </a:stretch>
          </a:blipFill>
        </p:spPr>
      </p:sp>
      <p:grpSp>
        <p:nvGrpSpPr>
          <p:cNvPr id="7" name="Group 7"/>
          <p:cNvGrpSpPr/>
          <p:nvPr/>
        </p:nvGrpSpPr>
        <p:grpSpPr>
          <a:xfrm>
            <a:off x="-1544854" y="0"/>
            <a:ext cx="5343617" cy="10287000"/>
            <a:chOff x="0" y="0"/>
            <a:chExt cx="1407372" cy="2709333"/>
          </a:xfrm>
        </p:grpSpPr>
        <p:sp>
          <p:nvSpPr>
            <p:cNvPr id="8" name="Freeform 8"/>
            <p:cNvSpPr/>
            <p:nvPr/>
          </p:nvSpPr>
          <p:spPr>
            <a:xfrm>
              <a:off x="0" y="0"/>
              <a:ext cx="1407372" cy="2709333"/>
            </a:xfrm>
            <a:custGeom>
              <a:avLst/>
              <a:gdLst/>
              <a:ahLst/>
              <a:cxnLst/>
              <a:rect l="l" t="t" r="r" b="b"/>
              <a:pathLst>
                <a:path w="1407372" h="2709333">
                  <a:moveTo>
                    <a:pt x="0" y="0"/>
                  </a:moveTo>
                  <a:lnTo>
                    <a:pt x="1407372" y="0"/>
                  </a:lnTo>
                  <a:lnTo>
                    <a:pt x="1407372" y="2709333"/>
                  </a:lnTo>
                  <a:lnTo>
                    <a:pt x="0" y="2709333"/>
                  </a:lnTo>
                  <a:close/>
                </a:path>
              </a:pathLst>
            </a:custGeom>
            <a:solidFill>
              <a:srgbClr val="2012BF"/>
            </a:solidFill>
          </p:spPr>
        </p:sp>
        <p:sp>
          <p:nvSpPr>
            <p:cNvPr id="9" name="TextBox 9"/>
            <p:cNvSpPr txBox="1"/>
            <p:nvPr/>
          </p:nvSpPr>
          <p:spPr>
            <a:xfrm>
              <a:off x="0" y="0"/>
              <a:ext cx="1407372" cy="2709333"/>
            </a:xfrm>
            <a:prstGeom prst="rect">
              <a:avLst/>
            </a:prstGeom>
          </p:spPr>
          <p:txBody>
            <a:bodyPr lIns="50800" tIns="50800" rIns="50800" bIns="50800" rtlCol="0" anchor="ctr"/>
            <a:lstStyle/>
            <a:p>
              <a:pPr algn="ctr">
                <a:lnSpc>
                  <a:spcPts val="2924"/>
                </a:lnSpc>
              </a:pPr>
              <a:endParaRPr/>
            </a:p>
          </p:txBody>
        </p:sp>
      </p:grpSp>
      <p:sp>
        <p:nvSpPr>
          <p:cNvPr id="10" name="Freeform 10"/>
          <p:cNvSpPr/>
          <p:nvPr/>
        </p:nvSpPr>
        <p:spPr>
          <a:xfrm>
            <a:off x="14036757" y="252704"/>
            <a:ext cx="4114800" cy="1082908"/>
          </a:xfrm>
          <a:custGeom>
            <a:avLst/>
            <a:gdLst/>
            <a:ahLst/>
            <a:cxnLst/>
            <a:rect l="l" t="t" r="r" b="b"/>
            <a:pathLst>
              <a:path w="4114800" h="1082908">
                <a:moveTo>
                  <a:pt x="0" y="0"/>
                </a:moveTo>
                <a:lnTo>
                  <a:pt x="4114800" y="0"/>
                </a:lnTo>
                <a:lnTo>
                  <a:pt x="4114800" y="1082908"/>
                </a:lnTo>
                <a:lnTo>
                  <a:pt x="0" y="1082908"/>
                </a:lnTo>
                <a:lnTo>
                  <a:pt x="0" y="0"/>
                </a:lnTo>
                <a:close/>
              </a:path>
            </a:pathLst>
          </a:custGeom>
          <a:blipFill>
            <a:blip r:embed="rId2">
              <a:extLst>
                <a:ext uri="{96DAC541-7B7A-43D3-8B79-37D633B846F1}">
                  <asvg:svgBlip xmlns:asvg="http://schemas.microsoft.com/office/drawing/2016/SVG/main" r:embed="rId3"/>
                </a:ext>
              </a:extLst>
            </a:blip>
            <a:stretch>
              <a:fillRect b="-279976"/>
            </a:stretch>
          </a:blipFill>
        </p:spPr>
      </p:sp>
      <p:sp>
        <p:nvSpPr>
          <p:cNvPr id="11" name="TextBox 11"/>
          <p:cNvSpPr txBox="1"/>
          <p:nvPr/>
        </p:nvSpPr>
        <p:spPr>
          <a:xfrm>
            <a:off x="5819026" y="82121"/>
            <a:ext cx="10885960" cy="1253491"/>
          </a:xfrm>
          <a:prstGeom prst="rect">
            <a:avLst/>
          </a:prstGeom>
        </p:spPr>
        <p:txBody>
          <a:bodyPr lIns="0" tIns="0" rIns="0" bIns="0" rtlCol="0" anchor="t">
            <a:spAutoFit/>
          </a:bodyPr>
          <a:lstStyle/>
          <a:p>
            <a:pPr algn="l">
              <a:lnSpc>
                <a:spcPts val="10604"/>
              </a:lnSpc>
            </a:pPr>
            <a:r>
              <a:rPr lang="en-US" sz="6312" b="1">
                <a:solidFill>
                  <a:srgbClr val="2012BF"/>
                </a:solidFill>
                <a:latin typeface="Canva Sans Bold"/>
                <a:ea typeface="Canva Sans Bold"/>
                <a:cs typeface="Canva Sans Bold"/>
                <a:sym typeface="Canva Sans Bold"/>
              </a:rPr>
              <a:t>Closing</a:t>
            </a:r>
          </a:p>
        </p:txBody>
      </p:sp>
      <p:sp>
        <p:nvSpPr>
          <p:cNvPr id="12" name="TextBox 12"/>
          <p:cNvSpPr txBox="1"/>
          <p:nvPr/>
        </p:nvSpPr>
        <p:spPr>
          <a:xfrm>
            <a:off x="5819026" y="1878311"/>
            <a:ext cx="11285790" cy="7070979"/>
          </a:xfrm>
          <a:prstGeom prst="rect">
            <a:avLst/>
          </a:prstGeom>
        </p:spPr>
        <p:txBody>
          <a:bodyPr lIns="0" tIns="0" rIns="0" bIns="0" rtlCol="0" anchor="t">
            <a:spAutoFit/>
          </a:bodyPr>
          <a:lstStyle/>
          <a:p>
            <a:pPr algn="just">
              <a:lnSpc>
                <a:spcPts val="3977"/>
              </a:lnSpc>
              <a:spcBef>
                <a:spcPct val="0"/>
              </a:spcBef>
            </a:pPr>
            <a:r>
              <a:rPr lang="en-US" sz="3399">
                <a:solidFill>
                  <a:srgbClr val="000000"/>
                </a:solidFill>
                <a:latin typeface="Canva Sans"/>
                <a:ea typeface="Canva Sans"/>
                <a:cs typeface="Canva Sans"/>
                <a:sym typeface="Canva Sans"/>
              </a:rPr>
              <a:t>End the lecture with an action assignment to apply PMP to a personal goal. Students should prepare a one-page Project Passport: name, objective, PM (self), time frame, required resources (financial, HR, legal, institutional), one potential Project Supporter, and one pilot fragment. </a:t>
            </a:r>
          </a:p>
          <a:p>
            <a:pPr algn="just">
              <a:lnSpc>
                <a:spcPts val="3977"/>
              </a:lnSpc>
              <a:spcBef>
                <a:spcPct val="0"/>
              </a:spcBef>
            </a:pPr>
            <a:endParaRPr lang="en-US" sz="3399">
              <a:solidFill>
                <a:srgbClr val="000000"/>
              </a:solidFill>
              <a:latin typeface="Canva Sans"/>
              <a:ea typeface="Canva Sans"/>
              <a:cs typeface="Canva Sans"/>
              <a:sym typeface="Canva Sans"/>
            </a:endParaRPr>
          </a:p>
          <a:p>
            <a:pPr algn="just">
              <a:lnSpc>
                <a:spcPts val="3977"/>
              </a:lnSpc>
              <a:spcBef>
                <a:spcPct val="0"/>
              </a:spcBef>
            </a:pPr>
            <a:r>
              <a:rPr lang="en-US" sz="3399">
                <a:solidFill>
                  <a:srgbClr val="000000"/>
                </a:solidFill>
                <a:latin typeface="Canva Sans"/>
                <a:ea typeface="Canva Sans"/>
                <a:cs typeface="Canva Sans"/>
                <a:sym typeface="Canva Sans"/>
              </a:rPr>
              <a:t>The passport makes abstract goals concrete; filling it provides immediate experience of the preparation phase and helps students to test assumptions before risking resources. </a:t>
            </a:r>
          </a:p>
          <a:p>
            <a:pPr algn="just">
              <a:lnSpc>
                <a:spcPts val="3977"/>
              </a:lnSpc>
              <a:spcBef>
                <a:spcPct val="0"/>
              </a:spcBef>
            </a:pPr>
            <a:endParaRPr lang="en-US" sz="3399">
              <a:solidFill>
                <a:srgbClr val="000000"/>
              </a:solidFill>
              <a:latin typeface="Canva Sans"/>
              <a:ea typeface="Canva Sans"/>
              <a:cs typeface="Canva Sans"/>
              <a:sym typeface="Canva Sans"/>
            </a:endParaRPr>
          </a:p>
          <a:p>
            <a:pPr algn="just">
              <a:lnSpc>
                <a:spcPts val="3977"/>
              </a:lnSpc>
              <a:spcBef>
                <a:spcPct val="0"/>
              </a:spcBef>
            </a:pPr>
            <a:r>
              <a:rPr lang="en-US" sz="3399">
                <a:solidFill>
                  <a:srgbClr val="000000"/>
                </a:solidFill>
                <a:latin typeface="Canva Sans"/>
                <a:ea typeface="Canva Sans"/>
                <a:cs typeface="Canva Sans"/>
                <a:sym typeface="Canva Sans"/>
              </a:rPr>
              <a:t>Encourage students to use the BP outline for projects that require external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6962</Words>
  <Application>Microsoft Office PowerPoint</Application>
  <PresentationFormat>Custom</PresentationFormat>
  <Paragraphs>373</Paragraphs>
  <Slides>75</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75</vt:i4>
      </vt:variant>
    </vt:vector>
  </HeadingPairs>
  <TitlesOfParts>
    <vt:vector size="89" baseType="lpstr">
      <vt:lpstr>Futura</vt:lpstr>
      <vt:lpstr>Canva Sans Bold</vt:lpstr>
      <vt:lpstr>Inter Bold</vt:lpstr>
      <vt:lpstr>Futura Bold</vt:lpstr>
      <vt:lpstr>Roboto</vt:lpstr>
      <vt:lpstr>Aileron Bold</vt:lpstr>
      <vt:lpstr>Futura Ultra-Bold</vt:lpstr>
      <vt:lpstr>Canva Sans</vt:lpstr>
      <vt:lpstr>Roboto Bold</vt:lpstr>
      <vt:lpstr>Calibri</vt:lpstr>
      <vt:lpstr>Inter</vt:lpstr>
      <vt:lpstr>Staatliches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FOR TARUMANEGARA UNIVERSITY UPDATED 8 September</dc:title>
  <dc:creator>User</dc:creator>
  <cp:lastModifiedBy>User</cp:lastModifiedBy>
  <cp:revision>3</cp:revision>
  <dcterms:created xsi:type="dcterms:W3CDTF">2006-08-16T00:00:00Z</dcterms:created>
  <dcterms:modified xsi:type="dcterms:W3CDTF">2026-05-23T14:01:15Z</dcterms:modified>
  <dc:identifier>DAGyIdtvp1w</dc:identifier>
</cp:coreProperties>
</file>